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0.svg" ContentType="image/svg+xml"/>
  <Override PartName="/ppt/media/image62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1.xml"/><Relationship Id="rId13" Type="http://schemas.openxmlformats.org/officeDocument/2006/relationships/image" Target="../media/image4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image" Target="../media/image5.jpeg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12.png"/><Relationship Id="rId21" Type="http://schemas.openxmlformats.org/officeDocument/2006/relationships/tags" Target="../tags/tag33.xml"/><Relationship Id="rId20" Type="http://schemas.openxmlformats.org/officeDocument/2006/relationships/tags" Target="../tags/tag32.xml"/><Relationship Id="rId2" Type="http://schemas.openxmlformats.org/officeDocument/2006/relationships/tags" Target="../tags/tag20.xml"/><Relationship Id="rId19" Type="http://schemas.openxmlformats.org/officeDocument/2006/relationships/image" Target="../media/image11.svg"/><Relationship Id="rId18" Type="http://schemas.openxmlformats.org/officeDocument/2006/relationships/image" Target="../media/image10.png"/><Relationship Id="rId17" Type="http://schemas.openxmlformats.org/officeDocument/2006/relationships/tags" Target="../tags/tag31.xml"/><Relationship Id="rId16" Type="http://schemas.openxmlformats.org/officeDocument/2006/relationships/tags" Target="../tags/tag30.xml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image" Target="../media/image9.svg"/><Relationship Id="rId12" Type="http://schemas.openxmlformats.org/officeDocument/2006/relationships/image" Target="../media/image8.png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tags" Target="../tags/tag19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image" Target="../media/image14.svg"/><Relationship Id="rId6" Type="http://schemas.openxmlformats.org/officeDocument/2006/relationships/image" Target="../media/image13.png"/><Relationship Id="rId5" Type="http://schemas.openxmlformats.org/officeDocument/2006/relationships/tags" Target="../tags/tag38.xml"/><Relationship Id="rId44" Type="http://schemas.openxmlformats.org/officeDocument/2006/relationships/slideLayout" Target="../slideLayouts/slideLayout7.xml"/><Relationship Id="rId43" Type="http://schemas.openxmlformats.org/officeDocument/2006/relationships/tags" Target="../tags/tag64.xml"/><Relationship Id="rId42" Type="http://schemas.openxmlformats.org/officeDocument/2006/relationships/tags" Target="../tags/tag63.xml"/><Relationship Id="rId41" Type="http://schemas.openxmlformats.org/officeDocument/2006/relationships/tags" Target="../tags/tag62.xml"/><Relationship Id="rId40" Type="http://schemas.openxmlformats.org/officeDocument/2006/relationships/tags" Target="../tags/tag61.xml"/><Relationship Id="rId4" Type="http://schemas.openxmlformats.org/officeDocument/2006/relationships/tags" Target="../tags/tag37.xml"/><Relationship Id="rId39" Type="http://schemas.openxmlformats.org/officeDocument/2006/relationships/image" Target="../media/image24.svg"/><Relationship Id="rId38" Type="http://schemas.openxmlformats.org/officeDocument/2006/relationships/image" Target="../media/image23.png"/><Relationship Id="rId37" Type="http://schemas.openxmlformats.org/officeDocument/2006/relationships/tags" Target="../tags/tag60.xml"/><Relationship Id="rId36" Type="http://schemas.openxmlformats.org/officeDocument/2006/relationships/tags" Target="../tags/tag59.xml"/><Relationship Id="rId35" Type="http://schemas.openxmlformats.org/officeDocument/2006/relationships/tags" Target="../tags/tag58.xml"/><Relationship Id="rId34" Type="http://schemas.openxmlformats.org/officeDocument/2006/relationships/tags" Target="../tags/tag57.xml"/><Relationship Id="rId33" Type="http://schemas.openxmlformats.org/officeDocument/2006/relationships/image" Target="../media/image22.svg"/><Relationship Id="rId32" Type="http://schemas.openxmlformats.org/officeDocument/2006/relationships/image" Target="../media/image21.png"/><Relationship Id="rId31" Type="http://schemas.openxmlformats.org/officeDocument/2006/relationships/tags" Target="../tags/tag56.xml"/><Relationship Id="rId30" Type="http://schemas.openxmlformats.org/officeDocument/2006/relationships/tags" Target="../tags/tag55.xml"/><Relationship Id="rId3" Type="http://schemas.openxmlformats.org/officeDocument/2006/relationships/tags" Target="../tags/tag36.xml"/><Relationship Id="rId29" Type="http://schemas.openxmlformats.org/officeDocument/2006/relationships/tags" Target="../tags/tag54.xml"/><Relationship Id="rId28" Type="http://schemas.openxmlformats.org/officeDocument/2006/relationships/tags" Target="../tags/tag53.xml"/><Relationship Id="rId27" Type="http://schemas.openxmlformats.org/officeDocument/2006/relationships/image" Target="../media/image20.svg"/><Relationship Id="rId26" Type="http://schemas.openxmlformats.org/officeDocument/2006/relationships/image" Target="../media/image19.png"/><Relationship Id="rId25" Type="http://schemas.openxmlformats.org/officeDocument/2006/relationships/tags" Target="../tags/tag52.xml"/><Relationship Id="rId24" Type="http://schemas.openxmlformats.org/officeDocument/2006/relationships/tags" Target="../tags/tag51.xml"/><Relationship Id="rId23" Type="http://schemas.openxmlformats.org/officeDocument/2006/relationships/tags" Target="../tags/tag50.xml"/><Relationship Id="rId22" Type="http://schemas.openxmlformats.org/officeDocument/2006/relationships/tags" Target="../tags/tag49.xml"/><Relationship Id="rId21" Type="http://schemas.openxmlformats.org/officeDocument/2006/relationships/tags" Target="../tags/tag48.xml"/><Relationship Id="rId20" Type="http://schemas.openxmlformats.org/officeDocument/2006/relationships/tags" Target="../tags/tag47.xml"/><Relationship Id="rId2" Type="http://schemas.openxmlformats.org/officeDocument/2006/relationships/tags" Target="../tags/tag35.xml"/><Relationship Id="rId19" Type="http://schemas.openxmlformats.org/officeDocument/2006/relationships/image" Target="../media/image18.svg"/><Relationship Id="rId18" Type="http://schemas.openxmlformats.org/officeDocument/2006/relationships/image" Target="../media/image17.png"/><Relationship Id="rId17" Type="http://schemas.openxmlformats.org/officeDocument/2006/relationships/tags" Target="../tags/tag46.xml"/><Relationship Id="rId16" Type="http://schemas.openxmlformats.org/officeDocument/2006/relationships/tags" Target="../tags/tag45.xml"/><Relationship Id="rId15" Type="http://schemas.openxmlformats.org/officeDocument/2006/relationships/tags" Target="../tags/tag44.xml"/><Relationship Id="rId14" Type="http://schemas.openxmlformats.org/officeDocument/2006/relationships/tags" Target="../tags/tag43.xml"/><Relationship Id="rId13" Type="http://schemas.openxmlformats.org/officeDocument/2006/relationships/image" Target="../media/image16.svg"/><Relationship Id="rId12" Type="http://schemas.openxmlformats.org/officeDocument/2006/relationships/image" Target="../media/image15.png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tags" Target="../tags/tag3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0" Type="http://schemas.openxmlformats.org/officeDocument/2006/relationships/slideLayout" Target="../slideLayouts/slideLayout7.xml"/><Relationship Id="rId6" Type="http://schemas.openxmlformats.org/officeDocument/2006/relationships/tags" Target="../tags/tag70.xml"/><Relationship Id="rId59" Type="http://schemas.openxmlformats.org/officeDocument/2006/relationships/tags" Target="../tags/tag123.xml"/><Relationship Id="rId58" Type="http://schemas.openxmlformats.org/officeDocument/2006/relationships/tags" Target="../tags/tag122.xml"/><Relationship Id="rId57" Type="http://schemas.openxmlformats.org/officeDocument/2006/relationships/tags" Target="../tags/tag121.xml"/><Relationship Id="rId56" Type="http://schemas.openxmlformats.org/officeDocument/2006/relationships/tags" Target="../tags/tag120.xml"/><Relationship Id="rId55" Type="http://schemas.openxmlformats.org/officeDocument/2006/relationships/tags" Target="../tags/tag119.xml"/><Relationship Id="rId54" Type="http://schemas.openxmlformats.org/officeDocument/2006/relationships/tags" Target="../tags/tag118.xml"/><Relationship Id="rId53" Type="http://schemas.openxmlformats.org/officeDocument/2006/relationships/tags" Target="../tags/tag117.xml"/><Relationship Id="rId52" Type="http://schemas.openxmlformats.org/officeDocument/2006/relationships/tags" Target="../tags/tag116.xml"/><Relationship Id="rId51" Type="http://schemas.openxmlformats.org/officeDocument/2006/relationships/tags" Target="../tags/tag115.xml"/><Relationship Id="rId50" Type="http://schemas.openxmlformats.org/officeDocument/2006/relationships/tags" Target="../tags/tag114.xml"/><Relationship Id="rId5" Type="http://schemas.openxmlformats.org/officeDocument/2006/relationships/tags" Target="../tags/tag69.xml"/><Relationship Id="rId49" Type="http://schemas.openxmlformats.org/officeDocument/2006/relationships/tags" Target="../tags/tag113.xml"/><Relationship Id="rId48" Type="http://schemas.openxmlformats.org/officeDocument/2006/relationships/tags" Target="../tags/tag112.xml"/><Relationship Id="rId47" Type="http://schemas.openxmlformats.org/officeDocument/2006/relationships/tags" Target="../tags/tag111.xml"/><Relationship Id="rId46" Type="http://schemas.openxmlformats.org/officeDocument/2006/relationships/tags" Target="../tags/tag110.xml"/><Relationship Id="rId45" Type="http://schemas.openxmlformats.org/officeDocument/2006/relationships/tags" Target="../tags/tag109.xml"/><Relationship Id="rId44" Type="http://schemas.openxmlformats.org/officeDocument/2006/relationships/tags" Target="../tags/tag108.xml"/><Relationship Id="rId43" Type="http://schemas.openxmlformats.org/officeDocument/2006/relationships/tags" Target="../tags/tag107.xml"/><Relationship Id="rId42" Type="http://schemas.openxmlformats.org/officeDocument/2006/relationships/tags" Target="../tags/tag106.xml"/><Relationship Id="rId41" Type="http://schemas.openxmlformats.org/officeDocument/2006/relationships/tags" Target="../tags/tag105.xml"/><Relationship Id="rId40" Type="http://schemas.openxmlformats.org/officeDocument/2006/relationships/tags" Target="../tags/tag104.xml"/><Relationship Id="rId4" Type="http://schemas.openxmlformats.org/officeDocument/2006/relationships/tags" Target="../tags/tag68.xml"/><Relationship Id="rId39" Type="http://schemas.openxmlformats.org/officeDocument/2006/relationships/tags" Target="../tags/tag103.xml"/><Relationship Id="rId38" Type="http://schemas.openxmlformats.org/officeDocument/2006/relationships/tags" Target="../tags/tag102.xml"/><Relationship Id="rId37" Type="http://schemas.openxmlformats.org/officeDocument/2006/relationships/tags" Target="../tags/tag101.xml"/><Relationship Id="rId36" Type="http://schemas.openxmlformats.org/officeDocument/2006/relationships/tags" Target="../tags/tag100.xml"/><Relationship Id="rId35" Type="http://schemas.openxmlformats.org/officeDocument/2006/relationships/tags" Target="../tags/tag99.xml"/><Relationship Id="rId34" Type="http://schemas.openxmlformats.org/officeDocument/2006/relationships/tags" Target="../tags/tag98.xml"/><Relationship Id="rId33" Type="http://schemas.openxmlformats.org/officeDocument/2006/relationships/tags" Target="../tags/tag97.xml"/><Relationship Id="rId32" Type="http://schemas.openxmlformats.org/officeDocument/2006/relationships/tags" Target="../tags/tag96.xml"/><Relationship Id="rId31" Type="http://schemas.openxmlformats.org/officeDocument/2006/relationships/tags" Target="../tags/tag95.xml"/><Relationship Id="rId30" Type="http://schemas.openxmlformats.org/officeDocument/2006/relationships/tags" Target="../tags/tag94.xml"/><Relationship Id="rId3" Type="http://schemas.openxmlformats.org/officeDocument/2006/relationships/tags" Target="../tags/tag67.xml"/><Relationship Id="rId29" Type="http://schemas.openxmlformats.org/officeDocument/2006/relationships/tags" Target="../tags/tag93.xml"/><Relationship Id="rId28" Type="http://schemas.openxmlformats.org/officeDocument/2006/relationships/tags" Target="../tags/tag92.xml"/><Relationship Id="rId27" Type="http://schemas.openxmlformats.org/officeDocument/2006/relationships/tags" Target="../tags/tag91.xml"/><Relationship Id="rId26" Type="http://schemas.openxmlformats.org/officeDocument/2006/relationships/tags" Target="../tags/tag90.xml"/><Relationship Id="rId25" Type="http://schemas.openxmlformats.org/officeDocument/2006/relationships/tags" Target="../tags/tag89.xml"/><Relationship Id="rId24" Type="http://schemas.openxmlformats.org/officeDocument/2006/relationships/tags" Target="../tags/tag88.xml"/><Relationship Id="rId23" Type="http://schemas.openxmlformats.org/officeDocument/2006/relationships/tags" Target="../tags/tag87.xml"/><Relationship Id="rId22" Type="http://schemas.openxmlformats.org/officeDocument/2006/relationships/tags" Target="../tags/tag86.xml"/><Relationship Id="rId21" Type="http://schemas.openxmlformats.org/officeDocument/2006/relationships/tags" Target="../tags/tag85.xml"/><Relationship Id="rId20" Type="http://schemas.openxmlformats.org/officeDocument/2006/relationships/tags" Target="../tags/tag84.xml"/><Relationship Id="rId2" Type="http://schemas.openxmlformats.org/officeDocument/2006/relationships/tags" Target="../tags/tag66.xml"/><Relationship Id="rId19" Type="http://schemas.openxmlformats.org/officeDocument/2006/relationships/tags" Target="../tags/tag83.xml"/><Relationship Id="rId18" Type="http://schemas.openxmlformats.org/officeDocument/2006/relationships/tags" Target="../tags/tag82.xml"/><Relationship Id="rId17" Type="http://schemas.openxmlformats.org/officeDocument/2006/relationships/tags" Target="../tags/tag81.xml"/><Relationship Id="rId16" Type="http://schemas.openxmlformats.org/officeDocument/2006/relationships/tags" Target="../tags/tag80.xml"/><Relationship Id="rId15" Type="http://schemas.openxmlformats.org/officeDocument/2006/relationships/tags" Target="../tags/tag79.xml"/><Relationship Id="rId14" Type="http://schemas.openxmlformats.org/officeDocument/2006/relationships/tags" Target="../tags/tag78.xml"/><Relationship Id="rId13" Type="http://schemas.openxmlformats.org/officeDocument/2006/relationships/tags" Target="../tags/tag77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tags" Target="../tags/tag65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image" Target="../media/image16.svg"/><Relationship Id="rId7" Type="http://schemas.openxmlformats.org/officeDocument/2006/relationships/image" Target="../media/image25.png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6" Type="http://schemas.openxmlformats.org/officeDocument/2006/relationships/slideLayout" Target="../slideLayouts/slideLayout7.xml"/><Relationship Id="rId45" Type="http://schemas.openxmlformats.org/officeDocument/2006/relationships/tags" Target="../tags/tag156.xml"/><Relationship Id="rId44" Type="http://schemas.openxmlformats.org/officeDocument/2006/relationships/tags" Target="../tags/tag155.xml"/><Relationship Id="rId43" Type="http://schemas.openxmlformats.org/officeDocument/2006/relationships/image" Target="../media/image34.svg"/><Relationship Id="rId42" Type="http://schemas.openxmlformats.org/officeDocument/2006/relationships/image" Target="../media/image33.png"/><Relationship Id="rId41" Type="http://schemas.openxmlformats.org/officeDocument/2006/relationships/tags" Target="../tags/tag154.xml"/><Relationship Id="rId40" Type="http://schemas.openxmlformats.org/officeDocument/2006/relationships/tags" Target="../tags/tag153.xml"/><Relationship Id="rId4" Type="http://schemas.openxmlformats.org/officeDocument/2006/relationships/tags" Target="../tags/tag127.xml"/><Relationship Id="rId39" Type="http://schemas.openxmlformats.org/officeDocument/2006/relationships/tags" Target="../tags/tag152.xml"/><Relationship Id="rId38" Type="http://schemas.openxmlformats.org/officeDocument/2006/relationships/tags" Target="../tags/tag151.xml"/><Relationship Id="rId37" Type="http://schemas.openxmlformats.org/officeDocument/2006/relationships/tags" Target="../tags/tag150.xml"/><Relationship Id="rId36" Type="http://schemas.openxmlformats.org/officeDocument/2006/relationships/image" Target="../media/image32.svg"/><Relationship Id="rId35" Type="http://schemas.openxmlformats.org/officeDocument/2006/relationships/image" Target="../media/image31.png"/><Relationship Id="rId34" Type="http://schemas.openxmlformats.org/officeDocument/2006/relationships/tags" Target="../tags/tag149.xml"/><Relationship Id="rId33" Type="http://schemas.openxmlformats.org/officeDocument/2006/relationships/tags" Target="../tags/tag148.xml"/><Relationship Id="rId32" Type="http://schemas.openxmlformats.org/officeDocument/2006/relationships/tags" Target="../tags/tag147.xml"/><Relationship Id="rId31" Type="http://schemas.openxmlformats.org/officeDocument/2006/relationships/tags" Target="../tags/tag146.xml"/><Relationship Id="rId30" Type="http://schemas.openxmlformats.org/officeDocument/2006/relationships/tags" Target="../tags/tag145.xml"/><Relationship Id="rId3" Type="http://schemas.openxmlformats.org/officeDocument/2006/relationships/tags" Target="../tags/tag126.xml"/><Relationship Id="rId29" Type="http://schemas.openxmlformats.org/officeDocument/2006/relationships/image" Target="../media/image30.svg"/><Relationship Id="rId28" Type="http://schemas.openxmlformats.org/officeDocument/2006/relationships/image" Target="../media/image29.png"/><Relationship Id="rId27" Type="http://schemas.openxmlformats.org/officeDocument/2006/relationships/tags" Target="../tags/tag144.xml"/><Relationship Id="rId26" Type="http://schemas.openxmlformats.org/officeDocument/2006/relationships/tags" Target="../tags/tag143.xml"/><Relationship Id="rId25" Type="http://schemas.openxmlformats.org/officeDocument/2006/relationships/tags" Target="../tags/tag142.xml"/><Relationship Id="rId24" Type="http://schemas.openxmlformats.org/officeDocument/2006/relationships/tags" Target="../tags/tag141.xml"/><Relationship Id="rId23" Type="http://schemas.openxmlformats.org/officeDocument/2006/relationships/tags" Target="../tags/tag140.xml"/><Relationship Id="rId22" Type="http://schemas.openxmlformats.org/officeDocument/2006/relationships/image" Target="../media/image28.svg"/><Relationship Id="rId21" Type="http://schemas.openxmlformats.org/officeDocument/2006/relationships/image" Target="../media/image27.png"/><Relationship Id="rId20" Type="http://schemas.openxmlformats.org/officeDocument/2006/relationships/tags" Target="../tags/tag139.xml"/><Relationship Id="rId2" Type="http://schemas.openxmlformats.org/officeDocument/2006/relationships/tags" Target="../tags/tag125.xml"/><Relationship Id="rId19" Type="http://schemas.openxmlformats.org/officeDocument/2006/relationships/tags" Target="../tags/tag138.xml"/><Relationship Id="rId18" Type="http://schemas.openxmlformats.org/officeDocument/2006/relationships/tags" Target="../tags/tag137.xml"/><Relationship Id="rId17" Type="http://schemas.openxmlformats.org/officeDocument/2006/relationships/tags" Target="../tags/tag136.xml"/><Relationship Id="rId16" Type="http://schemas.openxmlformats.org/officeDocument/2006/relationships/tags" Target="../tags/tag135.xml"/><Relationship Id="rId15" Type="http://schemas.openxmlformats.org/officeDocument/2006/relationships/image" Target="../media/image24.svg"/><Relationship Id="rId14" Type="http://schemas.openxmlformats.org/officeDocument/2006/relationships/image" Target="../media/image26.png"/><Relationship Id="rId13" Type="http://schemas.openxmlformats.org/officeDocument/2006/relationships/tags" Target="../tags/tag134.xml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tags" Target="../tags/tag12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65.xml"/><Relationship Id="rId8" Type="http://schemas.openxmlformats.org/officeDocument/2006/relationships/tags" Target="../tags/tag164.xml"/><Relationship Id="rId7" Type="http://schemas.openxmlformats.org/officeDocument/2006/relationships/tags" Target="../tags/tag163.xml"/><Relationship Id="rId6" Type="http://schemas.openxmlformats.org/officeDocument/2006/relationships/tags" Target="../tags/tag162.xml"/><Relationship Id="rId5" Type="http://schemas.openxmlformats.org/officeDocument/2006/relationships/tags" Target="../tags/tag161.xml"/><Relationship Id="rId4" Type="http://schemas.openxmlformats.org/officeDocument/2006/relationships/tags" Target="../tags/tag160.xml"/><Relationship Id="rId3" Type="http://schemas.openxmlformats.org/officeDocument/2006/relationships/tags" Target="../tags/tag159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158.xml"/><Relationship Id="rId19" Type="http://schemas.openxmlformats.org/officeDocument/2006/relationships/tags" Target="../tags/tag175.xml"/><Relationship Id="rId18" Type="http://schemas.openxmlformats.org/officeDocument/2006/relationships/tags" Target="../tags/tag174.xml"/><Relationship Id="rId17" Type="http://schemas.openxmlformats.org/officeDocument/2006/relationships/tags" Target="../tags/tag173.xml"/><Relationship Id="rId16" Type="http://schemas.openxmlformats.org/officeDocument/2006/relationships/tags" Target="../tags/tag172.xml"/><Relationship Id="rId15" Type="http://schemas.openxmlformats.org/officeDocument/2006/relationships/tags" Target="../tags/tag171.xml"/><Relationship Id="rId14" Type="http://schemas.openxmlformats.org/officeDocument/2006/relationships/tags" Target="../tags/tag170.xml"/><Relationship Id="rId13" Type="http://schemas.openxmlformats.org/officeDocument/2006/relationships/tags" Target="../tags/tag169.xml"/><Relationship Id="rId12" Type="http://schemas.openxmlformats.org/officeDocument/2006/relationships/tags" Target="../tags/tag168.xml"/><Relationship Id="rId11" Type="http://schemas.openxmlformats.org/officeDocument/2006/relationships/tags" Target="../tags/tag167.xml"/><Relationship Id="rId10" Type="http://schemas.openxmlformats.org/officeDocument/2006/relationships/tags" Target="../tags/tag166.xml"/><Relationship Id="rId1" Type="http://schemas.openxmlformats.org/officeDocument/2006/relationships/tags" Target="../tags/tag15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82.xml"/><Relationship Id="rId8" Type="http://schemas.openxmlformats.org/officeDocument/2006/relationships/image" Target="../media/image36.svg"/><Relationship Id="rId7" Type="http://schemas.openxmlformats.org/officeDocument/2006/relationships/image" Target="../media/image35.png"/><Relationship Id="rId6" Type="http://schemas.openxmlformats.org/officeDocument/2006/relationships/tags" Target="../tags/tag181.xml"/><Relationship Id="rId5" Type="http://schemas.openxmlformats.org/officeDocument/2006/relationships/tags" Target="../tags/tag180.xml"/><Relationship Id="rId48" Type="http://schemas.openxmlformats.org/officeDocument/2006/relationships/slideLayout" Target="../slideLayouts/slideLayout7.xml"/><Relationship Id="rId47" Type="http://schemas.openxmlformats.org/officeDocument/2006/relationships/tags" Target="../tags/tag214.xml"/><Relationship Id="rId46" Type="http://schemas.openxmlformats.org/officeDocument/2006/relationships/tags" Target="../tags/tag213.xml"/><Relationship Id="rId45" Type="http://schemas.openxmlformats.org/officeDocument/2006/relationships/tags" Target="../tags/tag212.xml"/><Relationship Id="rId44" Type="http://schemas.openxmlformats.org/officeDocument/2006/relationships/tags" Target="../tags/tag211.xml"/><Relationship Id="rId43" Type="http://schemas.openxmlformats.org/officeDocument/2006/relationships/tags" Target="../tags/tag210.xml"/><Relationship Id="rId42" Type="http://schemas.openxmlformats.org/officeDocument/2006/relationships/tags" Target="../tags/tag209.xml"/><Relationship Id="rId41" Type="http://schemas.openxmlformats.org/officeDocument/2006/relationships/image" Target="../media/image42.svg"/><Relationship Id="rId40" Type="http://schemas.openxmlformats.org/officeDocument/2006/relationships/image" Target="../media/image41.png"/><Relationship Id="rId4" Type="http://schemas.openxmlformats.org/officeDocument/2006/relationships/tags" Target="../tags/tag179.xml"/><Relationship Id="rId39" Type="http://schemas.openxmlformats.org/officeDocument/2006/relationships/tags" Target="../tags/tag208.xml"/><Relationship Id="rId38" Type="http://schemas.openxmlformats.org/officeDocument/2006/relationships/tags" Target="../tags/tag207.xml"/><Relationship Id="rId37" Type="http://schemas.openxmlformats.org/officeDocument/2006/relationships/tags" Target="../tags/tag206.xml"/><Relationship Id="rId36" Type="http://schemas.openxmlformats.org/officeDocument/2006/relationships/tags" Target="../tags/tag205.xml"/><Relationship Id="rId35" Type="http://schemas.openxmlformats.org/officeDocument/2006/relationships/tags" Target="../tags/tag204.xml"/><Relationship Id="rId34" Type="http://schemas.openxmlformats.org/officeDocument/2006/relationships/tags" Target="../tags/tag203.xml"/><Relationship Id="rId33" Type="http://schemas.openxmlformats.org/officeDocument/2006/relationships/tags" Target="../tags/tag202.xml"/><Relationship Id="rId32" Type="http://schemas.openxmlformats.org/officeDocument/2006/relationships/tags" Target="../tags/tag201.xml"/><Relationship Id="rId31" Type="http://schemas.openxmlformats.org/officeDocument/2006/relationships/tags" Target="../tags/tag200.xml"/><Relationship Id="rId30" Type="http://schemas.openxmlformats.org/officeDocument/2006/relationships/image" Target="../media/image40.svg"/><Relationship Id="rId3" Type="http://schemas.openxmlformats.org/officeDocument/2006/relationships/tags" Target="../tags/tag178.xml"/><Relationship Id="rId29" Type="http://schemas.openxmlformats.org/officeDocument/2006/relationships/image" Target="../media/image39.png"/><Relationship Id="rId28" Type="http://schemas.openxmlformats.org/officeDocument/2006/relationships/tags" Target="../tags/tag199.xml"/><Relationship Id="rId27" Type="http://schemas.openxmlformats.org/officeDocument/2006/relationships/tags" Target="../tags/tag198.xml"/><Relationship Id="rId26" Type="http://schemas.openxmlformats.org/officeDocument/2006/relationships/tags" Target="../tags/tag197.xml"/><Relationship Id="rId25" Type="http://schemas.openxmlformats.org/officeDocument/2006/relationships/tags" Target="../tags/tag196.xml"/><Relationship Id="rId24" Type="http://schemas.openxmlformats.org/officeDocument/2006/relationships/tags" Target="../tags/tag195.xml"/><Relationship Id="rId23" Type="http://schemas.openxmlformats.org/officeDocument/2006/relationships/tags" Target="../tags/tag194.xml"/><Relationship Id="rId22" Type="http://schemas.openxmlformats.org/officeDocument/2006/relationships/tags" Target="../tags/tag193.xml"/><Relationship Id="rId21" Type="http://schemas.openxmlformats.org/officeDocument/2006/relationships/tags" Target="../tags/tag192.xml"/><Relationship Id="rId20" Type="http://schemas.openxmlformats.org/officeDocument/2006/relationships/tags" Target="../tags/tag191.xml"/><Relationship Id="rId2" Type="http://schemas.openxmlformats.org/officeDocument/2006/relationships/tags" Target="../tags/tag177.xml"/><Relationship Id="rId19" Type="http://schemas.openxmlformats.org/officeDocument/2006/relationships/image" Target="../media/image38.svg"/><Relationship Id="rId18" Type="http://schemas.openxmlformats.org/officeDocument/2006/relationships/image" Target="../media/image37.png"/><Relationship Id="rId17" Type="http://schemas.openxmlformats.org/officeDocument/2006/relationships/tags" Target="../tags/tag190.xml"/><Relationship Id="rId16" Type="http://schemas.openxmlformats.org/officeDocument/2006/relationships/tags" Target="../tags/tag189.xml"/><Relationship Id="rId15" Type="http://schemas.openxmlformats.org/officeDocument/2006/relationships/tags" Target="../tags/tag188.xml"/><Relationship Id="rId14" Type="http://schemas.openxmlformats.org/officeDocument/2006/relationships/tags" Target="../tags/tag187.xml"/><Relationship Id="rId13" Type="http://schemas.openxmlformats.org/officeDocument/2006/relationships/tags" Target="../tags/tag186.xml"/><Relationship Id="rId12" Type="http://schemas.openxmlformats.org/officeDocument/2006/relationships/tags" Target="../tags/tag185.xml"/><Relationship Id="rId11" Type="http://schemas.openxmlformats.org/officeDocument/2006/relationships/tags" Target="../tags/tag184.xml"/><Relationship Id="rId10" Type="http://schemas.openxmlformats.org/officeDocument/2006/relationships/tags" Target="../tags/tag183.xml"/><Relationship Id="rId1" Type="http://schemas.openxmlformats.org/officeDocument/2006/relationships/tags" Target="../tags/tag176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21.xml"/><Relationship Id="rId8" Type="http://schemas.openxmlformats.org/officeDocument/2006/relationships/tags" Target="../tags/tag220.xml"/><Relationship Id="rId7" Type="http://schemas.openxmlformats.org/officeDocument/2006/relationships/image" Target="../media/image44.svg"/><Relationship Id="rId60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9" Type="http://schemas.openxmlformats.org/officeDocument/2006/relationships/tags" Target="../tags/tag253.xml"/><Relationship Id="rId58" Type="http://schemas.openxmlformats.org/officeDocument/2006/relationships/image" Target="../media/image62.svg"/><Relationship Id="rId57" Type="http://schemas.openxmlformats.org/officeDocument/2006/relationships/image" Target="../media/image61.png"/><Relationship Id="rId56" Type="http://schemas.openxmlformats.org/officeDocument/2006/relationships/tags" Target="../tags/tag252.xml"/><Relationship Id="rId55" Type="http://schemas.openxmlformats.org/officeDocument/2006/relationships/tags" Target="../tags/tag251.xml"/><Relationship Id="rId54" Type="http://schemas.openxmlformats.org/officeDocument/2006/relationships/tags" Target="../tags/tag250.xml"/><Relationship Id="rId53" Type="http://schemas.openxmlformats.org/officeDocument/2006/relationships/image" Target="../media/image60.svg"/><Relationship Id="rId52" Type="http://schemas.openxmlformats.org/officeDocument/2006/relationships/image" Target="../media/image59.png"/><Relationship Id="rId51" Type="http://schemas.openxmlformats.org/officeDocument/2006/relationships/tags" Target="../tags/tag249.xml"/><Relationship Id="rId50" Type="http://schemas.openxmlformats.org/officeDocument/2006/relationships/tags" Target="../tags/tag248.xml"/><Relationship Id="rId5" Type="http://schemas.openxmlformats.org/officeDocument/2006/relationships/tags" Target="../tags/tag219.xml"/><Relationship Id="rId49" Type="http://schemas.openxmlformats.org/officeDocument/2006/relationships/tags" Target="../tags/tag247.xml"/><Relationship Id="rId48" Type="http://schemas.openxmlformats.org/officeDocument/2006/relationships/tags" Target="../tags/tag246.xml"/><Relationship Id="rId47" Type="http://schemas.openxmlformats.org/officeDocument/2006/relationships/tags" Target="../tags/tag245.xml"/><Relationship Id="rId46" Type="http://schemas.openxmlformats.org/officeDocument/2006/relationships/image" Target="../media/image58.svg"/><Relationship Id="rId45" Type="http://schemas.openxmlformats.org/officeDocument/2006/relationships/image" Target="../media/image57.png"/><Relationship Id="rId44" Type="http://schemas.openxmlformats.org/officeDocument/2006/relationships/tags" Target="../tags/tag244.xml"/><Relationship Id="rId43" Type="http://schemas.openxmlformats.org/officeDocument/2006/relationships/tags" Target="../tags/tag243.xml"/><Relationship Id="rId42" Type="http://schemas.openxmlformats.org/officeDocument/2006/relationships/tags" Target="../tags/tag242.xml"/><Relationship Id="rId41" Type="http://schemas.openxmlformats.org/officeDocument/2006/relationships/image" Target="../media/image56.svg"/><Relationship Id="rId40" Type="http://schemas.openxmlformats.org/officeDocument/2006/relationships/image" Target="../media/image55.png"/><Relationship Id="rId4" Type="http://schemas.openxmlformats.org/officeDocument/2006/relationships/tags" Target="../tags/tag218.xml"/><Relationship Id="rId39" Type="http://schemas.openxmlformats.org/officeDocument/2006/relationships/tags" Target="../tags/tag241.xml"/><Relationship Id="rId38" Type="http://schemas.openxmlformats.org/officeDocument/2006/relationships/tags" Target="../tags/tag240.xml"/><Relationship Id="rId37" Type="http://schemas.openxmlformats.org/officeDocument/2006/relationships/tags" Target="../tags/tag239.xml"/><Relationship Id="rId36" Type="http://schemas.openxmlformats.org/officeDocument/2006/relationships/tags" Target="../tags/tag238.xml"/><Relationship Id="rId35" Type="http://schemas.openxmlformats.org/officeDocument/2006/relationships/tags" Target="../tags/tag237.xml"/><Relationship Id="rId34" Type="http://schemas.openxmlformats.org/officeDocument/2006/relationships/image" Target="../media/image54.svg"/><Relationship Id="rId33" Type="http://schemas.openxmlformats.org/officeDocument/2006/relationships/image" Target="../media/image53.png"/><Relationship Id="rId32" Type="http://schemas.openxmlformats.org/officeDocument/2006/relationships/tags" Target="../tags/tag236.xml"/><Relationship Id="rId31" Type="http://schemas.openxmlformats.org/officeDocument/2006/relationships/tags" Target="../tags/tag235.xml"/><Relationship Id="rId30" Type="http://schemas.openxmlformats.org/officeDocument/2006/relationships/tags" Target="../tags/tag234.xml"/><Relationship Id="rId3" Type="http://schemas.openxmlformats.org/officeDocument/2006/relationships/tags" Target="../tags/tag217.xml"/><Relationship Id="rId29" Type="http://schemas.openxmlformats.org/officeDocument/2006/relationships/image" Target="../media/image52.svg"/><Relationship Id="rId28" Type="http://schemas.openxmlformats.org/officeDocument/2006/relationships/image" Target="../media/image51.png"/><Relationship Id="rId27" Type="http://schemas.openxmlformats.org/officeDocument/2006/relationships/tags" Target="../tags/tag233.xml"/><Relationship Id="rId26" Type="http://schemas.openxmlformats.org/officeDocument/2006/relationships/tags" Target="../tags/tag232.xml"/><Relationship Id="rId25" Type="http://schemas.openxmlformats.org/officeDocument/2006/relationships/tags" Target="../tags/tag231.xml"/><Relationship Id="rId24" Type="http://schemas.openxmlformats.org/officeDocument/2006/relationships/image" Target="../media/image50.svg"/><Relationship Id="rId23" Type="http://schemas.openxmlformats.org/officeDocument/2006/relationships/image" Target="../media/image49.png"/><Relationship Id="rId22" Type="http://schemas.openxmlformats.org/officeDocument/2006/relationships/tags" Target="../tags/tag230.xml"/><Relationship Id="rId21" Type="http://schemas.openxmlformats.org/officeDocument/2006/relationships/tags" Target="../tags/tag229.xml"/><Relationship Id="rId20" Type="http://schemas.openxmlformats.org/officeDocument/2006/relationships/tags" Target="../tags/tag228.xml"/><Relationship Id="rId2" Type="http://schemas.openxmlformats.org/officeDocument/2006/relationships/tags" Target="../tags/tag216.xml"/><Relationship Id="rId19" Type="http://schemas.openxmlformats.org/officeDocument/2006/relationships/tags" Target="../tags/tag227.xml"/><Relationship Id="rId18" Type="http://schemas.openxmlformats.org/officeDocument/2006/relationships/tags" Target="../tags/tag226.xml"/><Relationship Id="rId17" Type="http://schemas.openxmlformats.org/officeDocument/2006/relationships/image" Target="../media/image48.svg"/><Relationship Id="rId16" Type="http://schemas.openxmlformats.org/officeDocument/2006/relationships/image" Target="../media/image47.png"/><Relationship Id="rId15" Type="http://schemas.openxmlformats.org/officeDocument/2006/relationships/tags" Target="../tags/tag225.xml"/><Relationship Id="rId14" Type="http://schemas.openxmlformats.org/officeDocument/2006/relationships/tags" Target="../tags/tag224.xml"/><Relationship Id="rId13" Type="http://schemas.openxmlformats.org/officeDocument/2006/relationships/tags" Target="../tags/tag223.xml"/><Relationship Id="rId12" Type="http://schemas.openxmlformats.org/officeDocument/2006/relationships/image" Target="../media/image46.svg"/><Relationship Id="rId11" Type="http://schemas.openxmlformats.org/officeDocument/2006/relationships/image" Target="../media/image45.png"/><Relationship Id="rId10" Type="http://schemas.openxmlformats.org/officeDocument/2006/relationships/tags" Target="../tags/tag222.xml"/><Relationship Id="rId1" Type="http://schemas.openxmlformats.org/officeDocument/2006/relationships/tags" Target="../tags/tag215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62.xml"/><Relationship Id="rId8" Type="http://schemas.openxmlformats.org/officeDocument/2006/relationships/tags" Target="../tags/tag261.xml"/><Relationship Id="rId7" Type="http://schemas.openxmlformats.org/officeDocument/2006/relationships/tags" Target="../tags/tag260.xml"/><Relationship Id="rId6" Type="http://schemas.openxmlformats.org/officeDocument/2006/relationships/tags" Target="../tags/tag259.xml"/><Relationship Id="rId5" Type="http://schemas.openxmlformats.org/officeDocument/2006/relationships/tags" Target="../tags/tag258.xml"/><Relationship Id="rId4" Type="http://schemas.openxmlformats.org/officeDocument/2006/relationships/tags" Target="../tags/tag257.xml"/><Relationship Id="rId3" Type="http://schemas.openxmlformats.org/officeDocument/2006/relationships/tags" Target="../tags/tag256.xml"/><Relationship Id="rId2" Type="http://schemas.openxmlformats.org/officeDocument/2006/relationships/tags" Target="../tags/tag255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270.xml"/><Relationship Id="rId16" Type="http://schemas.openxmlformats.org/officeDocument/2006/relationships/tags" Target="../tags/tag269.xml"/><Relationship Id="rId15" Type="http://schemas.openxmlformats.org/officeDocument/2006/relationships/tags" Target="../tags/tag268.xml"/><Relationship Id="rId14" Type="http://schemas.openxmlformats.org/officeDocument/2006/relationships/tags" Target="../tags/tag267.xml"/><Relationship Id="rId13" Type="http://schemas.openxmlformats.org/officeDocument/2006/relationships/tags" Target="../tags/tag266.xml"/><Relationship Id="rId12" Type="http://schemas.openxmlformats.org/officeDocument/2006/relationships/tags" Target="../tags/tag265.xml"/><Relationship Id="rId11" Type="http://schemas.openxmlformats.org/officeDocument/2006/relationships/tags" Target="../tags/tag264.xml"/><Relationship Id="rId10" Type="http://schemas.openxmlformats.org/officeDocument/2006/relationships/tags" Target="../tags/tag263.xml"/><Relationship Id="rId1" Type="http://schemas.openxmlformats.org/officeDocument/2006/relationships/tags" Target="../tags/tag254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278.xml"/><Relationship Id="rId7" Type="http://schemas.openxmlformats.org/officeDocument/2006/relationships/tags" Target="../tags/tag277.xml"/><Relationship Id="rId6" Type="http://schemas.openxmlformats.org/officeDocument/2006/relationships/tags" Target="../tags/tag276.xml"/><Relationship Id="rId5" Type="http://schemas.openxmlformats.org/officeDocument/2006/relationships/tags" Target="../tags/tag275.xml"/><Relationship Id="rId4" Type="http://schemas.openxmlformats.org/officeDocument/2006/relationships/tags" Target="../tags/tag274.xml"/><Relationship Id="rId3" Type="http://schemas.openxmlformats.org/officeDocument/2006/relationships/tags" Target="../tags/tag273.xml"/><Relationship Id="rId2" Type="http://schemas.openxmlformats.org/officeDocument/2006/relationships/tags" Target="../tags/tag272.xml"/><Relationship Id="rId1" Type="http://schemas.openxmlformats.org/officeDocument/2006/relationships/tags" Target="../tags/tag2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809625" y="1574006"/>
            <a:ext cx="8268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315">
                <a:solidFill>
                  <a:srgbClr val="D650C7"/>
                </a:solidFill>
                <a:latin typeface="MiSans Demibold" panose="00000700000000000000" charset="-122"/>
                <a:ea typeface="MiSans Demibold" panose="00000700000000000000" charset="-122"/>
              </a:rPr>
              <a:t>游戏运营</a:t>
            </a:r>
            <a:endParaRPr sz="1050" b="1" spc="315">
              <a:solidFill>
                <a:srgbClr val="D650C7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66750" y="1983581"/>
            <a:ext cx="5434984" cy="1495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4500" b="1">
                <a:solidFill>
                  <a:srgbClr val="2C1B3D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《杖剑传说》</a:t>
            </a:r>
            <a:r>
              <a:rPr lang="en-US" altLang="zh-CN" sz="4500" b="1">
                <a:solidFill>
                  <a:srgbClr val="2C1B3D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APP</a:t>
            </a:r>
            <a:r>
              <a:rPr lang="zh-CN" altLang="en-US" sz="4500" b="1">
                <a:solidFill>
                  <a:srgbClr val="2C1B3D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版</a:t>
            </a:r>
            <a:endParaRPr lang="zh-CN" altLang="en-US" sz="4500" b="1">
              <a:solidFill>
                <a:srgbClr val="2C1B3D"/>
              </a:solidFill>
              <a:latin typeface="MiSans Demibold" panose="00000700000000000000" charset="-122"/>
              <a:ea typeface="MiSans Demibold" panose="00000700000000000000" charset="-122"/>
              <a:cs typeface="MiSans Demibold" panose="00000700000000000000" charset="-122"/>
            </a:endParaRPr>
          </a:p>
          <a:p>
            <a:pPr algn="l">
              <a:lnSpc>
                <a:spcPct val="104000"/>
              </a:lnSpc>
            </a:pPr>
            <a:r>
              <a:rPr sz="4500" b="1">
                <a:solidFill>
                  <a:srgbClr val="D650C7"/>
                </a:solidFill>
                <a:latin typeface="MiSans Demibold" panose="00000700000000000000" charset="-122"/>
                <a:ea typeface="MiSans Demibold" panose="00000700000000000000" charset="-122"/>
              </a:rPr>
              <a:t>产品运营分析报告</a:t>
            </a:r>
            <a:endParaRPr sz="4500" b="1">
              <a:solidFill>
                <a:srgbClr val="D650C7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666750" y="4436110"/>
            <a:ext cx="2914650" cy="9525"/>
          </a:xfrm>
          <a:prstGeom prst="rect">
            <a:avLst/>
          </a:prstGeom>
          <a:solidFill>
            <a:srgbClr val="D6C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666750" y="3659981"/>
            <a:ext cx="30099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</a:rPr>
              <a:t>从产品定位到长线运营的竞品分析</a:t>
            </a:r>
            <a:endParaRPr sz="1500" spc="30">
              <a:solidFill>
                <a:srgbClr val="5A4A6D"/>
              </a:solidFill>
              <a:latin typeface="MiSans Normal" panose="00000500000000000000" charset="-122"/>
              <a:ea typeface="MiSans Normal" panose="00000500000000000000" charset="-122"/>
            </a:endParaRPr>
          </a:p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</a:rPr>
              <a:t>应聘岗位：游戏运营</a:t>
            </a:r>
            <a:endParaRPr sz="1500" spc="30">
              <a:solidFill>
                <a:srgbClr val="5A4A6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666750" y="4750594"/>
            <a:ext cx="696144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spc="27">
                <a:solidFill>
                  <a:srgbClr val="8A7A9D"/>
                </a:solidFill>
                <a:latin typeface="MiSans Normal" panose="00000500000000000000" charset="-122"/>
                <a:ea typeface="MiSans Normal" panose="00000500000000000000" charset="-122"/>
              </a:rPr>
              <a:t>汇报人</a:t>
            </a:r>
            <a:endParaRPr sz="1350" spc="27">
              <a:solidFill>
                <a:srgbClr val="8A7A9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1305744" y="4750594"/>
            <a:ext cx="696144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 spc="27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</a:rPr>
              <a:t>文天赐</a:t>
            </a:r>
            <a:endParaRPr sz="1350" spc="27">
              <a:solidFill>
                <a:srgbClr val="5A4A6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666750" y="5055394"/>
            <a:ext cx="52127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spc="27">
                <a:solidFill>
                  <a:srgbClr val="8A7A9D"/>
                </a:solidFill>
                <a:latin typeface="MiSans Normal" panose="00000500000000000000" charset="-122"/>
                <a:ea typeface="MiSans Normal" panose="00000500000000000000" charset="-122"/>
              </a:rPr>
              <a:t>日期</a:t>
            </a:r>
            <a:endParaRPr sz="1350" spc="27">
              <a:solidFill>
                <a:srgbClr val="8A7A9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1130875" y="5055394"/>
            <a:ext cx="157943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350" spc="27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2026</a:t>
            </a:r>
            <a:r>
              <a:rPr lang="zh-CN" altLang="en-US" sz="1350" spc="27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年</a:t>
            </a:r>
            <a:r>
              <a:rPr lang="en-US" altLang="zh-CN" sz="1350" spc="27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07</a:t>
            </a:r>
            <a:r>
              <a:rPr lang="zh-CN" altLang="en-US" sz="1350" spc="27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月</a:t>
            </a:r>
            <a:r>
              <a:rPr lang="en-US" altLang="zh-CN" sz="1350" spc="27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22</a:t>
            </a:r>
            <a:r>
              <a:rPr lang="zh-CN" altLang="en-US" sz="1350" spc="27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日</a:t>
            </a:r>
            <a:endParaRPr lang="zh-CN" altLang="en-US" sz="1350" spc="27">
              <a:solidFill>
                <a:srgbClr val="5A4A6D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3" name="矩形 2"/>
          <p:cNvSpPr/>
          <p:nvPr>
            <p:custDataLst>
              <p:tags r:id="rId9"/>
            </p:custDataLst>
          </p:nvPr>
        </p:nvSpPr>
        <p:spPr>
          <a:xfrm rot="2700000">
            <a:off x="666115" y="1638300"/>
            <a:ext cx="48260" cy="47625"/>
          </a:xfrm>
          <a:prstGeom prst="rect">
            <a:avLst/>
          </a:prstGeom>
          <a:solidFill>
            <a:srgbClr val="D650C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10"/>
            </p:custDataLst>
          </p:nvPr>
        </p:nvSpPr>
        <p:spPr>
          <a:xfrm>
            <a:off x="1598295" y="1657350"/>
            <a:ext cx="228600" cy="9525"/>
          </a:xfrm>
          <a:prstGeom prst="rect">
            <a:avLst/>
          </a:prstGeom>
          <a:solidFill>
            <a:srgbClr val="D650C7">
              <a:alpha val="50001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C1B3D"/>
                </a:solidFill>
                <a:latin typeface="MiSans Demibold" panose="00000700000000000000" charset="-122"/>
                <a:ea typeface="MiSans Demibold" panose="00000700000000000000" charset="-122"/>
              </a:rPr>
              <a:t>产品概况</a:t>
            </a:r>
            <a:endParaRPr sz="3000" b="1">
              <a:solidFill>
                <a:srgbClr val="2C1B3D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pic>
        <p:nvPicPr>
          <p:cNvPr id="4" name="图片 3" descr="2bbd2b44-8598-11f1-8533-da2864182f4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1207" r="1215"/>
          <a:stretch>
            <a:fillRect/>
          </a:stretch>
        </p:blipFill>
        <p:spPr>
          <a:xfrm>
            <a:off x="571500" y="1104906"/>
            <a:ext cx="4528185" cy="5372088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131" h="8460">
                <a:moveTo>
                  <a:pt x="120" y="0"/>
                </a:moveTo>
                <a:lnTo>
                  <a:pt x="7011" y="0"/>
                </a:lnTo>
                <a:cubicBezTo>
                  <a:pt x="7077" y="0"/>
                  <a:pt x="7131" y="54"/>
                  <a:pt x="7131" y="120"/>
                </a:cubicBezTo>
                <a:lnTo>
                  <a:pt x="7131" y="8340"/>
                </a:lnTo>
                <a:cubicBezTo>
                  <a:pt x="7131" y="8406"/>
                  <a:pt x="7077" y="8460"/>
                  <a:pt x="7011" y="8460"/>
                </a:cubicBezTo>
                <a:lnTo>
                  <a:pt x="120" y="8460"/>
                </a:lnTo>
                <a:cubicBezTo>
                  <a:pt x="54" y="8460"/>
                  <a:pt x="0" y="8406"/>
                  <a:pt x="0" y="8340"/>
                </a:cubicBezTo>
                <a:lnTo>
                  <a:pt x="0" y="120"/>
                </a:lnTo>
                <a:cubicBezTo>
                  <a:pt x="0" y="54"/>
                  <a:pt x="54" y="0"/>
                  <a:pt x="120" y="0"/>
                </a:cubicBezTo>
                <a:close/>
              </a:path>
            </a:pathLst>
          </a:custGeom>
        </p:spPr>
      </p:pic>
      <p:sp>
        <p:nvSpPr>
          <p:cNvPr id="10" name="任意多边形 9"/>
          <p:cNvSpPr/>
          <p:nvPr>
            <p:custDataLst>
              <p:tags r:id="rId4"/>
            </p:custDataLst>
          </p:nvPr>
        </p:nvSpPr>
        <p:spPr>
          <a:xfrm>
            <a:off x="5366385" y="5895975"/>
            <a:ext cx="6253480" cy="581025"/>
          </a:xfrm>
          <a:custGeom>
            <a:avLst/>
            <a:gdLst>
              <a:gd name="sw" fmla="*/ 1 w 9848"/>
              <a:gd name="sh" fmla="*/ 1 h 915"/>
              <a:gd name="mins" fmla="min sw sh"/>
              <a:gd name="dsw" fmla="+- 0 sw mins"/>
              <a:gd name="dsh" fmla="+- 0 sh mins"/>
              <a:gd name="p0x0" fmla="*/ 240 w 9848"/>
              <a:gd name="p0y0" fmla="*/ 0 h 915"/>
              <a:gd name="p0x1" fmla="*/ 9608 w 9848"/>
              <a:gd name="p0y1" fmla="*/ 0 h 915"/>
              <a:gd name="p0x2" fmla="*/ 9740 w 9848"/>
              <a:gd name="p0y2" fmla="*/ 0 h 915"/>
              <a:gd name="p0x3" fmla="*/ 9848 w 9848"/>
              <a:gd name="p0y3" fmla="*/ 107 h 915"/>
              <a:gd name="p0x4" fmla="*/ 9848 w 9848"/>
              <a:gd name="p0y4" fmla="*/ 240 h 915"/>
              <a:gd name="p0x5" fmla="*/ 9848 w 9848"/>
              <a:gd name="p0y5" fmla="*/ 675 h 915"/>
              <a:gd name="p0x6" fmla="*/ 9848 w 9848"/>
              <a:gd name="p0y6" fmla="*/ 807 h 915"/>
              <a:gd name="p0x7" fmla="*/ 9740 w 9848"/>
              <a:gd name="p0y7" fmla="*/ 915 h 915"/>
              <a:gd name="p0x8" fmla="*/ 9608 w 9848"/>
              <a:gd name="p0y8" fmla="*/ 915 h 915"/>
              <a:gd name="p0x9" fmla="*/ 240 w 9848"/>
              <a:gd name="p0y9" fmla="*/ 915 h 915"/>
              <a:gd name="p0x10" fmla="*/ 107 w 9848"/>
              <a:gd name="p0y10" fmla="*/ 915 h 915"/>
              <a:gd name="p0x11" fmla="*/ 0 w 9848"/>
              <a:gd name="p0y11" fmla="*/ 807 h 915"/>
              <a:gd name="p0x12" fmla="*/ 0 w 9848"/>
              <a:gd name="p0y12" fmla="*/ 675 h 915"/>
              <a:gd name="p0x13" fmla="*/ 0 w 9848"/>
              <a:gd name="p0y13" fmla="*/ 240 h 915"/>
              <a:gd name="p0x14" fmla="*/ 0 w 9848"/>
              <a:gd name="p0y14" fmla="*/ 107 h 915"/>
              <a:gd name="p0x15" fmla="*/ 107 w 9848"/>
              <a:gd name="p0y15" fmla="*/ 0 h 915"/>
              <a:gd name="p0x16" fmla="*/ 240 w 9848"/>
              <a:gd name="p0y16" fmla="*/ 0 h 9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0E6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5557247" y="6086475"/>
            <a:ext cx="587268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D650C7"/>
                </a:solidFill>
                <a:latin typeface="MiSans Normal" panose="00000500000000000000" charset="-122"/>
                <a:ea typeface="MiSans Normal" panose="00000500000000000000" charset="-122"/>
              </a:rPr>
              <a:t>《杖剑传说》</a:t>
            </a:r>
            <a:r>
              <a:rPr sz="1200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是一款围绕</a:t>
            </a:r>
            <a:r>
              <a:rPr lang="en-US" sz="1200" b="1">
                <a:solidFill>
                  <a:srgbClr val="D650C7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"</a:t>
            </a:r>
            <a:r>
              <a:rPr lang="zh-CN" altLang="en-US" sz="1200" b="1">
                <a:solidFill>
                  <a:srgbClr val="D650C7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成长反馈</a:t>
            </a:r>
            <a:r>
              <a:rPr lang="en-US" altLang="zh-CN" sz="1200" b="1">
                <a:solidFill>
                  <a:srgbClr val="D650C7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"</a:t>
            </a:r>
            <a:r>
              <a:rPr lang="zh-CN" altLang="zh-CN" sz="1200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设计的轻放置</a:t>
            </a:r>
            <a:r>
              <a:rPr lang="en-US" altLang="zh-CN" sz="1200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RPG</a:t>
            </a:r>
            <a:r>
              <a:rPr lang="zh-CN" altLang="en-US" sz="1200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。</a:t>
            </a:r>
            <a:endParaRPr lang="zh-CN" altLang="en-US" sz="1200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6"/>
            </p:custDataLst>
          </p:nvPr>
        </p:nvSpPr>
        <p:spPr>
          <a:xfrm>
            <a:off x="5371465" y="1109345"/>
            <a:ext cx="6243955" cy="4591050"/>
          </a:xfrm>
          <a:custGeom>
            <a:avLst/>
            <a:gdLst>
              <a:gd name="sw" fmla="*/ 1 w 9833"/>
              <a:gd name="sh" fmla="*/ 1 h 7230"/>
              <a:gd name="mins" fmla="min sw sh"/>
              <a:gd name="dsw" fmla="+- 0 sw mins"/>
              <a:gd name="dsh" fmla="+- 0 sh mins"/>
              <a:gd name="p0x0" fmla="*/ 240 w 9833"/>
              <a:gd name="p0y0" fmla="*/ 0 h 7230"/>
              <a:gd name="p0x1" fmla="*/ 9593 w 9833"/>
              <a:gd name="p0y1" fmla="*/ 0 h 7230"/>
              <a:gd name="p0x2" fmla="*/ 9725 w 9833"/>
              <a:gd name="p0y2" fmla="*/ 0 h 7230"/>
              <a:gd name="p0x3" fmla="*/ 9833 w 9833"/>
              <a:gd name="p0y3" fmla="*/ 107 h 7230"/>
              <a:gd name="p0x4" fmla="*/ 9833 w 9833"/>
              <a:gd name="p0y4" fmla="*/ 240 h 7230"/>
              <a:gd name="p0x5" fmla="*/ 9833 w 9833"/>
              <a:gd name="p0y5" fmla="*/ 6990 h 7230"/>
              <a:gd name="p0x6" fmla="*/ 9833 w 9833"/>
              <a:gd name="p0y6" fmla="*/ 7122 h 7230"/>
              <a:gd name="p0x7" fmla="*/ 9725 w 9833"/>
              <a:gd name="p0y7" fmla="*/ 7230 h 7230"/>
              <a:gd name="p0x8" fmla="*/ 9593 w 9833"/>
              <a:gd name="p0y8" fmla="*/ 7230 h 7230"/>
              <a:gd name="p0x9" fmla="*/ 240 w 9833"/>
              <a:gd name="p0y9" fmla="*/ 7230 h 7230"/>
              <a:gd name="p0x10" fmla="*/ 107 w 9833"/>
              <a:gd name="p0y10" fmla="*/ 7230 h 7230"/>
              <a:gd name="p0x11" fmla="*/ 0 w 9833"/>
              <a:gd name="p0y11" fmla="*/ 7122 h 7230"/>
              <a:gd name="p0x12" fmla="*/ 0 w 9833"/>
              <a:gd name="p0y12" fmla="*/ 6990 h 7230"/>
              <a:gd name="p0x13" fmla="*/ 0 w 9833"/>
              <a:gd name="p0y13" fmla="*/ 240 h 7230"/>
              <a:gd name="p0x14" fmla="*/ 0 w 9833"/>
              <a:gd name="p0y14" fmla="*/ 107 h 7230"/>
              <a:gd name="p0x15" fmla="*/ 107 w 9833"/>
              <a:gd name="p0y15" fmla="*/ 0 h 7230"/>
              <a:gd name="p0x16" fmla="*/ 240 w 9833"/>
              <a:gd name="p0y16" fmla="*/ 0 h 72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7FF"/>
          </a:solidFill>
          <a:ln w="9525" cmpd="sng">
            <a:solidFill>
              <a:srgbClr val="E8DCF0"/>
            </a:solidFill>
            <a:prstDash val="solid"/>
          </a:ln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5566772" y="1288732"/>
            <a:ext cx="5853636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产品参数</a:t>
            </a:r>
            <a:endParaRPr sz="2100" b="1" spc="42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graphicFrame>
        <p:nvGraphicFramePr>
          <p:cNvPr id="9" name="表格 8"/>
          <p:cNvGraphicFramePr/>
          <p:nvPr>
            <p:custDataLst>
              <p:tags r:id="rId8"/>
            </p:custDataLst>
          </p:nvPr>
        </p:nvGraphicFramePr>
        <p:xfrm>
          <a:off x="5566410" y="1714500"/>
          <a:ext cx="5853626" cy="3790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4578"/>
                <a:gridCol w="4429048"/>
              </a:tblGrid>
              <a:tr h="755302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2C1B3D"/>
                          </a:solidFill>
                          <a:latin typeface="MiSans Normal" panose="00000500000000000000" charset="-122"/>
                          <a:ea typeface="MiSans Normal" panose="00000500000000000000" charset="-122"/>
                        </a:rPr>
                        <a:t>游戏类型</a:t>
                      </a:r>
                      <a:endParaRPr sz="1500" b="1">
                        <a:solidFill>
                          <a:srgbClr val="2C1B3D"/>
                        </a:solidFill>
                        <a:latin typeface="MiSans Normal" panose="00000500000000000000" charset="-122"/>
                        <a:ea typeface="MiSans Normal" panose="00000500000000000000" charset="-122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7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2C1B3D"/>
                          </a:solidFill>
                          <a:latin typeface="MiSans Normal" panose="00000500000000000000" charset="-122"/>
                          <a:ea typeface="MiSans Normal" panose="00000500000000000000" charset="-122"/>
                          <a:cs typeface="MiSans Normal" panose="00000500000000000000" charset="-122"/>
                        </a:rPr>
                        <a:t>放置</a:t>
                      </a:r>
                      <a:r>
                        <a:rPr lang="en-US" altLang="zh-CN" sz="1500" b="0">
                          <a:solidFill>
                            <a:srgbClr val="2C1B3D"/>
                          </a:solidFill>
                          <a:latin typeface="MiSans Normal" panose="00000500000000000000" charset="-122"/>
                          <a:ea typeface="MiSans Normal" panose="00000500000000000000" charset="-122"/>
                          <a:cs typeface="MiSans Normal" panose="00000500000000000000" charset="-122"/>
                        </a:rPr>
                        <a:t>RPG</a:t>
                      </a:r>
                      <a:endParaRPr lang="en-US" altLang="zh-CN" sz="1500" b="0">
                        <a:solidFill>
                          <a:srgbClr val="2C1B3D"/>
                        </a:solidFill>
                        <a:latin typeface="MiSans Normal" panose="00000500000000000000" charset="-122"/>
                        <a:ea typeface="MiSans Normal" panose="00000500000000000000" charset="-122"/>
                        <a:cs typeface="MiSans Normal" panose="00000500000000000000" charset="-122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7FF"/>
                    </a:solidFill>
                  </a:tcPr>
                </a:tc>
              </a:tr>
              <a:tr h="755302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2C1B3D"/>
                          </a:solidFill>
                          <a:latin typeface="MiSans Normal" panose="00000500000000000000" charset="-122"/>
                          <a:ea typeface="MiSans Normal" panose="00000500000000000000" charset="-122"/>
                        </a:rPr>
                        <a:t>美术风格</a:t>
                      </a:r>
                      <a:endParaRPr sz="1500" b="1">
                        <a:solidFill>
                          <a:srgbClr val="2C1B3D"/>
                        </a:solidFill>
                        <a:latin typeface="MiSans Normal" panose="00000500000000000000" charset="-122"/>
                        <a:ea typeface="MiSans Normal" panose="00000500000000000000" charset="-122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7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2C1B3D"/>
                          </a:solidFill>
                          <a:latin typeface="MiSans Normal" panose="00000500000000000000" charset="-122"/>
                          <a:ea typeface="MiSans Normal" panose="00000500000000000000" charset="-122"/>
                          <a:cs typeface="MiSans Normal" panose="00000500000000000000" charset="-122"/>
                        </a:rPr>
                        <a:t>二次元</a:t>
                      </a:r>
                      <a:r>
                        <a:rPr lang="en-US" altLang="zh-CN" sz="1500" b="0">
                          <a:solidFill>
                            <a:srgbClr val="2C1B3D"/>
                          </a:solidFill>
                          <a:latin typeface="MiSans Normal" panose="00000500000000000000" charset="-122"/>
                          <a:ea typeface="MiSans Normal" panose="00000500000000000000" charset="-122"/>
                          <a:cs typeface="MiSans Normal" panose="00000500000000000000" charset="-122"/>
                        </a:rPr>
                        <a:t>Q</a:t>
                      </a:r>
                      <a:r>
                        <a:rPr lang="zh-CN" altLang="en-US" sz="1500" b="0">
                          <a:solidFill>
                            <a:srgbClr val="2C1B3D"/>
                          </a:solidFill>
                          <a:latin typeface="MiSans Normal" panose="00000500000000000000" charset="-122"/>
                          <a:ea typeface="MiSans Normal" panose="00000500000000000000" charset="-122"/>
                          <a:cs typeface="MiSans Normal" panose="00000500000000000000" charset="-122"/>
                        </a:rPr>
                        <a:t>版</a:t>
                      </a:r>
                      <a:endParaRPr lang="zh-CN" altLang="en-US" sz="1500" b="0">
                        <a:solidFill>
                          <a:srgbClr val="2C1B3D"/>
                        </a:solidFill>
                        <a:latin typeface="MiSans Normal" panose="00000500000000000000" charset="-122"/>
                        <a:ea typeface="MiSans Normal" panose="00000500000000000000" charset="-122"/>
                        <a:cs typeface="MiSans Normal" panose="00000500000000000000" charset="-122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7FF"/>
                    </a:solidFill>
                  </a:tcPr>
                </a:tc>
              </a:tr>
              <a:tr h="755302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2C1B3D"/>
                          </a:solidFill>
                          <a:latin typeface="MiSans Normal" panose="00000500000000000000" charset="-122"/>
                          <a:ea typeface="MiSans Normal" panose="00000500000000000000" charset="-122"/>
                        </a:rPr>
                        <a:t>核心玩法</a:t>
                      </a:r>
                      <a:endParaRPr sz="1500" b="1">
                        <a:solidFill>
                          <a:srgbClr val="2C1B3D"/>
                        </a:solidFill>
                        <a:latin typeface="MiSans Normal" panose="00000500000000000000" charset="-122"/>
                        <a:ea typeface="MiSans Normal" panose="00000500000000000000" charset="-122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7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2C1B3D"/>
                          </a:solidFill>
                          <a:latin typeface="MiSans Normal" panose="00000500000000000000" charset="-122"/>
                          <a:ea typeface="MiSans Normal" panose="00000500000000000000" charset="-122"/>
                          <a:cs typeface="MiSans Normal" panose="00000500000000000000" charset="-122"/>
                        </a:rPr>
                        <a:t>挂机</a:t>
                      </a:r>
                      <a:r>
                        <a:rPr lang="en-US" altLang="zh-CN" sz="1500" b="0">
                          <a:solidFill>
                            <a:srgbClr val="2C1B3D"/>
                          </a:solidFill>
                          <a:latin typeface="MiSans Normal" panose="00000500000000000000" charset="-122"/>
                          <a:ea typeface="MiSans Normal" panose="00000500000000000000" charset="-122"/>
                          <a:cs typeface="MiSans Normal" panose="00000500000000000000" charset="-122"/>
                        </a:rPr>
                        <a:t> + </a:t>
                      </a:r>
                      <a:r>
                        <a:rPr lang="zh-CN" altLang="en-US" sz="1500" b="0">
                          <a:solidFill>
                            <a:srgbClr val="2C1B3D"/>
                          </a:solidFill>
                          <a:latin typeface="MiSans Normal" panose="00000500000000000000" charset="-122"/>
                          <a:ea typeface="MiSans Normal" panose="00000500000000000000" charset="-122"/>
                          <a:cs typeface="MiSans Normal" panose="00000500000000000000" charset="-122"/>
                        </a:rPr>
                        <a:t>养成</a:t>
                      </a:r>
                      <a:r>
                        <a:rPr lang="en-US" altLang="zh-CN" sz="1500" b="0">
                          <a:solidFill>
                            <a:srgbClr val="2C1B3D"/>
                          </a:solidFill>
                          <a:latin typeface="MiSans Normal" panose="00000500000000000000" charset="-122"/>
                          <a:ea typeface="MiSans Normal" panose="00000500000000000000" charset="-122"/>
                          <a:cs typeface="MiSans Normal" panose="00000500000000000000" charset="-122"/>
                        </a:rPr>
                        <a:t> + Build</a:t>
                      </a:r>
                      <a:endParaRPr lang="en-US" altLang="zh-CN" sz="1500" b="0">
                        <a:solidFill>
                          <a:srgbClr val="2C1B3D"/>
                        </a:solidFill>
                        <a:latin typeface="MiSans Normal" panose="00000500000000000000" charset="-122"/>
                        <a:ea typeface="MiSans Normal" panose="00000500000000000000" charset="-122"/>
                        <a:cs typeface="MiSans Normal" panose="00000500000000000000" charset="-122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7FF"/>
                    </a:solidFill>
                  </a:tcPr>
                </a:tc>
              </a:tr>
              <a:tr h="755302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2C1B3D"/>
                          </a:solidFill>
                          <a:latin typeface="MiSans Normal" panose="00000500000000000000" charset="-122"/>
                          <a:ea typeface="MiSans Normal" panose="00000500000000000000" charset="-122"/>
                        </a:rPr>
                        <a:t>商业模式</a:t>
                      </a:r>
                      <a:endParaRPr sz="1500" b="1">
                        <a:solidFill>
                          <a:srgbClr val="2C1B3D"/>
                        </a:solidFill>
                        <a:latin typeface="MiSans Normal" panose="00000500000000000000" charset="-122"/>
                        <a:ea typeface="MiSans Normal" panose="00000500000000000000" charset="-122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7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2C1B3D"/>
                          </a:solidFill>
                          <a:latin typeface="MiSans Normal" panose="00000500000000000000" charset="-122"/>
                          <a:ea typeface="MiSans Normal" panose="00000500000000000000" charset="-122"/>
                          <a:cs typeface="MiSans Normal" panose="00000500000000000000" charset="-122"/>
                        </a:rPr>
                        <a:t>免费</a:t>
                      </a:r>
                      <a:r>
                        <a:rPr lang="en-US" altLang="zh-CN" sz="1500" b="0">
                          <a:solidFill>
                            <a:srgbClr val="2C1B3D"/>
                          </a:solidFill>
                          <a:latin typeface="MiSans Normal" panose="00000500000000000000" charset="-122"/>
                          <a:ea typeface="MiSans Normal" panose="00000500000000000000" charset="-122"/>
                          <a:cs typeface="MiSans Normal" panose="00000500000000000000" charset="-122"/>
                        </a:rPr>
                        <a:t> + </a:t>
                      </a:r>
                      <a:r>
                        <a:rPr lang="zh-CN" altLang="en-US" sz="1500" b="0">
                          <a:solidFill>
                            <a:srgbClr val="2C1B3D"/>
                          </a:solidFill>
                          <a:latin typeface="MiSans Normal" panose="00000500000000000000" charset="-122"/>
                          <a:ea typeface="MiSans Normal" panose="00000500000000000000" charset="-122"/>
                          <a:cs typeface="MiSans Normal" panose="00000500000000000000" charset="-122"/>
                        </a:rPr>
                        <a:t>内购</a:t>
                      </a:r>
                      <a:endParaRPr lang="zh-CN" altLang="en-US" sz="1500" b="0">
                        <a:solidFill>
                          <a:srgbClr val="2C1B3D"/>
                        </a:solidFill>
                        <a:latin typeface="MiSans Normal" panose="00000500000000000000" charset="-122"/>
                        <a:ea typeface="MiSans Normal" panose="00000500000000000000" charset="-122"/>
                        <a:cs typeface="MiSans Normal" panose="00000500000000000000" charset="-122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7FF"/>
                    </a:solidFill>
                  </a:tcPr>
                </a:tc>
              </a:tr>
              <a:tr h="764976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2C1B3D"/>
                          </a:solidFill>
                          <a:latin typeface="MiSans Normal" panose="00000500000000000000" charset="-122"/>
                          <a:ea typeface="MiSans Normal" panose="00000500000000000000" charset="-122"/>
                        </a:rPr>
                        <a:t>核心用户</a:t>
                      </a:r>
                      <a:endParaRPr sz="1500" b="1">
                        <a:solidFill>
                          <a:srgbClr val="2C1B3D"/>
                        </a:solidFill>
                        <a:latin typeface="MiSans Normal" panose="00000500000000000000" charset="-122"/>
                        <a:ea typeface="MiSans Normal" panose="00000500000000000000" charset="-122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6C8E8"/>
                      </a:solidFill>
                      <a:prstDash val="solid"/>
                    </a:lnB>
                    <a:solidFill>
                      <a:srgbClr val="F9F7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2C1B3D"/>
                          </a:solidFill>
                          <a:latin typeface="MiSans Normal" panose="00000500000000000000" charset="-122"/>
                          <a:ea typeface="MiSans Normal" panose="00000500000000000000" charset="-122"/>
                          <a:cs typeface="MiSans Normal" panose="00000500000000000000" charset="-122"/>
                        </a:rPr>
                        <a:t>喜欢碎片化体验的轻度</a:t>
                      </a:r>
                      <a:r>
                        <a:rPr lang="en-US" altLang="zh-CN" sz="1500" b="0">
                          <a:solidFill>
                            <a:srgbClr val="2C1B3D"/>
                          </a:solidFill>
                          <a:latin typeface="MiSans Normal" panose="00000500000000000000" charset="-122"/>
                          <a:ea typeface="MiSans Normal" panose="00000500000000000000" charset="-122"/>
                          <a:cs typeface="MiSans Normal" panose="00000500000000000000" charset="-122"/>
                        </a:rPr>
                        <a:t>RPG</a:t>
                      </a:r>
                      <a:r>
                        <a:rPr lang="zh-CN" altLang="en-US" sz="1500" b="0">
                          <a:solidFill>
                            <a:srgbClr val="2C1B3D"/>
                          </a:solidFill>
                          <a:latin typeface="MiSans Normal" panose="00000500000000000000" charset="-122"/>
                          <a:ea typeface="MiSans Normal" panose="00000500000000000000" charset="-122"/>
                          <a:cs typeface="MiSans Normal" panose="00000500000000000000" charset="-122"/>
                        </a:rPr>
                        <a:t>玩家</a:t>
                      </a:r>
                      <a:endParaRPr lang="zh-CN" altLang="en-US" sz="1500" b="0">
                        <a:solidFill>
                          <a:srgbClr val="2C1B3D"/>
                        </a:solidFill>
                        <a:latin typeface="MiSans Normal" panose="00000500000000000000" charset="-122"/>
                        <a:ea typeface="MiSans Normal" panose="00000500000000000000" charset="-122"/>
                        <a:cs typeface="MiSans Normal" panose="00000500000000000000" charset="-122"/>
                      </a:endParaRPr>
                    </a:p>
                  </a:txBody>
                  <a:tcPr marL="76200" marR="76200" marT="3810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6C8E8"/>
                      </a:solidFill>
                      <a:prstDash val="solid"/>
                    </a:lnB>
                    <a:solidFill>
                      <a:srgbClr val="F9F7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C1B3D"/>
                </a:solidFill>
                <a:latin typeface="MiSans Demibold" panose="00000700000000000000" charset="-122"/>
                <a:ea typeface="MiSans Demibold" panose="00000700000000000000" charset="-122"/>
              </a:rPr>
              <a:t>市场定位分析</a:t>
            </a:r>
            <a:endParaRPr sz="3000" b="1">
              <a:solidFill>
                <a:srgbClr val="2C1B3D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2"/>
            </p:custDataLst>
          </p:nvPr>
        </p:nvSpPr>
        <p:spPr>
          <a:xfrm>
            <a:off x="5694680" y="1109345"/>
            <a:ext cx="5920740" cy="5362575"/>
          </a:xfrm>
          <a:custGeom>
            <a:avLst/>
            <a:gdLst>
              <a:gd name="sw" fmla="*/ 1 w 9324"/>
              <a:gd name="sh" fmla="*/ 1 h 8445"/>
              <a:gd name="mins" fmla="min sw sh"/>
              <a:gd name="dsw" fmla="+- 0 sw mins"/>
              <a:gd name="dsh" fmla="+- 0 sh mins"/>
              <a:gd name="p0x0" fmla="*/ 240 w 9324"/>
              <a:gd name="p0y0" fmla="*/ 0 h 8445"/>
              <a:gd name="p0x1" fmla="*/ 9084 w 9324"/>
              <a:gd name="p0y1" fmla="*/ 0 h 8445"/>
              <a:gd name="p0x2" fmla="*/ 9216 w 9324"/>
              <a:gd name="p0y2" fmla="*/ 0 h 8445"/>
              <a:gd name="p0x3" fmla="*/ 9324 w 9324"/>
              <a:gd name="p0y3" fmla="*/ 107 h 8445"/>
              <a:gd name="p0x4" fmla="*/ 9324 w 9324"/>
              <a:gd name="p0y4" fmla="*/ 240 h 8445"/>
              <a:gd name="p0x5" fmla="*/ 9324 w 9324"/>
              <a:gd name="p0y5" fmla="*/ 8205 h 8445"/>
              <a:gd name="p0x6" fmla="*/ 9324 w 9324"/>
              <a:gd name="p0y6" fmla="*/ 8337 h 8445"/>
              <a:gd name="p0x7" fmla="*/ 9216 w 9324"/>
              <a:gd name="p0y7" fmla="*/ 8445 h 8445"/>
              <a:gd name="p0x8" fmla="*/ 9084 w 9324"/>
              <a:gd name="p0y8" fmla="*/ 8445 h 8445"/>
              <a:gd name="p0x9" fmla="*/ 240 w 9324"/>
              <a:gd name="p0y9" fmla="*/ 8445 h 8445"/>
              <a:gd name="p0x10" fmla="*/ 107 w 9324"/>
              <a:gd name="p0y10" fmla="*/ 8445 h 8445"/>
              <a:gd name="p0x11" fmla="*/ 0 w 9324"/>
              <a:gd name="p0y11" fmla="*/ 8337 h 8445"/>
              <a:gd name="p0x12" fmla="*/ 0 w 9324"/>
              <a:gd name="p0y12" fmla="*/ 8205 h 8445"/>
              <a:gd name="p0x13" fmla="*/ 0 w 9324"/>
              <a:gd name="p0y13" fmla="*/ 240 h 8445"/>
              <a:gd name="p0x14" fmla="*/ 0 w 9324"/>
              <a:gd name="p0y14" fmla="*/ 107 h 8445"/>
              <a:gd name="p0x15" fmla="*/ 107 w 9324"/>
              <a:gd name="p0y15" fmla="*/ 0 h 8445"/>
              <a:gd name="p0x16" fmla="*/ 240 w 9324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7FF"/>
          </a:solidFill>
          <a:ln w="9525" cmpd="sng">
            <a:solidFill>
              <a:srgbClr val="E8DCF0"/>
            </a:solidFill>
            <a:prstDash val="solid"/>
          </a:ln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5890241" y="1288732"/>
            <a:ext cx="553023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产品定位矩阵</a:t>
            </a:r>
            <a:endParaRPr sz="2100" b="1" spc="42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4"/>
            </p:custDataLst>
          </p:nvPr>
        </p:nvSpPr>
        <p:spPr>
          <a:xfrm>
            <a:off x="5889625" y="179070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40 w 660"/>
              <a:gd name="p0y0" fmla="*/ 0 h 660"/>
              <a:gd name="p0x1" fmla="*/ 420 w 660"/>
              <a:gd name="p0y1" fmla="*/ 0 h 660"/>
              <a:gd name="p0x2" fmla="*/ 552 w 660"/>
              <a:gd name="p0y2" fmla="*/ 0 h 660"/>
              <a:gd name="p0x3" fmla="*/ 660 w 660"/>
              <a:gd name="p0y3" fmla="*/ 107 h 660"/>
              <a:gd name="p0x4" fmla="*/ 660 w 660"/>
              <a:gd name="p0y4" fmla="*/ 240 h 660"/>
              <a:gd name="p0x5" fmla="*/ 660 w 660"/>
              <a:gd name="p0y5" fmla="*/ 420 h 660"/>
              <a:gd name="p0x6" fmla="*/ 660 w 660"/>
              <a:gd name="p0y6" fmla="*/ 552 h 660"/>
              <a:gd name="p0x7" fmla="*/ 552 w 660"/>
              <a:gd name="p0y7" fmla="*/ 660 h 660"/>
              <a:gd name="p0x8" fmla="*/ 420 w 660"/>
              <a:gd name="p0y8" fmla="*/ 660 h 660"/>
              <a:gd name="p0x9" fmla="*/ 240 w 660"/>
              <a:gd name="p0y9" fmla="*/ 660 h 660"/>
              <a:gd name="p0x10" fmla="*/ 107 w 660"/>
              <a:gd name="p0y10" fmla="*/ 660 h 660"/>
              <a:gd name="p0x11" fmla="*/ 0 w 660"/>
              <a:gd name="p0y11" fmla="*/ 552 h 660"/>
              <a:gd name="p0x12" fmla="*/ 0 w 660"/>
              <a:gd name="p0y12" fmla="*/ 420 h 660"/>
              <a:gd name="p0x13" fmla="*/ 0 w 660"/>
              <a:gd name="p0y13" fmla="*/ 240 h 660"/>
              <a:gd name="p0x14" fmla="*/ 0 w 660"/>
              <a:gd name="p0y14" fmla="*/ 107 h 660"/>
              <a:gd name="p0x15" fmla="*/ 107 w 660"/>
              <a:gd name="p0y15" fmla="*/ 0 h 660"/>
              <a:gd name="p0x16" fmla="*/ 24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0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6028055" y="1905000"/>
            <a:ext cx="142875" cy="19050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6423641" y="1775460"/>
            <a:ext cx="3943502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降低操作门槛</a:t>
            </a:r>
            <a:endParaRPr b="1" spc="36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6423641" y="2099310"/>
            <a:ext cx="4286402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</a:rPr>
              <a:t>不追求复杂操作，</a:t>
            </a:r>
            <a:r>
              <a:rPr sz="1350" b="1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降低操作门槛、提高成长反馈频率</a:t>
            </a:r>
            <a:endParaRPr sz="1350" b="1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0"/>
            </p:custDataLst>
          </p:nvPr>
        </p:nvSpPr>
        <p:spPr>
          <a:xfrm>
            <a:off x="5889625" y="254063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40 w 660"/>
              <a:gd name="p0y0" fmla="*/ 0 h 660"/>
              <a:gd name="p0x1" fmla="*/ 420 w 660"/>
              <a:gd name="p0y1" fmla="*/ 0 h 660"/>
              <a:gd name="p0x2" fmla="*/ 552 w 660"/>
              <a:gd name="p0y2" fmla="*/ 0 h 660"/>
              <a:gd name="p0x3" fmla="*/ 660 w 660"/>
              <a:gd name="p0y3" fmla="*/ 107 h 660"/>
              <a:gd name="p0x4" fmla="*/ 660 w 660"/>
              <a:gd name="p0y4" fmla="*/ 240 h 660"/>
              <a:gd name="p0x5" fmla="*/ 660 w 660"/>
              <a:gd name="p0y5" fmla="*/ 420 h 660"/>
              <a:gd name="p0x6" fmla="*/ 660 w 660"/>
              <a:gd name="p0y6" fmla="*/ 552 h 660"/>
              <a:gd name="p0x7" fmla="*/ 552 w 660"/>
              <a:gd name="p0y7" fmla="*/ 660 h 660"/>
              <a:gd name="p0x8" fmla="*/ 420 w 660"/>
              <a:gd name="p0y8" fmla="*/ 660 h 660"/>
              <a:gd name="p0x9" fmla="*/ 240 w 660"/>
              <a:gd name="p0y9" fmla="*/ 660 h 660"/>
              <a:gd name="p0x10" fmla="*/ 107 w 660"/>
              <a:gd name="p0y10" fmla="*/ 660 h 660"/>
              <a:gd name="p0x11" fmla="*/ 0 w 660"/>
              <a:gd name="p0y11" fmla="*/ 552 h 660"/>
              <a:gd name="p0x12" fmla="*/ 0 w 660"/>
              <a:gd name="p0y12" fmla="*/ 420 h 660"/>
              <a:gd name="p0x13" fmla="*/ 0 w 660"/>
              <a:gd name="p0y13" fmla="*/ 240 h 660"/>
              <a:gd name="p0x14" fmla="*/ 0 w 660"/>
              <a:gd name="p0y14" fmla="*/ 107 h 660"/>
              <a:gd name="p0x15" fmla="*/ 107 w 660"/>
              <a:gd name="p0y15" fmla="*/ 0 h 660"/>
              <a:gd name="p0x16" fmla="*/ 24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0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4147" r="-4147"/>
          <a:stretch>
            <a:fillRect/>
          </a:stretch>
        </p:blipFill>
        <p:spPr>
          <a:xfrm>
            <a:off x="6015990" y="2654935"/>
            <a:ext cx="167005" cy="190500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6423641" y="2526001"/>
            <a:ext cx="2094014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提高成长反馈频率</a:t>
            </a:r>
            <a:endParaRPr b="1" spc="36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5"/>
            </p:custDataLst>
          </p:nvPr>
        </p:nvSpPr>
        <p:spPr>
          <a:xfrm>
            <a:off x="6423641" y="2849851"/>
            <a:ext cx="1865414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</a:rPr>
              <a:t>建立体验壁垒</a:t>
            </a:r>
            <a:endParaRPr sz="1350">
              <a:solidFill>
                <a:srgbClr val="5A4A6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6"/>
            </p:custDataLst>
          </p:nvPr>
        </p:nvSpPr>
        <p:spPr>
          <a:xfrm>
            <a:off x="5889625" y="329120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40 w 660"/>
              <a:gd name="p0y0" fmla="*/ 0 h 660"/>
              <a:gd name="p0x1" fmla="*/ 420 w 660"/>
              <a:gd name="p0y1" fmla="*/ 0 h 660"/>
              <a:gd name="p0x2" fmla="*/ 552 w 660"/>
              <a:gd name="p0y2" fmla="*/ 0 h 660"/>
              <a:gd name="p0x3" fmla="*/ 660 w 660"/>
              <a:gd name="p0y3" fmla="*/ 107 h 660"/>
              <a:gd name="p0x4" fmla="*/ 660 w 660"/>
              <a:gd name="p0y4" fmla="*/ 240 h 660"/>
              <a:gd name="p0x5" fmla="*/ 660 w 660"/>
              <a:gd name="p0y5" fmla="*/ 420 h 660"/>
              <a:gd name="p0x6" fmla="*/ 660 w 660"/>
              <a:gd name="p0y6" fmla="*/ 552 h 660"/>
              <a:gd name="p0x7" fmla="*/ 552 w 660"/>
              <a:gd name="p0y7" fmla="*/ 660 h 660"/>
              <a:gd name="p0x8" fmla="*/ 420 w 660"/>
              <a:gd name="p0y8" fmla="*/ 660 h 660"/>
              <a:gd name="p0x9" fmla="*/ 240 w 660"/>
              <a:gd name="p0y9" fmla="*/ 660 h 660"/>
              <a:gd name="p0x10" fmla="*/ 107 w 660"/>
              <a:gd name="p0y10" fmla="*/ 660 h 660"/>
              <a:gd name="p0x11" fmla="*/ 0 w 660"/>
              <a:gd name="p0y11" fmla="*/ 552 h 660"/>
              <a:gd name="p0x12" fmla="*/ 0 w 660"/>
              <a:gd name="p0y12" fmla="*/ 420 h 660"/>
              <a:gd name="p0x13" fmla="*/ 0 w 660"/>
              <a:gd name="p0y13" fmla="*/ 240 h 660"/>
              <a:gd name="p0x14" fmla="*/ 0 w 660"/>
              <a:gd name="p0y14" fmla="*/ 107 h 660"/>
              <a:gd name="p0x15" fmla="*/ 107 w 660"/>
              <a:gd name="p0y15" fmla="*/ 0 h 660"/>
              <a:gd name="p0x16" fmla="*/ 24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0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l="-2632" r="-2632"/>
          <a:stretch>
            <a:fillRect/>
          </a:stretch>
        </p:blipFill>
        <p:spPr>
          <a:xfrm>
            <a:off x="6003925" y="3405505"/>
            <a:ext cx="190500" cy="19050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0"/>
            </p:custDataLst>
          </p:nvPr>
        </p:nvSpPr>
        <p:spPr>
          <a:xfrm>
            <a:off x="6423641" y="3276543"/>
            <a:ext cx="24003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高频成长反馈</a:t>
            </a:r>
            <a:endParaRPr b="1" spc="36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1"/>
            </p:custDataLst>
          </p:nvPr>
        </p:nvSpPr>
        <p:spPr>
          <a:xfrm>
            <a:off x="6423641" y="3600393"/>
            <a:ext cx="25718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</a:rPr>
              <a:t>在放置赛道中形成差异化竞争力</a:t>
            </a:r>
            <a:endParaRPr sz="1350">
              <a:solidFill>
                <a:srgbClr val="5A4A6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5287" y="1008961"/>
            <a:ext cx="3134929" cy="55633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C1B3D"/>
                </a:solidFill>
                <a:latin typeface="MiSans Demibold" panose="00000700000000000000" charset="-122"/>
                <a:ea typeface="MiSans Demibold" panose="00000700000000000000" charset="-122"/>
              </a:rPr>
              <a:t>用户画像</a:t>
            </a:r>
            <a:endParaRPr sz="3000" b="1">
              <a:solidFill>
                <a:srgbClr val="2C1B3D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5400675" cy="3829050"/>
          </a:xfrm>
          <a:custGeom>
            <a:avLst/>
            <a:gdLst>
              <a:gd name="sw" fmla="*/ 1 w 8505"/>
              <a:gd name="sh" fmla="*/ 1 h 6030"/>
              <a:gd name="mins" fmla="min sw sh"/>
              <a:gd name="dsw" fmla="+- 0 sw mins"/>
              <a:gd name="dsh" fmla="+- 0 sh mins"/>
              <a:gd name="p0x0" fmla="*/ 240 w 8505"/>
              <a:gd name="p0y0" fmla="*/ 0 h 6030"/>
              <a:gd name="p0x1" fmla="*/ 8265 w 8505"/>
              <a:gd name="p0y1" fmla="*/ 0 h 6030"/>
              <a:gd name="p0x2" fmla="*/ 8397 w 8505"/>
              <a:gd name="p0y2" fmla="*/ 0 h 6030"/>
              <a:gd name="p0x3" fmla="*/ 8505 w 8505"/>
              <a:gd name="p0y3" fmla="*/ 107 h 6030"/>
              <a:gd name="p0x4" fmla="*/ 8505 w 8505"/>
              <a:gd name="p0y4" fmla="*/ 240 h 6030"/>
              <a:gd name="p0x5" fmla="*/ 8505 w 8505"/>
              <a:gd name="p0y5" fmla="*/ 5790 h 6030"/>
              <a:gd name="p0x6" fmla="*/ 8505 w 8505"/>
              <a:gd name="p0y6" fmla="*/ 5922 h 6030"/>
              <a:gd name="p0x7" fmla="*/ 8397 w 8505"/>
              <a:gd name="p0y7" fmla="*/ 6030 h 6030"/>
              <a:gd name="p0x8" fmla="*/ 8265 w 8505"/>
              <a:gd name="p0y8" fmla="*/ 6030 h 6030"/>
              <a:gd name="p0x9" fmla="*/ 240 w 8505"/>
              <a:gd name="p0y9" fmla="*/ 6030 h 6030"/>
              <a:gd name="p0x10" fmla="*/ 107 w 8505"/>
              <a:gd name="p0y10" fmla="*/ 6030 h 6030"/>
              <a:gd name="p0x11" fmla="*/ 0 w 8505"/>
              <a:gd name="p0y11" fmla="*/ 5922 h 6030"/>
              <a:gd name="p0x12" fmla="*/ 0 w 8505"/>
              <a:gd name="p0y12" fmla="*/ 5790 h 6030"/>
              <a:gd name="p0x13" fmla="*/ 0 w 8505"/>
              <a:gd name="p0y13" fmla="*/ 240 h 6030"/>
              <a:gd name="p0x14" fmla="*/ 0 w 8505"/>
              <a:gd name="p0y14" fmla="*/ 107 h 6030"/>
              <a:gd name="p0x15" fmla="*/ 107 w 8505"/>
              <a:gd name="p0y15" fmla="*/ 0 h 6030"/>
              <a:gd name="p0x16" fmla="*/ 240 w 8505"/>
              <a:gd name="p0y16" fmla="*/ 0 h 60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7FF"/>
          </a:solidFill>
          <a:ln w="9525" cmpd="sng">
            <a:solidFill>
              <a:srgbClr val="E8DCF0"/>
            </a:solidFill>
            <a:prstDash val="solid"/>
          </a:ln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71525" y="1288732"/>
            <a:ext cx="50101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学生群体</a:t>
            </a:r>
            <a:endParaRPr sz="2100" b="1" spc="42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771525" y="179070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40 w 540"/>
              <a:gd name="p0y0" fmla="*/ 0 h 540"/>
              <a:gd name="p0x1" fmla="*/ 300 w 540"/>
              <a:gd name="p0y1" fmla="*/ 0 h 540"/>
              <a:gd name="p0x2" fmla="*/ 432 w 540"/>
              <a:gd name="p0y2" fmla="*/ 0 h 540"/>
              <a:gd name="p0x3" fmla="*/ 540 w 540"/>
              <a:gd name="p0y3" fmla="*/ 107 h 540"/>
              <a:gd name="p0x4" fmla="*/ 540 w 540"/>
              <a:gd name="p0y4" fmla="*/ 240 h 540"/>
              <a:gd name="p0x5" fmla="*/ 540 w 540"/>
              <a:gd name="p0y5" fmla="*/ 300 h 540"/>
              <a:gd name="p0x6" fmla="*/ 540 w 540"/>
              <a:gd name="p0y6" fmla="*/ 432 h 540"/>
              <a:gd name="p0x7" fmla="*/ 432 w 540"/>
              <a:gd name="p0y7" fmla="*/ 540 h 540"/>
              <a:gd name="p0x8" fmla="*/ 300 w 540"/>
              <a:gd name="p0y8" fmla="*/ 540 h 540"/>
              <a:gd name="p0x9" fmla="*/ 240 w 540"/>
              <a:gd name="p0y9" fmla="*/ 540 h 540"/>
              <a:gd name="p0x10" fmla="*/ 107 w 540"/>
              <a:gd name="p0y10" fmla="*/ 540 h 540"/>
              <a:gd name="p0x11" fmla="*/ 0 w 540"/>
              <a:gd name="p0y11" fmla="*/ 432 h 540"/>
              <a:gd name="p0x12" fmla="*/ 0 w 540"/>
              <a:gd name="p0y12" fmla="*/ 300 h 540"/>
              <a:gd name="p0x13" fmla="*/ 0 w 540"/>
              <a:gd name="p0y13" fmla="*/ 240 h 540"/>
              <a:gd name="p0x14" fmla="*/ 0 w 540"/>
              <a:gd name="p0y14" fmla="*/ 107 h 540"/>
              <a:gd name="p0x15" fmla="*/ 107 w 540"/>
              <a:gd name="p0y15" fmla="*/ 0 h 540"/>
              <a:gd name="p0x16" fmla="*/ 24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0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 descr="3e9c1754-8598-11f1-8533-da2864182f46"/>
          <p:cNvPicPr/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838200" y="1857375"/>
            <a:ext cx="209550" cy="20955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1228725" y="1776413"/>
            <a:ext cx="2743276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场景：</a:t>
            </a:r>
            <a:r>
              <a:rPr lang="en-US" sz="1500" b="1" spc="-15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25</a:t>
            </a:r>
            <a:r>
              <a:rPr lang="zh-CN" altLang="en-US" sz="1500" b="1" spc="-15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分钟</a:t>
            </a:r>
            <a:r>
              <a:rPr sz="1500" b="1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碎片时间</a:t>
            </a:r>
            <a:endParaRPr sz="1500" b="1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1228725" y="2051685"/>
            <a:ext cx="29147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利用课间、睡前等短暂时段进行游戏</a:t>
            </a:r>
            <a:endParaRPr sz="1350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0"/>
            </p:custDataLst>
          </p:nvPr>
        </p:nvSpPr>
        <p:spPr>
          <a:xfrm>
            <a:off x="771525" y="245491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40 w 540"/>
              <a:gd name="p0y0" fmla="*/ 0 h 540"/>
              <a:gd name="p0x1" fmla="*/ 300 w 540"/>
              <a:gd name="p0y1" fmla="*/ 0 h 540"/>
              <a:gd name="p0x2" fmla="*/ 432 w 540"/>
              <a:gd name="p0y2" fmla="*/ 0 h 540"/>
              <a:gd name="p0x3" fmla="*/ 540 w 540"/>
              <a:gd name="p0y3" fmla="*/ 107 h 540"/>
              <a:gd name="p0x4" fmla="*/ 540 w 540"/>
              <a:gd name="p0y4" fmla="*/ 240 h 540"/>
              <a:gd name="p0x5" fmla="*/ 540 w 540"/>
              <a:gd name="p0y5" fmla="*/ 300 h 540"/>
              <a:gd name="p0x6" fmla="*/ 540 w 540"/>
              <a:gd name="p0y6" fmla="*/ 432 h 540"/>
              <a:gd name="p0x7" fmla="*/ 432 w 540"/>
              <a:gd name="p0y7" fmla="*/ 540 h 540"/>
              <a:gd name="p0x8" fmla="*/ 300 w 540"/>
              <a:gd name="p0y8" fmla="*/ 540 h 540"/>
              <a:gd name="p0x9" fmla="*/ 240 w 540"/>
              <a:gd name="p0y9" fmla="*/ 540 h 540"/>
              <a:gd name="p0x10" fmla="*/ 107 w 540"/>
              <a:gd name="p0y10" fmla="*/ 540 h 540"/>
              <a:gd name="p0x11" fmla="*/ 0 w 540"/>
              <a:gd name="p0y11" fmla="*/ 432 h 540"/>
              <a:gd name="p0x12" fmla="*/ 0 w 540"/>
              <a:gd name="p0y12" fmla="*/ 300 h 540"/>
              <a:gd name="p0x13" fmla="*/ 0 w 540"/>
              <a:gd name="p0y13" fmla="*/ 240 h 540"/>
              <a:gd name="p0x14" fmla="*/ 0 w 540"/>
              <a:gd name="p0y14" fmla="*/ 107 h 540"/>
              <a:gd name="p0x15" fmla="*/ 107 w 540"/>
              <a:gd name="p0y15" fmla="*/ 0 h 540"/>
              <a:gd name="p0x16" fmla="*/ 24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0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 descr="3e9c1849-8598-11f1-8533-da2864182f46"/>
          <p:cNvPicPr/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t="-289" b="289"/>
          <a:stretch>
            <a:fillRect/>
          </a:stretch>
        </p:blipFill>
        <p:spPr>
          <a:xfrm>
            <a:off x="838200" y="2521585"/>
            <a:ext cx="209550" cy="20955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4"/>
            </p:custDataLst>
          </p:nvPr>
        </p:nvSpPr>
        <p:spPr>
          <a:xfrm>
            <a:off x="1228725" y="2441229"/>
            <a:ext cx="30480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偏好：数值成长、抽卡、长期养成</a:t>
            </a:r>
            <a:endParaRPr sz="1500" b="1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5"/>
            </p:custDataLst>
          </p:nvPr>
        </p:nvSpPr>
        <p:spPr>
          <a:xfrm>
            <a:off x="1228725" y="2716501"/>
            <a:ext cx="28575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看重角色培养与收集成就感</a:t>
            </a:r>
            <a:endParaRPr sz="1350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6"/>
            </p:custDataLst>
          </p:nvPr>
        </p:nvSpPr>
        <p:spPr>
          <a:xfrm>
            <a:off x="771525" y="311975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40 w 540"/>
              <a:gd name="p0y0" fmla="*/ 0 h 540"/>
              <a:gd name="p0x1" fmla="*/ 300 w 540"/>
              <a:gd name="p0y1" fmla="*/ 0 h 540"/>
              <a:gd name="p0x2" fmla="*/ 432 w 540"/>
              <a:gd name="p0y2" fmla="*/ 0 h 540"/>
              <a:gd name="p0x3" fmla="*/ 540 w 540"/>
              <a:gd name="p0y3" fmla="*/ 107 h 540"/>
              <a:gd name="p0x4" fmla="*/ 540 w 540"/>
              <a:gd name="p0y4" fmla="*/ 240 h 540"/>
              <a:gd name="p0x5" fmla="*/ 540 w 540"/>
              <a:gd name="p0y5" fmla="*/ 300 h 540"/>
              <a:gd name="p0x6" fmla="*/ 540 w 540"/>
              <a:gd name="p0y6" fmla="*/ 432 h 540"/>
              <a:gd name="p0x7" fmla="*/ 432 w 540"/>
              <a:gd name="p0y7" fmla="*/ 540 h 540"/>
              <a:gd name="p0x8" fmla="*/ 300 w 540"/>
              <a:gd name="p0y8" fmla="*/ 540 h 540"/>
              <a:gd name="p0x9" fmla="*/ 240 w 540"/>
              <a:gd name="p0y9" fmla="*/ 540 h 540"/>
              <a:gd name="p0x10" fmla="*/ 107 w 540"/>
              <a:gd name="p0y10" fmla="*/ 540 h 540"/>
              <a:gd name="p0x11" fmla="*/ 0 w 540"/>
              <a:gd name="p0y11" fmla="*/ 432 h 540"/>
              <a:gd name="p0x12" fmla="*/ 0 w 540"/>
              <a:gd name="p0y12" fmla="*/ 300 h 540"/>
              <a:gd name="p0x13" fmla="*/ 0 w 540"/>
              <a:gd name="p0y13" fmla="*/ 240 h 540"/>
              <a:gd name="p0x14" fmla="*/ 0 w 540"/>
              <a:gd name="p0y14" fmla="*/ 107 h 540"/>
              <a:gd name="p0x15" fmla="*/ 107 w 540"/>
              <a:gd name="p0y15" fmla="*/ 0 h 540"/>
              <a:gd name="p0x16" fmla="*/ 24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0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 descr="3e9c1827-8598-11f1-8533-da2864182f46"/>
          <p:cNvPicPr/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t="-275" b="275"/>
          <a:stretch>
            <a:fillRect/>
          </a:stretch>
        </p:blipFill>
        <p:spPr>
          <a:xfrm>
            <a:off x="838200" y="3186430"/>
            <a:ext cx="209550" cy="20955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0"/>
            </p:custDataLst>
          </p:nvPr>
        </p:nvSpPr>
        <p:spPr>
          <a:xfrm>
            <a:off x="1228725" y="3106045"/>
            <a:ext cx="3619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痛点：没时间重复刷图，不想高强度操作</a:t>
            </a:r>
            <a:endParaRPr sz="1500" b="1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1"/>
            </p:custDataLst>
          </p:nvPr>
        </p:nvSpPr>
        <p:spPr>
          <a:xfrm>
            <a:off x="1228725" y="3381318"/>
            <a:ext cx="34290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拒绝耗时肝度与复杂手动操作</a:t>
            </a:r>
            <a:endParaRPr sz="1350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2"/>
            </p:custDataLst>
          </p:nvPr>
        </p:nvSpPr>
        <p:spPr>
          <a:xfrm>
            <a:off x="6214745" y="1109345"/>
            <a:ext cx="5400675" cy="3829050"/>
          </a:xfrm>
          <a:custGeom>
            <a:avLst/>
            <a:gdLst>
              <a:gd name="sw" fmla="*/ 1 w 8505"/>
              <a:gd name="sh" fmla="*/ 1 h 6030"/>
              <a:gd name="mins" fmla="min sw sh"/>
              <a:gd name="dsw" fmla="+- 0 sw mins"/>
              <a:gd name="dsh" fmla="+- 0 sh mins"/>
              <a:gd name="p0x0" fmla="*/ 240 w 8505"/>
              <a:gd name="p0y0" fmla="*/ 0 h 6030"/>
              <a:gd name="p0x1" fmla="*/ 8265 w 8505"/>
              <a:gd name="p0y1" fmla="*/ 0 h 6030"/>
              <a:gd name="p0x2" fmla="*/ 8397 w 8505"/>
              <a:gd name="p0y2" fmla="*/ 0 h 6030"/>
              <a:gd name="p0x3" fmla="*/ 8505 w 8505"/>
              <a:gd name="p0y3" fmla="*/ 107 h 6030"/>
              <a:gd name="p0x4" fmla="*/ 8505 w 8505"/>
              <a:gd name="p0y4" fmla="*/ 240 h 6030"/>
              <a:gd name="p0x5" fmla="*/ 8505 w 8505"/>
              <a:gd name="p0y5" fmla="*/ 5790 h 6030"/>
              <a:gd name="p0x6" fmla="*/ 8505 w 8505"/>
              <a:gd name="p0y6" fmla="*/ 5922 h 6030"/>
              <a:gd name="p0x7" fmla="*/ 8397 w 8505"/>
              <a:gd name="p0y7" fmla="*/ 6030 h 6030"/>
              <a:gd name="p0x8" fmla="*/ 8265 w 8505"/>
              <a:gd name="p0y8" fmla="*/ 6030 h 6030"/>
              <a:gd name="p0x9" fmla="*/ 240 w 8505"/>
              <a:gd name="p0y9" fmla="*/ 6030 h 6030"/>
              <a:gd name="p0x10" fmla="*/ 107 w 8505"/>
              <a:gd name="p0y10" fmla="*/ 6030 h 6030"/>
              <a:gd name="p0x11" fmla="*/ 0 w 8505"/>
              <a:gd name="p0y11" fmla="*/ 5922 h 6030"/>
              <a:gd name="p0x12" fmla="*/ 0 w 8505"/>
              <a:gd name="p0y12" fmla="*/ 5790 h 6030"/>
              <a:gd name="p0x13" fmla="*/ 0 w 8505"/>
              <a:gd name="p0y13" fmla="*/ 240 h 6030"/>
              <a:gd name="p0x14" fmla="*/ 0 w 8505"/>
              <a:gd name="p0y14" fmla="*/ 107 h 6030"/>
              <a:gd name="p0x15" fmla="*/ 107 w 8505"/>
              <a:gd name="p0y15" fmla="*/ 0 h 6030"/>
              <a:gd name="p0x16" fmla="*/ 240 w 8505"/>
              <a:gd name="p0y16" fmla="*/ 0 h 60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7FF"/>
          </a:solidFill>
          <a:ln w="9525" cmpd="sng">
            <a:solidFill>
              <a:srgbClr val="E8DCF0"/>
            </a:solidFill>
            <a:prstDash val="solid"/>
          </a:ln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23"/>
            </p:custDataLst>
          </p:nvPr>
        </p:nvSpPr>
        <p:spPr>
          <a:xfrm>
            <a:off x="6410325" y="1288732"/>
            <a:ext cx="50101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上班族</a:t>
            </a:r>
            <a:endParaRPr sz="2100" b="1" spc="42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4"/>
            </p:custDataLst>
          </p:nvPr>
        </p:nvSpPr>
        <p:spPr>
          <a:xfrm>
            <a:off x="6410325" y="179070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40 w 540"/>
              <a:gd name="p0y0" fmla="*/ 0 h 540"/>
              <a:gd name="p0x1" fmla="*/ 300 w 540"/>
              <a:gd name="p0y1" fmla="*/ 0 h 540"/>
              <a:gd name="p0x2" fmla="*/ 432 w 540"/>
              <a:gd name="p0y2" fmla="*/ 0 h 540"/>
              <a:gd name="p0x3" fmla="*/ 540 w 540"/>
              <a:gd name="p0y3" fmla="*/ 107 h 540"/>
              <a:gd name="p0x4" fmla="*/ 540 w 540"/>
              <a:gd name="p0y4" fmla="*/ 240 h 540"/>
              <a:gd name="p0x5" fmla="*/ 540 w 540"/>
              <a:gd name="p0y5" fmla="*/ 300 h 540"/>
              <a:gd name="p0x6" fmla="*/ 540 w 540"/>
              <a:gd name="p0y6" fmla="*/ 432 h 540"/>
              <a:gd name="p0x7" fmla="*/ 432 w 540"/>
              <a:gd name="p0y7" fmla="*/ 540 h 540"/>
              <a:gd name="p0x8" fmla="*/ 300 w 540"/>
              <a:gd name="p0y8" fmla="*/ 540 h 540"/>
              <a:gd name="p0x9" fmla="*/ 240 w 540"/>
              <a:gd name="p0y9" fmla="*/ 540 h 540"/>
              <a:gd name="p0x10" fmla="*/ 107 w 540"/>
              <a:gd name="p0y10" fmla="*/ 540 h 540"/>
              <a:gd name="p0x11" fmla="*/ 0 w 540"/>
              <a:gd name="p0y11" fmla="*/ 432 h 540"/>
              <a:gd name="p0x12" fmla="*/ 0 w 540"/>
              <a:gd name="p0y12" fmla="*/ 300 h 540"/>
              <a:gd name="p0x13" fmla="*/ 0 w 540"/>
              <a:gd name="p0y13" fmla="*/ 240 h 540"/>
              <a:gd name="p0x14" fmla="*/ 0 w 540"/>
              <a:gd name="p0y14" fmla="*/ 107 h 540"/>
              <a:gd name="p0x15" fmla="*/ 107 w 540"/>
              <a:gd name="p0y15" fmla="*/ 0 h 540"/>
              <a:gd name="p0x16" fmla="*/ 24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0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4" name="图片 23" descr="3e9c1897-8598-11f1-8533-da2864182f46"/>
          <p:cNvPicPr/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>
          <a:xfrm>
            <a:off x="6477000" y="1857375"/>
            <a:ext cx="209550" cy="209550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28"/>
            </p:custDataLst>
          </p:nvPr>
        </p:nvSpPr>
        <p:spPr>
          <a:xfrm>
            <a:off x="6867525" y="1776413"/>
            <a:ext cx="2476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场景：通勤与午休间隙体验</a:t>
            </a:r>
            <a:endParaRPr sz="1500" b="1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9"/>
            </p:custDataLst>
          </p:nvPr>
        </p:nvSpPr>
        <p:spPr>
          <a:xfrm>
            <a:off x="6867525" y="2051685"/>
            <a:ext cx="24003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地铁、午休等碎片化场景游玩</a:t>
            </a:r>
            <a:endParaRPr sz="1350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30"/>
            </p:custDataLst>
          </p:nvPr>
        </p:nvSpPr>
        <p:spPr>
          <a:xfrm>
            <a:off x="6410325" y="245491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40 w 540"/>
              <a:gd name="p0y0" fmla="*/ 0 h 540"/>
              <a:gd name="p0x1" fmla="*/ 300 w 540"/>
              <a:gd name="p0y1" fmla="*/ 0 h 540"/>
              <a:gd name="p0x2" fmla="*/ 432 w 540"/>
              <a:gd name="p0y2" fmla="*/ 0 h 540"/>
              <a:gd name="p0x3" fmla="*/ 540 w 540"/>
              <a:gd name="p0y3" fmla="*/ 107 h 540"/>
              <a:gd name="p0x4" fmla="*/ 540 w 540"/>
              <a:gd name="p0y4" fmla="*/ 240 h 540"/>
              <a:gd name="p0x5" fmla="*/ 540 w 540"/>
              <a:gd name="p0y5" fmla="*/ 300 h 540"/>
              <a:gd name="p0x6" fmla="*/ 540 w 540"/>
              <a:gd name="p0y6" fmla="*/ 432 h 540"/>
              <a:gd name="p0x7" fmla="*/ 432 w 540"/>
              <a:gd name="p0y7" fmla="*/ 540 h 540"/>
              <a:gd name="p0x8" fmla="*/ 300 w 540"/>
              <a:gd name="p0y8" fmla="*/ 540 h 540"/>
              <a:gd name="p0x9" fmla="*/ 240 w 540"/>
              <a:gd name="p0y9" fmla="*/ 540 h 540"/>
              <a:gd name="p0x10" fmla="*/ 107 w 540"/>
              <a:gd name="p0y10" fmla="*/ 540 h 540"/>
              <a:gd name="p0x11" fmla="*/ 0 w 540"/>
              <a:gd name="p0y11" fmla="*/ 432 h 540"/>
              <a:gd name="p0x12" fmla="*/ 0 w 540"/>
              <a:gd name="p0y12" fmla="*/ 300 h 540"/>
              <a:gd name="p0x13" fmla="*/ 0 w 540"/>
              <a:gd name="p0y13" fmla="*/ 240 h 540"/>
              <a:gd name="p0x14" fmla="*/ 0 w 540"/>
              <a:gd name="p0y14" fmla="*/ 107 h 540"/>
              <a:gd name="p0x15" fmla="*/ 107 w 540"/>
              <a:gd name="p0y15" fmla="*/ 0 h 540"/>
              <a:gd name="p0x16" fmla="*/ 24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0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9" name="图片 28" descr="3e9c19ae-8598-11f1-8533-da2864182f46"/>
          <p:cNvPicPr/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 t="-289" b="289"/>
          <a:stretch>
            <a:fillRect/>
          </a:stretch>
        </p:blipFill>
        <p:spPr>
          <a:xfrm>
            <a:off x="6477000" y="2521585"/>
            <a:ext cx="209550" cy="209550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34"/>
            </p:custDataLst>
          </p:nvPr>
        </p:nvSpPr>
        <p:spPr>
          <a:xfrm>
            <a:off x="6867525" y="2441229"/>
            <a:ext cx="2728913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 b="1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偏好：挂机、养成、</a:t>
            </a:r>
            <a:r>
              <a:rPr lang="en-US" altLang="zh-CN" sz="1500" b="1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Build</a:t>
            </a:r>
            <a:r>
              <a:rPr lang="zh-CN" altLang="en-US" sz="1500" b="1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策略</a:t>
            </a:r>
            <a:endParaRPr lang="zh-CN" altLang="en-US" sz="1500" b="1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35"/>
            </p:custDataLst>
          </p:nvPr>
        </p:nvSpPr>
        <p:spPr>
          <a:xfrm>
            <a:off x="6867525" y="2716501"/>
            <a:ext cx="2538413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自动化战斗与角色搭配研究</a:t>
            </a:r>
            <a:endParaRPr sz="1350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36"/>
            </p:custDataLst>
          </p:nvPr>
        </p:nvSpPr>
        <p:spPr>
          <a:xfrm>
            <a:off x="6410325" y="311975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40 w 540"/>
              <a:gd name="p0y0" fmla="*/ 0 h 540"/>
              <a:gd name="p0x1" fmla="*/ 300 w 540"/>
              <a:gd name="p0y1" fmla="*/ 0 h 540"/>
              <a:gd name="p0x2" fmla="*/ 432 w 540"/>
              <a:gd name="p0y2" fmla="*/ 0 h 540"/>
              <a:gd name="p0x3" fmla="*/ 540 w 540"/>
              <a:gd name="p0y3" fmla="*/ 107 h 540"/>
              <a:gd name="p0x4" fmla="*/ 540 w 540"/>
              <a:gd name="p0y4" fmla="*/ 240 h 540"/>
              <a:gd name="p0x5" fmla="*/ 540 w 540"/>
              <a:gd name="p0y5" fmla="*/ 300 h 540"/>
              <a:gd name="p0x6" fmla="*/ 540 w 540"/>
              <a:gd name="p0y6" fmla="*/ 432 h 540"/>
              <a:gd name="p0x7" fmla="*/ 432 w 540"/>
              <a:gd name="p0y7" fmla="*/ 540 h 540"/>
              <a:gd name="p0x8" fmla="*/ 300 w 540"/>
              <a:gd name="p0y8" fmla="*/ 540 h 540"/>
              <a:gd name="p0x9" fmla="*/ 240 w 540"/>
              <a:gd name="p0y9" fmla="*/ 540 h 540"/>
              <a:gd name="p0x10" fmla="*/ 107 w 540"/>
              <a:gd name="p0y10" fmla="*/ 540 h 540"/>
              <a:gd name="p0x11" fmla="*/ 0 w 540"/>
              <a:gd name="p0y11" fmla="*/ 432 h 540"/>
              <a:gd name="p0x12" fmla="*/ 0 w 540"/>
              <a:gd name="p0y12" fmla="*/ 300 h 540"/>
              <a:gd name="p0x13" fmla="*/ 0 w 540"/>
              <a:gd name="p0y13" fmla="*/ 240 h 540"/>
              <a:gd name="p0x14" fmla="*/ 0 w 540"/>
              <a:gd name="p0y14" fmla="*/ 107 h 540"/>
              <a:gd name="p0x15" fmla="*/ 107 w 540"/>
              <a:gd name="p0y15" fmla="*/ 0 h 540"/>
              <a:gd name="p0x16" fmla="*/ 24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0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4" name="图片 33" descr="3e9c1e6e-8598-11f1-8533-da2864182f46"/>
          <p:cNvPicPr/>
          <p:nvPr>
            <p:custDataLst>
              <p:tags r:id="rId37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 t="-275" b="275"/>
          <a:stretch>
            <a:fillRect/>
          </a:stretch>
        </p:blipFill>
        <p:spPr>
          <a:xfrm>
            <a:off x="6477000" y="3186430"/>
            <a:ext cx="209550" cy="209550"/>
          </a:xfrm>
          <a:prstGeom prst="rect">
            <a:avLst/>
          </a:prstGeom>
        </p:spPr>
      </p:pic>
      <p:sp>
        <p:nvSpPr>
          <p:cNvPr id="36" name="文本框 35"/>
          <p:cNvSpPr txBox="1"/>
          <p:nvPr>
            <p:custDataLst>
              <p:tags r:id="rId40"/>
            </p:custDataLst>
          </p:nvPr>
        </p:nvSpPr>
        <p:spPr>
          <a:xfrm>
            <a:off x="6867525" y="3106045"/>
            <a:ext cx="34290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痛点：无法持续在线，追求高效率成长</a:t>
            </a:r>
            <a:endParaRPr sz="1500" b="1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41"/>
            </p:custDataLst>
          </p:nvPr>
        </p:nvSpPr>
        <p:spPr>
          <a:xfrm>
            <a:off x="6867525" y="3381318"/>
            <a:ext cx="32385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工作间隙需最大化游戏收益</a:t>
            </a:r>
            <a:endParaRPr sz="1350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42"/>
            </p:custDataLst>
          </p:nvPr>
        </p:nvSpPr>
        <p:spPr>
          <a:xfrm>
            <a:off x="571500" y="5172075"/>
            <a:ext cx="11049000" cy="1304925"/>
          </a:xfrm>
          <a:custGeom>
            <a:avLst/>
            <a:gdLst>
              <a:gd name="sw" fmla="*/ 1 w 17400"/>
              <a:gd name="sh" fmla="*/ 1 h 2055"/>
              <a:gd name="mins" fmla="min sw sh"/>
              <a:gd name="dsw" fmla="+- 0 sw mins"/>
              <a:gd name="dsh" fmla="+- 0 sh mins"/>
              <a:gd name="p0x0" fmla="*/ 240 w 17400"/>
              <a:gd name="p0y0" fmla="*/ 0 h 2055"/>
              <a:gd name="p0x1" fmla="*/ 17160 w 17400"/>
              <a:gd name="p0y1" fmla="*/ 0 h 2055"/>
              <a:gd name="p0x2" fmla="*/ 17292 w 17400"/>
              <a:gd name="p0y2" fmla="*/ 0 h 2055"/>
              <a:gd name="p0x3" fmla="*/ 17400 w 17400"/>
              <a:gd name="p0y3" fmla="*/ 107 h 2055"/>
              <a:gd name="p0x4" fmla="*/ 17400 w 17400"/>
              <a:gd name="p0y4" fmla="*/ 240 h 2055"/>
              <a:gd name="p0x5" fmla="*/ 17400 w 17400"/>
              <a:gd name="p0y5" fmla="*/ 1815 h 2055"/>
              <a:gd name="p0x6" fmla="*/ 17400 w 17400"/>
              <a:gd name="p0y6" fmla="*/ 1947 h 2055"/>
              <a:gd name="p0x7" fmla="*/ 17292 w 17400"/>
              <a:gd name="p0y7" fmla="*/ 2055 h 2055"/>
              <a:gd name="p0x8" fmla="*/ 17160 w 17400"/>
              <a:gd name="p0y8" fmla="*/ 2055 h 2055"/>
              <a:gd name="p0x9" fmla="*/ 240 w 17400"/>
              <a:gd name="p0y9" fmla="*/ 2055 h 2055"/>
              <a:gd name="p0x10" fmla="*/ 107 w 17400"/>
              <a:gd name="p0y10" fmla="*/ 2055 h 2055"/>
              <a:gd name="p0x11" fmla="*/ 0 w 17400"/>
              <a:gd name="p0y11" fmla="*/ 1947 h 2055"/>
              <a:gd name="p0x12" fmla="*/ 0 w 17400"/>
              <a:gd name="p0y12" fmla="*/ 1815 h 2055"/>
              <a:gd name="p0x13" fmla="*/ 0 w 17400"/>
              <a:gd name="p0y13" fmla="*/ 240 h 2055"/>
              <a:gd name="p0x14" fmla="*/ 0 w 17400"/>
              <a:gd name="p0y14" fmla="*/ 107 h 2055"/>
              <a:gd name="p0x15" fmla="*/ 107 w 17400"/>
              <a:gd name="p0y15" fmla="*/ 0 h 2055"/>
              <a:gd name="p0x16" fmla="*/ 240 w 17400"/>
              <a:gd name="p0y16" fmla="*/ 0 h 20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0E6F9"/>
          </a:solidFill>
          <a:ln>
            <a:noFill/>
          </a:ln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43"/>
            </p:custDataLst>
          </p:nvPr>
        </p:nvSpPr>
        <p:spPr>
          <a:xfrm>
            <a:off x="762000" y="5666422"/>
            <a:ext cx="10668000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产品瞄准的是</a:t>
            </a:r>
            <a:r>
              <a:rPr lang="en-US" b="1">
                <a:solidFill>
                  <a:srgbClr val="D650C7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"</a:t>
            </a:r>
            <a:r>
              <a:rPr lang="zh-CN" altLang="en-US" b="1">
                <a:solidFill>
                  <a:srgbClr val="D650C7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轻度长期玩家</a:t>
            </a:r>
            <a:r>
              <a:rPr lang="en-US" altLang="zh-CN" b="1">
                <a:solidFill>
                  <a:srgbClr val="D650C7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"</a:t>
            </a:r>
            <a:r>
              <a:rPr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，而不是硬核玩家。</a:t>
            </a:r>
            <a:endParaRPr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C1B3D"/>
                </a:solidFill>
                <a:latin typeface="MiSans Demibold" panose="00000700000000000000" charset="-122"/>
                <a:ea typeface="MiSans Demibold" panose="00000700000000000000" charset="-122"/>
              </a:rPr>
              <a:t>核心玩法循环：成长飞轮</a:t>
            </a:r>
            <a:endParaRPr sz="3000" b="1">
              <a:solidFill>
                <a:srgbClr val="2C1B3D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1213485"/>
            <a:ext cx="11049000" cy="666750"/>
          </a:xfrm>
          <a:custGeom>
            <a:avLst/>
            <a:gdLst>
              <a:gd name="sw" fmla="*/ 1 w 17400"/>
              <a:gd name="sh" fmla="*/ 1 h 1050"/>
              <a:gd name="mins" fmla="min sw sh"/>
              <a:gd name="dsw" fmla="+- 0 sw mins"/>
              <a:gd name="dsh" fmla="+- 0 sh mins"/>
              <a:gd name="p0x0" fmla="*/ 240 w 17400"/>
              <a:gd name="p0y0" fmla="*/ 0 h 1050"/>
              <a:gd name="p0x1" fmla="*/ 17160 w 17400"/>
              <a:gd name="p0y1" fmla="*/ 0 h 1050"/>
              <a:gd name="p0x2" fmla="*/ 17292 w 17400"/>
              <a:gd name="p0y2" fmla="*/ 0 h 1050"/>
              <a:gd name="p0x3" fmla="*/ 17400 w 17400"/>
              <a:gd name="p0y3" fmla="*/ 107 h 1050"/>
              <a:gd name="p0x4" fmla="*/ 17400 w 17400"/>
              <a:gd name="p0y4" fmla="*/ 240 h 1050"/>
              <a:gd name="p0x5" fmla="*/ 17400 w 17400"/>
              <a:gd name="p0y5" fmla="*/ 810 h 1050"/>
              <a:gd name="p0x6" fmla="*/ 17400 w 17400"/>
              <a:gd name="p0y6" fmla="*/ 942 h 1050"/>
              <a:gd name="p0x7" fmla="*/ 17292 w 17400"/>
              <a:gd name="p0y7" fmla="*/ 1050 h 1050"/>
              <a:gd name="p0x8" fmla="*/ 17160 w 17400"/>
              <a:gd name="p0y8" fmla="*/ 1050 h 1050"/>
              <a:gd name="p0x9" fmla="*/ 240 w 17400"/>
              <a:gd name="p0y9" fmla="*/ 1050 h 1050"/>
              <a:gd name="p0x10" fmla="*/ 107 w 17400"/>
              <a:gd name="p0y10" fmla="*/ 1050 h 1050"/>
              <a:gd name="p0x11" fmla="*/ 0 w 17400"/>
              <a:gd name="p0y11" fmla="*/ 942 h 1050"/>
              <a:gd name="p0x12" fmla="*/ 0 w 17400"/>
              <a:gd name="p0y12" fmla="*/ 810 h 1050"/>
              <a:gd name="p0x13" fmla="*/ 0 w 17400"/>
              <a:gd name="p0y13" fmla="*/ 240 h 1050"/>
              <a:gd name="p0x14" fmla="*/ 0 w 17400"/>
              <a:gd name="p0y14" fmla="*/ 107 h 1050"/>
              <a:gd name="p0x15" fmla="*/ 107 w 17400"/>
              <a:gd name="p0y15" fmla="*/ 0 h 1050"/>
              <a:gd name="p0x16" fmla="*/ 240 w 17400"/>
              <a:gd name="p0y16" fmla="*/ 0 h 1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0E6F9"/>
          </a:solidFill>
          <a:ln>
            <a:noFill/>
          </a:ln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62000" y="1389107"/>
            <a:ext cx="4343552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游戏真正售卖的不是挂机，而是</a:t>
            </a:r>
            <a:r>
              <a:rPr b="1">
                <a:solidFill>
                  <a:srgbClr val="D650C7"/>
                </a:solidFill>
                <a:latin typeface="MiSans Normal" panose="00000500000000000000" charset="-122"/>
                <a:ea typeface="MiSans Normal" panose="00000500000000000000" charset="-122"/>
              </a:rPr>
              <a:t>持续成长</a:t>
            </a:r>
            <a:endParaRPr b="1">
              <a:solidFill>
                <a:srgbClr val="D650C7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571500" y="2218055"/>
            <a:ext cx="2705100" cy="1436370"/>
            <a:chOff x="900" y="3493"/>
            <a:chExt cx="4260" cy="2262"/>
          </a:xfrm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grpSpPr>
        <p:sp>
          <p:nvSpPr>
            <p:cNvPr id="6" name="任意多边形 5"/>
            <p:cNvSpPr/>
            <p:nvPr>
              <p:custDataLst>
                <p:tags r:id="rId4"/>
              </p:custDataLst>
            </p:nvPr>
          </p:nvSpPr>
          <p:spPr>
            <a:xfrm>
              <a:off x="900" y="3493"/>
              <a:ext cx="4260" cy="2262"/>
            </a:xfrm>
            <a:custGeom>
              <a:avLst/>
              <a:gdLst>
                <a:gd name="sw" fmla="*/ 1 w 4260"/>
                <a:gd name="sh" fmla="*/ 1 h 2261"/>
                <a:gd name="mins" fmla="min sw sh"/>
                <a:gd name="dsw" fmla="+- 0 sw mins"/>
                <a:gd name="dsh" fmla="+- 0 sh mins"/>
                <a:gd name="p0x0" fmla="*/ 240 w 4260"/>
                <a:gd name="p0y0" fmla="*/ 0 h 2261"/>
                <a:gd name="p0x1" fmla="*/ 4020 w 4260"/>
                <a:gd name="p0y1" fmla="*/ 0 h 2261"/>
                <a:gd name="p0x2" fmla="*/ 4152 w 4260"/>
                <a:gd name="p0y2" fmla="*/ 0 h 2261"/>
                <a:gd name="p0x3" fmla="*/ 4260 w 4260"/>
                <a:gd name="p0y3" fmla="*/ 107 h 2261"/>
                <a:gd name="p0x4" fmla="*/ 4260 w 4260"/>
                <a:gd name="p0y4" fmla="*/ 240 h 2261"/>
                <a:gd name="p0x5" fmla="*/ 4260 w 4260"/>
                <a:gd name="p0y5" fmla="*/ 2021 h 2261"/>
                <a:gd name="p0x6" fmla="*/ 4260 w 4260"/>
                <a:gd name="p0y6" fmla="*/ 2154 h 2261"/>
                <a:gd name="p0x7" fmla="*/ 4152 w 4260"/>
                <a:gd name="p0y7" fmla="*/ 2261 h 2261"/>
                <a:gd name="p0x8" fmla="*/ 4020 w 4260"/>
                <a:gd name="p0y8" fmla="*/ 2261 h 2261"/>
                <a:gd name="p0x9" fmla="*/ 240 w 4260"/>
                <a:gd name="p0y9" fmla="*/ 2261 h 2261"/>
                <a:gd name="p0x10" fmla="*/ 107 w 4260"/>
                <a:gd name="p0y10" fmla="*/ 2261 h 2261"/>
                <a:gd name="p0x11" fmla="*/ 0 w 4260"/>
                <a:gd name="p0y11" fmla="*/ 2154 h 2261"/>
                <a:gd name="p0x12" fmla="*/ 0 w 4260"/>
                <a:gd name="p0y12" fmla="*/ 2021 h 2261"/>
                <a:gd name="p0x13" fmla="*/ 0 w 4260"/>
                <a:gd name="p0y13" fmla="*/ 240 h 2261"/>
                <a:gd name="p0x14" fmla="*/ 0 w 4260"/>
                <a:gd name="p0y14" fmla="*/ 107 h 2261"/>
                <a:gd name="p0x15" fmla="*/ 107 w 4260"/>
                <a:gd name="p0y15" fmla="*/ 0 h 2261"/>
                <a:gd name="p0x16" fmla="*/ 240 w 4260"/>
                <a:gd name="p0y16" fmla="*/ 0 h 2261"/>
              </a:gdLst>
              <a:ahLst/>
              <a:cxnLst/>
              <a:pathLst>
                <a:path w="4260" h="2262">
                  <a:moveTo>
                    <a:pt x="240" y="0"/>
                  </a:moveTo>
                  <a:lnTo>
                    <a:pt x="4020" y="0"/>
                  </a:lnTo>
                  <a:cubicBezTo>
                    <a:pt x="4153" y="0"/>
                    <a:pt x="4260" y="107"/>
                    <a:pt x="4260" y="240"/>
                  </a:cubicBezTo>
                  <a:lnTo>
                    <a:pt x="4260" y="2022"/>
                  </a:lnTo>
                  <a:cubicBezTo>
                    <a:pt x="4260" y="2155"/>
                    <a:pt x="4153" y="2262"/>
                    <a:pt x="4020" y="2262"/>
                  </a:cubicBezTo>
                  <a:lnTo>
                    <a:pt x="240" y="2262"/>
                  </a:lnTo>
                  <a:cubicBezTo>
                    <a:pt x="107" y="2262"/>
                    <a:pt x="0" y="2155"/>
                    <a:pt x="0" y="2022"/>
                  </a:cubicBezTo>
                  <a:lnTo>
                    <a:pt x="0" y="240"/>
                  </a:lnTo>
                  <a:cubicBezTo>
                    <a:pt x="0" y="107"/>
                    <a:pt x="107" y="0"/>
                    <a:pt x="240" y="0"/>
                  </a:cubicBezTo>
                  <a:close/>
                </a:path>
              </a:pathLst>
            </a:custGeom>
            <a:solidFill>
              <a:srgbClr val="F9F7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7" name="任意多边形 6"/>
            <p:cNvSpPr/>
            <p:nvPr>
              <p:custDataLst>
                <p:tags r:id="rId5"/>
              </p:custDataLst>
            </p:nvPr>
          </p:nvSpPr>
          <p:spPr>
            <a:xfrm>
              <a:off x="970" y="3493"/>
              <a:ext cx="4070" cy="81"/>
            </a:xfrm>
            <a:custGeom>
              <a:avLst/>
              <a:gdLst>
                <a:gd name="sw" fmla="*/ 1 w 4069"/>
                <a:gd name="sh" fmla="*/ 1 h 80"/>
                <a:gd name="mins" fmla="min sw sh"/>
                <a:gd name="dsw" fmla="+- 0 sw mins"/>
                <a:gd name="dsh" fmla="+- 0 sh mins"/>
                <a:gd name="p0x0" fmla="*/ 169 w 4069"/>
                <a:gd name="p0y0" fmla="*/ 0 h 80"/>
                <a:gd name="p0x1" fmla="*/ 3949 w 4069"/>
                <a:gd name="p0y1" fmla="*/ 0 h 80"/>
                <a:gd name="p0x2" fmla="*/ 3993 w 4069"/>
                <a:gd name="p0y2" fmla="*/ 0 h 80"/>
                <a:gd name="p0x3" fmla="*/ 4034 w 4069"/>
                <a:gd name="p0y3" fmla="*/ 11 h 80"/>
                <a:gd name="p0x4" fmla="*/ 4069 w 4069"/>
                <a:gd name="p0y4" fmla="*/ 32 h 80"/>
                <a:gd name="p0x5" fmla="*/ 4054 w 4069"/>
                <a:gd name="p0y5" fmla="*/ 45 h 80"/>
                <a:gd name="p0x6" fmla="*/ 4054 w 4069"/>
                <a:gd name="p0y6" fmla="*/ 45 h 80"/>
                <a:gd name="p0x7" fmla="*/ 4023 w 4069"/>
                <a:gd name="p0y7" fmla="*/ 25 h 80"/>
                <a:gd name="p0x8" fmla="*/ 3987 w 4069"/>
                <a:gd name="p0y8" fmla="*/ 15 h 80"/>
                <a:gd name="p0x9" fmla="*/ 3949 w 4069"/>
                <a:gd name="p0y9" fmla="*/ 15 h 80"/>
                <a:gd name="p0x10" fmla="*/ 169 w 4069"/>
                <a:gd name="p0y10" fmla="*/ 15 h 80"/>
                <a:gd name="p0x11" fmla="*/ 107 w 4069"/>
                <a:gd name="p0y11" fmla="*/ 15 h 80"/>
                <a:gd name="p0x12" fmla="*/ 51 w 4069"/>
                <a:gd name="p0y12" fmla="*/ 40 h 80"/>
                <a:gd name="p0x13" fmla="*/ 10 w 4069"/>
                <a:gd name="p0y13" fmla="*/ 80 h 80"/>
                <a:gd name="p0x14" fmla="*/ 0 w 4069"/>
                <a:gd name="p0y14" fmla="*/ 70 h 80"/>
                <a:gd name="p0x15" fmla="*/ 0 w 4069"/>
                <a:gd name="p0y15" fmla="*/ 70 h 80"/>
                <a:gd name="p0x16" fmla="*/ 43 w 4069"/>
                <a:gd name="p0y16" fmla="*/ 26 h 80"/>
                <a:gd name="p0x17" fmla="*/ 103 w 4069"/>
                <a:gd name="p0y17" fmla="*/ 0 h 80"/>
                <a:gd name="p0x18" fmla="*/ 169 w 4069"/>
                <a:gd name="p0y18" fmla="*/ 0 h 80"/>
              </a:gdLst>
              <a:ahLst/>
              <a:cxnLst/>
              <a:pathLst>
                <a:path w="4070" h="81">
                  <a:moveTo>
                    <a:pt x="170" y="0"/>
                  </a:moveTo>
                  <a:lnTo>
                    <a:pt x="3950" y="0"/>
                  </a:lnTo>
                  <a:cubicBezTo>
                    <a:pt x="3994" y="0"/>
                    <a:pt x="4035" y="12"/>
                    <a:pt x="4070" y="32"/>
                  </a:cubicBezTo>
                  <a:lnTo>
                    <a:pt x="4055" y="45"/>
                  </a:lnTo>
                  <a:lnTo>
                    <a:pt x="4055" y="45"/>
                  </a:lnTo>
                  <a:cubicBezTo>
                    <a:pt x="4024" y="26"/>
                    <a:pt x="3988" y="15"/>
                    <a:pt x="3950" y="15"/>
                  </a:cubicBezTo>
                  <a:lnTo>
                    <a:pt x="170" y="15"/>
                  </a:lnTo>
                  <a:cubicBezTo>
                    <a:pt x="108" y="15"/>
                    <a:pt x="51" y="40"/>
                    <a:pt x="11" y="81"/>
                  </a:cubicBezTo>
                  <a:lnTo>
                    <a:pt x="0" y="70"/>
                  </a:lnTo>
                  <a:lnTo>
                    <a:pt x="0" y="70"/>
                  </a:lnTo>
                  <a:cubicBezTo>
                    <a:pt x="43" y="27"/>
                    <a:pt x="103" y="0"/>
                    <a:pt x="170" y="0"/>
                  </a:cubicBezTo>
                  <a:close/>
                </a:path>
              </a:pathLst>
            </a:custGeom>
            <a:solidFill>
              <a:srgbClr val="E8DC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8" name="任意多边形 7"/>
            <p:cNvSpPr/>
            <p:nvPr>
              <p:custDataLst>
                <p:tags r:id="rId6"/>
              </p:custDataLst>
            </p:nvPr>
          </p:nvSpPr>
          <p:spPr>
            <a:xfrm>
              <a:off x="5025" y="3525"/>
              <a:ext cx="135" cy="2198"/>
            </a:xfrm>
            <a:custGeom>
              <a:avLst/>
              <a:gdLst>
                <a:gd name="sw" fmla="*/ 1 w 135"/>
                <a:gd name="sh" fmla="*/ 1 h 2197"/>
                <a:gd name="mins" fmla="min sw sh"/>
                <a:gd name="dsw" fmla="+- 0 sw mins"/>
                <a:gd name="dsh" fmla="+- 0 sh mins"/>
                <a:gd name="p0x0" fmla="*/ 135 w 135"/>
                <a:gd name="p0y0" fmla="*/ 207 h 2197"/>
                <a:gd name="p0x1" fmla="*/ 135 w 135"/>
                <a:gd name="p0y1" fmla="*/ 1989 h 2197"/>
                <a:gd name="p0x2" fmla="*/ 135 w 135"/>
                <a:gd name="p0y2" fmla="*/ 2078 h 2197"/>
                <a:gd name="p0x3" fmla="*/ 86 w 135"/>
                <a:gd name="p0y3" fmla="*/ 2156 h 2197"/>
                <a:gd name="p0x4" fmla="*/ 15 w 135"/>
                <a:gd name="p0y4" fmla="*/ 2197 h 2197"/>
                <a:gd name="p0x5" fmla="*/ 0 w 135"/>
                <a:gd name="p0y5" fmla="*/ 2184 h 2197"/>
                <a:gd name="p0x6" fmla="*/ 0 w 135"/>
                <a:gd name="p0y6" fmla="*/ 2184 h 2197"/>
                <a:gd name="p0x7" fmla="*/ 62 w 135"/>
                <a:gd name="p0y7" fmla="*/ 2145 h 2197"/>
                <a:gd name="p0x8" fmla="*/ 105 w 135"/>
                <a:gd name="p0y8" fmla="*/ 2073 h 2197"/>
                <a:gd name="p0x9" fmla="*/ 105 w 135"/>
                <a:gd name="p0y9" fmla="*/ 1989 h 2197"/>
                <a:gd name="p0x10" fmla="*/ 105 w 135"/>
                <a:gd name="p0y10" fmla="*/ 207 h 2197"/>
                <a:gd name="p0x11" fmla="*/ 105 w 135"/>
                <a:gd name="p0y11" fmla="*/ 124 h 2197"/>
                <a:gd name="p0x12" fmla="*/ 62 w 135"/>
                <a:gd name="p0y12" fmla="*/ 51 h 2197"/>
                <a:gd name="p0x13" fmla="*/ 0 w 135"/>
                <a:gd name="p0y13" fmla="*/ 12 h 2197"/>
                <a:gd name="p0x14" fmla="*/ 15 w 135"/>
                <a:gd name="p0y14" fmla="*/ 0 h 2197"/>
                <a:gd name="p0x15" fmla="*/ 15 w 135"/>
                <a:gd name="p0y15" fmla="*/ 0 h 2197"/>
                <a:gd name="p0x16" fmla="*/ 86 w 135"/>
                <a:gd name="p0y16" fmla="*/ 41 h 2197"/>
                <a:gd name="p0x17" fmla="*/ 135 w 135"/>
                <a:gd name="p0y17" fmla="*/ 119 h 2197"/>
                <a:gd name="p0x18" fmla="*/ 135 w 135"/>
                <a:gd name="p0y18" fmla="*/ 207 h 219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D650C7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>
              <p:custDataLst>
                <p:tags r:id="rId7"/>
              </p:custDataLst>
            </p:nvPr>
          </p:nvSpPr>
          <p:spPr>
            <a:xfrm>
              <a:off x="970" y="5674"/>
              <a:ext cx="4070" cy="81"/>
            </a:xfrm>
            <a:custGeom>
              <a:avLst/>
              <a:gdLst>
                <a:gd name="sw" fmla="*/ 1 w 4069"/>
                <a:gd name="sh" fmla="*/ 1 h 80"/>
                <a:gd name="mins" fmla="min sw sh"/>
                <a:gd name="dsw" fmla="+- 0 sw mins"/>
                <a:gd name="dsh" fmla="+- 0 sh mins"/>
                <a:gd name="p0x0" fmla="*/ 3949 w 4069"/>
                <a:gd name="p0y0" fmla="*/ 80 h 80"/>
                <a:gd name="p0x1" fmla="*/ 169 w 4069"/>
                <a:gd name="p0y1" fmla="*/ 80 h 80"/>
                <a:gd name="p0x2" fmla="*/ 103 w 4069"/>
                <a:gd name="p0y2" fmla="*/ 80 h 80"/>
                <a:gd name="p0x3" fmla="*/ 43 w 4069"/>
                <a:gd name="p0y3" fmla="*/ 54 h 80"/>
                <a:gd name="p0x4" fmla="*/ 0 w 4069"/>
                <a:gd name="p0y4" fmla="*/ 10 h 80"/>
                <a:gd name="p0x5" fmla="*/ 10 w 4069"/>
                <a:gd name="p0y5" fmla="*/ 0 h 80"/>
                <a:gd name="p0x6" fmla="*/ 10 w 4069"/>
                <a:gd name="p0y6" fmla="*/ 0 h 80"/>
                <a:gd name="p0x7" fmla="*/ 51 w 4069"/>
                <a:gd name="p0y7" fmla="*/ 40 h 80"/>
                <a:gd name="p0x8" fmla="*/ 107 w 4069"/>
                <a:gd name="p0y8" fmla="*/ 65 h 80"/>
                <a:gd name="p0x9" fmla="*/ 169 w 4069"/>
                <a:gd name="p0y9" fmla="*/ 65 h 80"/>
                <a:gd name="p0x10" fmla="*/ 3949 w 4069"/>
                <a:gd name="p0y10" fmla="*/ 65 h 80"/>
                <a:gd name="p0x11" fmla="*/ 3987 w 4069"/>
                <a:gd name="p0y11" fmla="*/ 65 h 80"/>
                <a:gd name="p0x12" fmla="*/ 4023 w 4069"/>
                <a:gd name="p0y12" fmla="*/ 54 h 80"/>
                <a:gd name="p0x13" fmla="*/ 4054 w 4069"/>
                <a:gd name="p0y13" fmla="*/ 35 h 80"/>
                <a:gd name="p0x14" fmla="*/ 4069 w 4069"/>
                <a:gd name="p0y14" fmla="*/ 48 h 80"/>
                <a:gd name="p0x15" fmla="*/ 4069 w 4069"/>
                <a:gd name="p0y15" fmla="*/ 48 h 80"/>
                <a:gd name="p0x16" fmla="*/ 4034 w 4069"/>
                <a:gd name="p0y16" fmla="*/ 69 h 80"/>
                <a:gd name="p0x17" fmla="*/ 3993 w 4069"/>
                <a:gd name="p0y17" fmla="*/ 80 h 80"/>
                <a:gd name="p0x18" fmla="*/ 3949 w 4069"/>
                <a:gd name="p0y18" fmla="*/ 80 h 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E8DC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>
              <p:custDataLst>
                <p:tags r:id="rId8"/>
              </p:custDataLst>
            </p:nvPr>
          </p:nvSpPr>
          <p:spPr>
            <a:xfrm>
              <a:off x="900" y="3563"/>
              <a:ext cx="80" cy="2121"/>
            </a:xfrm>
            <a:custGeom>
              <a:avLst/>
              <a:gdLst>
                <a:gd name="sw" fmla="*/ 1 w 80"/>
                <a:gd name="sh" fmla="*/ 1 h 2121"/>
                <a:gd name="mins" fmla="min sw sh"/>
                <a:gd name="dsw" fmla="+- 0 sw mins"/>
                <a:gd name="dsh" fmla="+- 0 sh mins"/>
                <a:gd name="p0x0" fmla="*/ 0 w 80"/>
                <a:gd name="p0y0" fmla="*/ 1951 h 2121"/>
                <a:gd name="p0x1" fmla="*/ 0 w 80"/>
                <a:gd name="p0y1" fmla="*/ 169 h 2121"/>
                <a:gd name="p0x2" fmla="*/ 0 w 80"/>
                <a:gd name="p0y2" fmla="*/ 103 h 2121"/>
                <a:gd name="p0x3" fmla="*/ 26 w 80"/>
                <a:gd name="p0y3" fmla="*/ 43 h 2121"/>
                <a:gd name="p0x4" fmla="*/ 70 w 80"/>
                <a:gd name="p0y4" fmla="*/ 0 h 2121"/>
                <a:gd name="p0x5" fmla="*/ 80 w 80"/>
                <a:gd name="p0y5" fmla="*/ 10 h 2121"/>
                <a:gd name="p0x6" fmla="*/ 80 w 80"/>
                <a:gd name="p0y6" fmla="*/ 10 h 2121"/>
                <a:gd name="p0x7" fmla="*/ 40 w 80"/>
                <a:gd name="p0y7" fmla="*/ 51 h 2121"/>
                <a:gd name="p0x8" fmla="*/ 15 w 80"/>
                <a:gd name="p0y8" fmla="*/ 107 h 2121"/>
                <a:gd name="p0x9" fmla="*/ 15 w 80"/>
                <a:gd name="p0y9" fmla="*/ 169 h 2121"/>
                <a:gd name="p0x10" fmla="*/ 15 w 80"/>
                <a:gd name="p0y10" fmla="*/ 1951 h 2121"/>
                <a:gd name="p0x11" fmla="*/ 15 w 80"/>
                <a:gd name="p0y11" fmla="*/ 2013 h 2121"/>
                <a:gd name="p0x12" fmla="*/ 40 w 80"/>
                <a:gd name="p0y12" fmla="*/ 2070 h 2121"/>
                <a:gd name="p0x13" fmla="*/ 80 w 80"/>
                <a:gd name="p0y13" fmla="*/ 2110 h 2121"/>
                <a:gd name="p0x14" fmla="*/ 70 w 80"/>
                <a:gd name="p0y14" fmla="*/ 2121 h 2121"/>
                <a:gd name="p0x15" fmla="*/ 70 w 80"/>
                <a:gd name="p0y15" fmla="*/ 2121 h 2121"/>
                <a:gd name="p0x16" fmla="*/ 26 w 80"/>
                <a:gd name="p0y16" fmla="*/ 2077 h 2121"/>
                <a:gd name="p0x17" fmla="*/ 0 w 80"/>
                <a:gd name="p0y17" fmla="*/ 2017 h 2121"/>
                <a:gd name="p0x18" fmla="*/ 0 w 80"/>
                <a:gd name="p0y18" fmla="*/ 1951 h 2121"/>
              </a:gdLst>
              <a:ahLst/>
              <a:cxnLst/>
              <a:pathLst>
                <a:path w="80" h="2121">
                  <a:moveTo>
                    <a:pt x="0" y="1951"/>
                  </a:moveTo>
                  <a:lnTo>
                    <a:pt x="0" y="170"/>
                  </a:lnTo>
                  <a:cubicBezTo>
                    <a:pt x="0" y="103"/>
                    <a:pt x="27" y="43"/>
                    <a:pt x="70" y="0"/>
                  </a:cubicBezTo>
                  <a:lnTo>
                    <a:pt x="80" y="11"/>
                  </a:lnTo>
                  <a:lnTo>
                    <a:pt x="80" y="11"/>
                  </a:lnTo>
                  <a:cubicBezTo>
                    <a:pt x="40" y="51"/>
                    <a:pt x="15" y="108"/>
                    <a:pt x="15" y="170"/>
                  </a:cubicBezTo>
                  <a:lnTo>
                    <a:pt x="15" y="1951"/>
                  </a:lnTo>
                  <a:cubicBezTo>
                    <a:pt x="15" y="2013"/>
                    <a:pt x="40" y="2070"/>
                    <a:pt x="80" y="2110"/>
                  </a:cubicBezTo>
                  <a:lnTo>
                    <a:pt x="70" y="2121"/>
                  </a:lnTo>
                  <a:lnTo>
                    <a:pt x="70" y="2121"/>
                  </a:lnTo>
                  <a:cubicBezTo>
                    <a:pt x="27" y="2078"/>
                    <a:pt x="0" y="2018"/>
                    <a:pt x="0" y="1951"/>
                  </a:cubicBezTo>
                  <a:close/>
                </a:path>
              </a:pathLst>
            </a:custGeom>
            <a:solidFill>
              <a:srgbClr val="E8DC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1548479" y="2674439"/>
            <a:ext cx="74154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350" b="1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①</a:t>
            </a:r>
            <a:r>
              <a:rPr lang="en-US" altLang="zh-CN" sz="1350" b="1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</a:t>
            </a:r>
            <a:r>
              <a:rPr lang="zh-CN" altLang="en-US" sz="1350" b="1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登录</a:t>
            </a:r>
            <a:endParaRPr lang="zh-CN" altLang="en-US" sz="1350" b="1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852411" y="2989717"/>
            <a:ext cx="21336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200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领取离线收益，形成回归惯性</a:t>
            </a:r>
            <a:endParaRPr sz="1200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grpSp>
        <p:nvGrpSpPr>
          <p:cNvPr id="81" name="组合 80"/>
          <p:cNvGrpSpPr/>
          <p:nvPr/>
        </p:nvGrpSpPr>
        <p:grpSpPr>
          <a:xfrm>
            <a:off x="3352800" y="2218055"/>
            <a:ext cx="2705100" cy="1436370"/>
            <a:chOff x="5280" y="3493"/>
            <a:chExt cx="4260" cy="2262"/>
          </a:xfrm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grpSpPr>
        <p:sp>
          <p:nvSpPr>
            <p:cNvPr id="15" name="任意多边形 14"/>
            <p:cNvSpPr/>
            <p:nvPr>
              <p:custDataLst>
                <p:tags r:id="rId11"/>
              </p:custDataLst>
            </p:nvPr>
          </p:nvSpPr>
          <p:spPr>
            <a:xfrm>
              <a:off x="5280" y="3493"/>
              <a:ext cx="4260" cy="2262"/>
            </a:xfrm>
            <a:custGeom>
              <a:avLst/>
              <a:gdLst>
                <a:gd name="sw" fmla="*/ 1 w 4260"/>
                <a:gd name="sh" fmla="*/ 1 h 2261"/>
                <a:gd name="mins" fmla="min sw sh"/>
                <a:gd name="dsw" fmla="+- 0 sw mins"/>
                <a:gd name="dsh" fmla="+- 0 sh mins"/>
                <a:gd name="p0x0" fmla="*/ 240 w 4260"/>
                <a:gd name="p0y0" fmla="*/ 0 h 2261"/>
                <a:gd name="p0x1" fmla="*/ 4020 w 4260"/>
                <a:gd name="p0y1" fmla="*/ 0 h 2261"/>
                <a:gd name="p0x2" fmla="*/ 4152 w 4260"/>
                <a:gd name="p0y2" fmla="*/ 0 h 2261"/>
                <a:gd name="p0x3" fmla="*/ 4260 w 4260"/>
                <a:gd name="p0y3" fmla="*/ 107 h 2261"/>
                <a:gd name="p0x4" fmla="*/ 4260 w 4260"/>
                <a:gd name="p0y4" fmla="*/ 240 h 2261"/>
                <a:gd name="p0x5" fmla="*/ 4260 w 4260"/>
                <a:gd name="p0y5" fmla="*/ 2021 h 2261"/>
                <a:gd name="p0x6" fmla="*/ 4260 w 4260"/>
                <a:gd name="p0y6" fmla="*/ 2154 h 2261"/>
                <a:gd name="p0x7" fmla="*/ 4152 w 4260"/>
                <a:gd name="p0y7" fmla="*/ 2261 h 2261"/>
                <a:gd name="p0x8" fmla="*/ 4020 w 4260"/>
                <a:gd name="p0y8" fmla="*/ 2261 h 2261"/>
                <a:gd name="p0x9" fmla="*/ 240 w 4260"/>
                <a:gd name="p0y9" fmla="*/ 2261 h 2261"/>
                <a:gd name="p0x10" fmla="*/ 107 w 4260"/>
                <a:gd name="p0y10" fmla="*/ 2261 h 2261"/>
                <a:gd name="p0x11" fmla="*/ 0 w 4260"/>
                <a:gd name="p0y11" fmla="*/ 2154 h 2261"/>
                <a:gd name="p0x12" fmla="*/ 0 w 4260"/>
                <a:gd name="p0y12" fmla="*/ 2021 h 2261"/>
                <a:gd name="p0x13" fmla="*/ 0 w 4260"/>
                <a:gd name="p0y13" fmla="*/ 240 h 2261"/>
                <a:gd name="p0x14" fmla="*/ 0 w 4260"/>
                <a:gd name="p0y14" fmla="*/ 107 h 2261"/>
                <a:gd name="p0x15" fmla="*/ 107 w 4260"/>
                <a:gd name="p0y15" fmla="*/ 0 h 2261"/>
                <a:gd name="p0x16" fmla="*/ 240 w 4260"/>
                <a:gd name="p0y16" fmla="*/ 0 h 2261"/>
              </a:gdLst>
              <a:ahLst/>
              <a:cxnLst/>
              <a:pathLst>
                <a:path w="4260" h="2262">
                  <a:moveTo>
                    <a:pt x="240" y="0"/>
                  </a:moveTo>
                  <a:lnTo>
                    <a:pt x="4020" y="0"/>
                  </a:lnTo>
                  <a:cubicBezTo>
                    <a:pt x="4153" y="0"/>
                    <a:pt x="4260" y="107"/>
                    <a:pt x="4260" y="240"/>
                  </a:cubicBezTo>
                  <a:lnTo>
                    <a:pt x="4260" y="2022"/>
                  </a:lnTo>
                  <a:cubicBezTo>
                    <a:pt x="4260" y="2155"/>
                    <a:pt x="4153" y="2262"/>
                    <a:pt x="4020" y="2262"/>
                  </a:cubicBezTo>
                  <a:lnTo>
                    <a:pt x="240" y="2262"/>
                  </a:lnTo>
                  <a:cubicBezTo>
                    <a:pt x="107" y="2262"/>
                    <a:pt x="0" y="2155"/>
                    <a:pt x="0" y="2022"/>
                  </a:cubicBezTo>
                  <a:lnTo>
                    <a:pt x="0" y="240"/>
                  </a:lnTo>
                  <a:cubicBezTo>
                    <a:pt x="0" y="107"/>
                    <a:pt x="107" y="0"/>
                    <a:pt x="240" y="0"/>
                  </a:cubicBezTo>
                  <a:close/>
                </a:path>
              </a:pathLst>
            </a:custGeom>
            <a:solidFill>
              <a:srgbClr val="F9F7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16" name="任意多边形 15"/>
            <p:cNvSpPr/>
            <p:nvPr>
              <p:custDataLst>
                <p:tags r:id="rId12"/>
              </p:custDataLst>
            </p:nvPr>
          </p:nvSpPr>
          <p:spPr>
            <a:xfrm>
              <a:off x="5350" y="3493"/>
              <a:ext cx="4070" cy="81"/>
            </a:xfrm>
            <a:custGeom>
              <a:avLst/>
              <a:gdLst>
                <a:gd name="sw" fmla="*/ 1 w 4069"/>
                <a:gd name="sh" fmla="*/ 1 h 80"/>
                <a:gd name="mins" fmla="min sw sh"/>
                <a:gd name="dsw" fmla="+- 0 sw mins"/>
                <a:gd name="dsh" fmla="+- 0 sh mins"/>
                <a:gd name="p0x0" fmla="*/ 169 w 4069"/>
                <a:gd name="p0y0" fmla="*/ 0 h 80"/>
                <a:gd name="p0x1" fmla="*/ 3949 w 4069"/>
                <a:gd name="p0y1" fmla="*/ 0 h 80"/>
                <a:gd name="p0x2" fmla="*/ 3993 w 4069"/>
                <a:gd name="p0y2" fmla="*/ 0 h 80"/>
                <a:gd name="p0x3" fmla="*/ 4034 w 4069"/>
                <a:gd name="p0y3" fmla="*/ 11 h 80"/>
                <a:gd name="p0x4" fmla="*/ 4069 w 4069"/>
                <a:gd name="p0y4" fmla="*/ 32 h 80"/>
                <a:gd name="p0x5" fmla="*/ 4054 w 4069"/>
                <a:gd name="p0y5" fmla="*/ 45 h 80"/>
                <a:gd name="p0x6" fmla="*/ 4054 w 4069"/>
                <a:gd name="p0y6" fmla="*/ 45 h 80"/>
                <a:gd name="p0x7" fmla="*/ 4023 w 4069"/>
                <a:gd name="p0y7" fmla="*/ 25 h 80"/>
                <a:gd name="p0x8" fmla="*/ 3987 w 4069"/>
                <a:gd name="p0y8" fmla="*/ 15 h 80"/>
                <a:gd name="p0x9" fmla="*/ 3949 w 4069"/>
                <a:gd name="p0y9" fmla="*/ 15 h 80"/>
                <a:gd name="p0x10" fmla="*/ 169 w 4069"/>
                <a:gd name="p0y10" fmla="*/ 15 h 80"/>
                <a:gd name="p0x11" fmla="*/ 107 w 4069"/>
                <a:gd name="p0y11" fmla="*/ 15 h 80"/>
                <a:gd name="p0x12" fmla="*/ 51 w 4069"/>
                <a:gd name="p0y12" fmla="*/ 40 h 80"/>
                <a:gd name="p0x13" fmla="*/ 10 w 4069"/>
                <a:gd name="p0y13" fmla="*/ 80 h 80"/>
                <a:gd name="p0x14" fmla="*/ 0 w 4069"/>
                <a:gd name="p0y14" fmla="*/ 70 h 80"/>
                <a:gd name="p0x15" fmla="*/ 43 w 4069"/>
                <a:gd name="p0y15" fmla="*/ 26 h 80"/>
                <a:gd name="p0x16" fmla="*/ 103 w 4069"/>
                <a:gd name="p0y16" fmla="*/ 0 h 80"/>
                <a:gd name="p0x17" fmla="*/ 169 w 4069"/>
                <a:gd name="p0y17" fmla="*/ 0 h 80"/>
              </a:gdLst>
              <a:ahLst/>
              <a:cxnLst/>
              <a:pathLst>
                <a:path w="4070" h="81">
                  <a:moveTo>
                    <a:pt x="170" y="0"/>
                  </a:moveTo>
                  <a:lnTo>
                    <a:pt x="3950" y="0"/>
                  </a:lnTo>
                  <a:cubicBezTo>
                    <a:pt x="3994" y="0"/>
                    <a:pt x="4035" y="12"/>
                    <a:pt x="4070" y="32"/>
                  </a:cubicBezTo>
                  <a:lnTo>
                    <a:pt x="4055" y="45"/>
                  </a:lnTo>
                  <a:lnTo>
                    <a:pt x="4055" y="45"/>
                  </a:lnTo>
                  <a:cubicBezTo>
                    <a:pt x="4024" y="26"/>
                    <a:pt x="3988" y="15"/>
                    <a:pt x="3950" y="15"/>
                  </a:cubicBezTo>
                  <a:lnTo>
                    <a:pt x="170" y="15"/>
                  </a:lnTo>
                  <a:cubicBezTo>
                    <a:pt x="108" y="15"/>
                    <a:pt x="51" y="40"/>
                    <a:pt x="11" y="81"/>
                  </a:cubicBezTo>
                  <a:lnTo>
                    <a:pt x="0" y="70"/>
                  </a:lnTo>
                  <a:cubicBezTo>
                    <a:pt x="43" y="27"/>
                    <a:pt x="103" y="0"/>
                    <a:pt x="170" y="0"/>
                  </a:cubicBezTo>
                  <a:close/>
                </a:path>
              </a:pathLst>
            </a:custGeom>
            <a:solidFill>
              <a:srgbClr val="E8DC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>
              <p:custDataLst>
                <p:tags r:id="rId13"/>
              </p:custDataLst>
            </p:nvPr>
          </p:nvSpPr>
          <p:spPr>
            <a:xfrm>
              <a:off x="9405" y="3525"/>
              <a:ext cx="135" cy="2198"/>
            </a:xfrm>
            <a:custGeom>
              <a:avLst/>
              <a:gdLst>
                <a:gd name="sw" fmla="*/ 1 w 135"/>
                <a:gd name="sh" fmla="*/ 1 h 2197"/>
                <a:gd name="mins" fmla="min sw sh"/>
                <a:gd name="dsw" fmla="+- 0 sw mins"/>
                <a:gd name="dsh" fmla="+- 0 sh mins"/>
                <a:gd name="p0x0" fmla="*/ 135 w 135"/>
                <a:gd name="p0y0" fmla="*/ 207 h 2197"/>
                <a:gd name="p0x1" fmla="*/ 135 w 135"/>
                <a:gd name="p0y1" fmla="*/ 1989 h 2197"/>
                <a:gd name="p0x2" fmla="*/ 135 w 135"/>
                <a:gd name="p0y2" fmla="*/ 2078 h 2197"/>
                <a:gd name="p0x3" fmla="*/ 86 w 135"/>
                <a:gd name="p0y3" fmla="*/ 2156 h 2197"/>
                <a:gd name="p0x4" fmla="*/ 15 w 135"/>
                <a:gd name="p0y4" fmla="*/ 2197 h 2197"/>
                <a:gd name="p0x5" fmla="*/ 0 w 135"/>
                <a:gd name="p0y5" fmla="*/ 2184 h 2197"/>
                <a:gd name="p0x6" fmla="*/ 0 w 135"/>
                <a:gd name="p0y6" fmla="*/ 2184 h 2197"/>
                <a:gd name="p0x7" fmla="*/ 62 w 135"/>
                <a:gd name="p0y7" fmla="*/ 2145 h 2197"/>
                <a:gd name="p0x8" fmla="*/ 105 w 135"/>
                <a:gd name="p0y8" fmla="*/ 2073 h 2197"/>
                <a:gd name="p0x9" fmla="*/ 105 w 135"/>
                <a:gd name="p0y9" fmla="*/ 1989 h 2197"/>
                <a:gd name="p0x10" fmla="*/ 105 w 135"/>
                <a:gd name="p0y10" fmla="*/ 207 h 2197"/>
                <a:gd name="p0x11" fmla="*/ 105 w 135"/>
                <a:gd name="p0y11" fmla="*/ 124 h 2197"/>
                <a:gd name="p0x12" fmla="*/ 62 w 135"/>
                <a:gd name="p0y12" fmla="*/ 51 h 2197"/>
                <a:gd name="p0x13" fmla="*/ 0 w 135"/>
                <a:gd name="p0y13" fmla="*/ 12 h 2197"/>
                <a:gd name="p0x14" fmla="*/ 15 w 135"/>
                <a:gd name="p0y14" fmla="*/ 0 h 2197"/>
                <a:gd name="p0x15" fmla="*/ 15 w 135"/>
                <a:gd name="p0y15" fmla="*/ 0 h 2197"/>
                <a:gd name="p0x16" fmla="*/ 86 w 135"/>
                <a:gd name="p0y16" fmla="*/ 41 h 2197"/>
                <a:gd name="p0x17" fmla="*/ 135 w 135"/>
                <a:gd name="p0y17" fmla="*/ 119 h 2197"/>
                <a:gd name="p0x18" fmla="*/ 135 w 135"/>
                <a:gd name="p0y18" fmla="*/ 207 h 219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D650C7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>
              <p:custDataLst>
                <p:tags r:id="rId14"/>
              </p:custDataLst>
            </p:nvPr>
          </p:nvSpPr>
          <p:spPr>
            <a:xfrm>
              <a:off x="5350" y="5674"/>
              <a:ext cx="4070" cy="81"/>
            </a:xfrm>
            <a:custGeom>
              <a:avLst/>
              <a:gdLst>
                <a:gd name="sw" fmla="*/ 1 w 4069"/>
                <a:gd name="sh" fmla="*/ 1 h 80"/>
                <a:gd name="mins" fmla="min sw sh"/>
                <a:gd name="dsw" fmla="+- 0 sw mins"/>
                <a:gd name="dsh" fmla="+- 0 sh mins"/>
                <a:gd name="p0x0" fmla="*/ 3949 w 4069"/>
                <a:gd name="p0y0" fmla="*/ 80 h 80"/>
                <a:gd name="p0x1" fmla="*/ 169 w 4069"/>
                <a:gd name="p0y1" fmla="*/ 80 h 80"/>
                <a:gd name="p0x2" fmla="*/ 103 w 4069"/>
                <a:gd name="p0y2" fmla="*/ 80 h 80"/>
                <a:gd name="p0x3" fmla="*/ 43 w 4069"/>
                <a:gd name="p0y3" fmla="*/ 54 h 80"/>
                <a:gd name="p0x4" fmla="*/ 0 w 4069"/>
                <a:gd name="p0y4" fmla="*/ 10 h 80"/>
                <a:gd name="p0x5" fmla="*/ 10 w 4069"/>
                <a:gd name="p0y5" fmla="*/ 0 h 80"/>
                <a:gd name="p0x6" fmla="*/ 51 w 4069"/>
                <a:gd name="p0y6" fmla="*/ 40 h 80"/>
                <a:gd name="p0x7" fmla="*/ 107 w 4069"/>
                <a:gd name="p0y7" fmla="*/ 65 h 80"/>
                <a:gd name="p0x8" fmla="*/ 169 w 4069"/>
                <a:gd name="p0y8" fmla="*/ 65 h 80"/>
                <a:gd name="p0x9" fmla="*/ 3949 w 4069"/>
                <a:gd name="p0y9" fmla="*/ 65 h 80"/>
                <a:gd name="p0x10" fmla="*/ 3987 w 4069"/>
                <a:gd name="p0y10" fmla="*/ 65 h 80"/>
                <a:gd name="p0x11" fmla="*/ 4023 w 4069"/>
                <a:gd name="p0y11" fmla="*/ 54 h 80"/>
                <a:gd name="p0x12" fmla="*/ 4054 w 4069"/>
                <a:gd name="p0y12" fmla="*/ 35 h 80"/>
                <a:gd name="p0x13" fmla="*/ 4069 w 4069"/>
                <a:gd name="p0y13" fmla="*/ 48 h 80"/>
                <a:gd name="p0x14" fmla="*/ 4069 w 4069"/>
                <a:gd name="p0y14" fmla="*/ 48 h 80"/>
                <a:gd name="p0x15" fmla="*/ 4034 w 4069"/>
                <a:gd name="p0y15" fmla="*/ 69 h 80"/>
                <a:gd name="p0x16" fmla="*/ 3993 w 4069"/>
                <a:gd name="p0y16" fmla="*/ 80 h 80"/>
                <a:gd name="p0x17" fmla="*/ 3949 w 4069"/>
                <a:gd name="p0y17" fmla="*/ 80 h 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E8DC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>
              <p:custDataLst>
                <p:tags r:id="rId15"/>
              </p:custDataLst>
            </p:nvPr>
          </p:nvSpPr>
          <p:spPr>
            <a:xfrm>
              <a:off x="5280" y="3563"/>
              <a:ext cx="80" cy="2121"/>
            </a:xfrm>
            <a:custGeom>
              <a:avLst/>
              <a:gdLst>
                <a:gd name="sw" fmla="*/ 1 w 80"/>
                <a:gd name="sh" fmla="*/ 1 h 2121"/>
                <a:gd name="mins" fmla="min sw sh"/>
                <a:gd name="dsw" fmla="+- 0 sw mins"/>
                <a:gd name="dsh" fmla="+- 0 sh mins"/>
                <a:gd name="p0x0" fmla="*/ 0 w 80"/>
                <a:gd name="p0y0" fmla="*/ 1951 h 2121"/>
                <a:gd name="p0x1" fmla="*/ 0 w 80"/>
                <a:gd name="p0y1" fmla="*/ 169 h 2121"/>
                <a:gd name="p0x2" fmla="*/ 0 w 80"/>
                <a:gd name="p0y2" fmla="*/ 103 h 2121"/>
                <a:gd name="p0x3" fmla="*/ 26 w 80"/>
                <a:gd name="p0y3" fmla="*/ 43 h 2121"/>
                <a:gd name="p0x4" fmla="*/ 70 w 80"/>
                <a:gd name="p0y4" fmla="*/ 0 h 2121"/>
                <a:gd name="p0x5" fmla="*/ 80 w 80"/>
                <a:gd name="p0y5" fmla="*/ 10 h 2121"/>
                <a:gd name="p0x6" fmla="*/ 40 w 80"/>
                <a:gd name="p0y6" fmla="*/ 51 h 2121"/>
                <a:gd name="p0x7" fmla="*/ 15 w 80"/>
                <a:gd name="p0y7" fmla="*/ 107 h 2121"/>
                <a:gd name="p0x8" fmla="*/ 15 w 80"/>
                <a:gd name="p0y8" fmla="*/ 169 h 2121"/>
                <a:gd name="p0x9" fmla="*/ 15 w 80"/>
                <a:gd name="p0y9" fmla="*/ 1951 h 2121"/>
                <a:gd name="p0x10" fmla="*/ 15 w 80"/>
                <a:gd name="p0y10" fmla="*/ 2013 h 2121"/>
                <a:gd name="p0x11" fmla="*/ 40 w 80"/>
                <a:gd name="p0y11" fmla="*/ 2070 h 2121"/>
                <a:gd name="p0x12" fmla="*/ 80 w 80"/>
                <a:gd name="p0y12" fmla="*/ 2110 h 2121"/>
                <a:gd name="p0x13" fmla="*/ 70 w 80"/>
                <a:gd name="p0y13" fmla="*/ 2121 h 2121"/>
                <a:gd name="p0x14" fmla="*/ 26 w 80"/>
                <a:gd name="p0y14" fmla="*/ 2077 h 2121"/>
                <a:gd name="p0x15" fmla="*/ 0 w 80"/>
                <a:gd name="p0y15" fmla="*/ 2017 h 2121"/>
                <a:gd name="p0x16" fmla="*/ 0 w 80"/>
                <a:gd name="p0y16" fmla="*/ 1951 h 212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E8DC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1" name="文本框 20"/>
          <p:cNvSpPr txBox="1"/>
          <p:nvPr>
            <p:custDataLst>
              <p:tags r:id="rId16"/>
            </p:custDataLst>
          </p:nvPr>
        </p:nvSpPr>
        <p:spPr>
          <a:xfrm>
            <a:off x="4158329" y="2674439"/>
            <a:ext cx="108444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350" b="1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②</a:t>
            </a:r>
            <a:r>
              <a:rPr lang="en-US" altLang="zh-CN" sz="1350" b="1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</a:t>
            </a:r>
            <a:r>
              <a:rPr lang="zh-CN" altLang="en-US" sz="1350" b="1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推进主线</a:t>
            </a:r>
            <a:endParaRPr lang="zh-CN" altLang="en-US" sz="1350" b="1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7"/>
            </p:custDataLst>
          </p:nvPr>
        </p:nvSpPr>
        <p:spPr>
          <a:xfrm>
            <a:off x="3557511" y="2989717"/>
            <a:ext cx="22860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200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剧情进度可视化，明确短期目标</a:t>
            </a:r>
            <a:endParaRPr sz="1200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6134100" y="2218055"/>
            <a:ext cx="2705100" cy="1436370"/>
            <a:chOff x="9660" y="3493"/>
            <a:chExt cx="4260" cy="2262"/>
          </a:xfrm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grpSpPr>
        <p:sp>
          <p:nvSpPr>
            <p:cNvPr id="24" name="任意多边形 23"/>
            <p:cNvSpPr/>
            <p:nvPr>
              <p:custDataLst>
                <p:tags r:id="rId18"/>
              </p:custDataLst>
            </p:nvPr>
          </p:nvSpPr>
          <p:spPr>
            <a:xfrm>
              <a:off x="9660" y="3493"/>
              <a:ext cx="4260" cy="2262"/>
            </a:xfrm>
            <a:custGeom>
              <a:avLst/>
              <a:gdLst>
                <a:gd name="sw" fmla="*/ 1 w 4260"/>
                <a:gd name="sh" fmla="*/ 1 h 2261"/>
                <a:gd name="mins" fmla="min sw sh"/>
                <a:gd name="dsw" fmla="+- 0 sw mins"/>
                <a:gd name="dsh" fmla="+- 0 sh mins"/>
                <a:gd name="p0x0" fmla="*/ 240 w 4260"/>
                <a:gd name="p0y0" fmla="*/ 0 h 2261"/>
                <a:gd name="p0x1" fmla="*/ 4020 w 4260"/>
                <a:gd name="p0y1" fmla="*/ 0 h 2261"/>
                <a:gd name="p0x2" fmla="*/ 4152 w 4260"/>
                <a:gd name="p0y2" fmla="*/ 0 h 2261"/>
                <a:gd name="p0x3" fmla="*/ 4260 w 4260"/>
                <a:gd name="p0y3" fmla="*/ 107 h 2261"/>
                <a:gd name="p0x4" fmla="*/ 4260 w 4260"/>
                <a:gd name="p0y4" fmla="*/ 240 h 2261"/>
                <a:gd name="p0x5" fmla="*/ 4260 w 4260"/>
                <a:gd name="p0y5" fmla="*/ 2021 h 2261"/>
                <a:gd name="p0x6" fmla="*/ 4260 w 4260"/>
                <a:gd name="p0y6" fmla="*/ 2154 h 2261"/>
                <a:gd name="p0x7" fmla="*/ 4152 w 4260"/>
                <a:gd name="p0y7" fmla="*/ 2261 h 2261"/>
                <a:gd name="p0x8" fmla="*/ 4020 w 4260"/>
                <a:gd name="p0y8" fmla="*/ 2261 h 2261"/>
                <a:gd name="p0x9" fmla="*/ 240 w 4260"/>
                <a:gd name="p0y9" fmla="*/ 2261 h 2261"/>
                <a:gd name="p0x10" fmla="*/ 107 w 4260"/>
                <a:gd name="p0y10" fmla="*/ 2261 h 2261"/>
                <a:gd name="p0x11" fmla="*/ 0 w 4260"/>
                <a:gd name="p0y11" fmla="*/ 2154 h 2261"/>
                <a:gd name="p0x12" fmla="*/ 0 w 4260"/>
                <a:gd name="p0y12" fmla="*/ 2021 h 2261"/>
                <a:gd name="p0x13" fmla="*/ 0 w 4260"/>
                <a:gd name="p0y13" fmla="*/ 240 h 2261"/>
                <a:gd name="p0x14" fmla="*/ 0 w 4260"/>
                <a:gd name="p0y14" fmla="*/ 107 h 2261"/>
                <a:gd name="p0x15" fmla="*/ 107 w 4260"/>
                <a:gd name="p0y15" fmla="*/ 0 h 2261"/>
                <a:gd name="p0x16" fmla="*/ 240 w 4260"/>
                <a:gd name="p0y16" fmla="*/ 0 h 2261"/>
              </a:gdLst>
              <a:ahLst/>
              <a:cxnLst/>
              <a:pathLst>
                <a:path w="4260" h="2262">
                  <a:moveTo>
                    <a:pt x="240" y="0"/>
                  </a:moveTo>
                  <a:lnTo>
                    <a:pt x="4020" y="0"/>
                  </a:lnTo>
                  <a:cubicBezTo>
                    <a:pt x="4153" y="0"/>
                    <a:pt x="4260" y="107"/>
                    <a:pt x="4260" y="240"/>
                  </a:cubicBezTo>
                  <a:lnTo>
                    <a:pt x="4260" y="2022"/>
                  </a:lnTo>
                  <a:cubicBezTo>
                    <a:pt x="4260" y="2155"/>
                    <a:pt x="4153" y="2262"/>
                    <a:pt x="4020" y="2262"/>
                  </a:cubicBezTo>
                  <a:lnTo>
                    <a:pt x="240" y="2262"/>
                  </a:lnTo>
                  <a:cubicBezTo>
                    <a:pt x="107" y="2262"/>
                    <a:pt x="0" y="2155"/>
                    <a:pt x="0" y="2022"/>
                  </a:cubicBezTo>
                  <a:lnTo>
                    <a:pt x="0" y="240"/>
                  </a:lnTo>
                  <a:cubicBezTo>
                    <a:pt x="0" y="107"/>
                    <a:pt x="107" y="0"/>
                    <a:pt x="240" y="0"/>
                  </a:cubicBezTo>
                  <a:close/>
                </a:path>
              </a:pathLst>
            </a:custGeom>
            <a:solidFill>
              <a:srgbClr val="F9F7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25" name="任意多边形 24"/>
            <p:cNvSpPr/>
            <p:nvPr>
              <p:custDataLst>
                <p:tags r:id="rId19"/>
              </p:custDataLst>
            </p:nvPr>
          </p:nvSpPr>
          <p:spPr>
            <a:xfrm>
              <a:off x="9730" y="3493"/>
              <a:ext cx="4070" cy="81"/>
            </a:xfrm>
            <a:custGeom>
              <a:avLst/>
              <a:gdLst>
                <a:gd name="sw" fmla="*/ 1 w 4069"/>
                <a:gd name="sh" fmla="*/ 1 h 80"/>
                <a:gd name="mins" fmla="min sw sh"/>
                <a:gd name="dsw" fmla="+- 0 sw mins"/>
                <a:gd name="dsh" fmla="+- 0 sh mins"/>
                <a:gd name="p0x0" fmla="*/ 169 w 4069"/>
                <a:gd name="p0y0" fmla="*/ 0 h 80"/>
                <a:gd name="p0x1" fmla="*/ 3949 w 4069"/>
                <a:gd name="p0y1" fmla="*/ 0 h 80"/>
                <a:gd name="p0x2" fmla="*/ 3993 w 4069"/>
                <a:gd name="p0y2" fmla="*/ 0 h 80"/>
                <a:gd name="p0x3" fmla="*/ 4034 w 4069"/>
                <a:gd name="p0y3" fmla="*/ 11 h 80"/>
                <a:gd name="p0x4" fmla="*/ 4069 w 4069"/>
                <a:gd name="p0y4" fmla="*/ 32 h 80"/>
                <a:gd name="p0x5" fmla="*/ 4054 w 4069"/>
                <a:gd name="p0y5" fmla="*/ 45 h 80"/>
                <a:gd name="p0x6" fmla="*/ 4054 w 4069"/>
                <a:gd name="p0y6" fmla="*/ 45 h 80"/>
                <a:gd name="p0x7" fmla="*/ 4023 w 4069"/>
                <a:gd name="p0y7" fmla="*/ 25 h 80"/>
                <a:gd name="p0x8" fmla="*/ 3987 w 4069"/>
                <a:gd name="p0y8" fmla="*/ 15 h 80"/>
                <a:gd name="p0x9" fmla="*/ 3949 w 4069"/>
                <a:gd name="p0y9" fmla="*/ 15 h 80"/>
                <a:gd name="p0x10" fmla="*/ 169 w 4069"/>
                <a:gd name="p0y10" fmla="*/ 15 h 80"/>
                <a:gd name="p0x11" fmla="*/ 107 w 4069"/>
                <a:gd name="p0y11" fmla="*/ 15 h 80"/>
                <a:gd name="p0x12" fmla="*/ 51 w 4069"/>
                <a:gd name="p0y12" fmla="*/ 40 h 80"/>
                <a:gd name="p0x13" fmla="*/ 10 w 4069"/>
                <a:gd name="p0y13" fmla="*/ 80 h 80"/>
                <a:gd name="p0x14" fmla="*/ 0 w 4069"/>
                <a:gd name="p0y14" fmla="*/ 70 h 80"/>
                <a:gd name="p0x15" fmla="*/ 43 w 4069"/>
                <a:gd name="p0y15" fmla="*/ 26 h 80"/>
                <a:gd name="p0x16" fmla="*/ 103 w 4069"/>
                <a:gd name="p0y16" fmla="*/ 0 h 80"/>
                <a:gd name="p0x17" fmla="*/ 169 w 4069"/>
                <a:gd name="p0y17" fmla="*/ 0 h 80"/>
              </a:gdLst>
              <a:ahLst/>
              <a:cxnLst/>
              <a:pathLst>
                <a:path w="4070" h="81">
                  <a:moveTo>
                    <a:pt x="170" y="0"/>
                  </a:moveTo>
                  <a:lnTo>
                    <a:pt x="3950" y="0"/>
                  </a:lnTo>
                  <a:cubicBezTo>
                    <a:pt x="3994" y="0"/>
                    <a:pt x="4035" y="12"/>
                    <a:pt x="4070" y="32"/>
                  </a:cubicBezTo>
                  <a:lnTo>
                    <a:pt x="4055" y="45"/>
                  </a:lnTo>
                  <a:lnTo>
                    <a:pt x="4055" y="45"/>
                  </a:lnTo>
                  <a:cubicBezTo>
                    <a:pt x="4024" y="26"/>
                    <a:pt x="3988" y="15"/>
                    <a:pt x="3950" y="15"/>
                  </a:cubicBezTo>
                  <a:lnTo>
                    <a:pt x="170" y="15"/>
                  </a:lnTo>
                  <a:cubicBezTo>
                    <a:pt x="108" y="15"/>
                    <a:pt x="51" y="40"/>
                    <a:pt x="11" y="81"/>
                  </a:cubicBezTo>
                  <a:lnTo>
                    <a:pt x="0" y="70"/>
                  </a:lnTo>
                  <a:cubicBezTo>
                    <a:pt x="43" y="27"/>
                    <a:pt x="103" y="0"/>
                    <a:pt x="170" y="0"/>
                  </a:cubicBezTo>
                  <a:close/>
                </a:path>
              </a:pathLst>
            </a:custGeom>
            <a:solidFill>
              <a:srgbClr val="E8DC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26" name="任意多边形 25"/>
            <p:cNvSpPr/>
            <p:nvPr>
              <p:custDataLst>
                <p:tags r:id="rId20"/>
              </p:custDataLst>
            </p:nvPr>
          </p:nvSpPr>
          <p:spPr>
            <a:xfrm>
              <a:off x="13785" y="3525"/>
              <a:ext cx="135" cy="2198"/>
            </a:xfrm>
            <a:custGeom>
              <a:avLst/>
              <a:gdLst>
                <a:gd name="sw" fmla="*/ 1 w 135"/>
                <a:gd name="sh" fmla="*/ 1 h 2197"/>
                <a:gd name="mins" fmla="min sw sh"/>
                <a:gd name="dsw" fmla="+- 0 sw mins"/>
                <a:gd name="dsh" fmla="+- 0 sh mins"/>
                <a:gd name="p0x0" fmla="*/ 135 w 135"/>
                <a:gd name="p0y0" fmla="*/ 207 h 2197"/>
                <a:gd name="p0x1" fmla="*/ 135 w 135"/>
                <a:gd name="p0y1" fmla="*/ 1989 h 2197"/>
                <a:gd name="p0x2" fmla="*/ 135 w 135"/>
                <a:gd name="p0y2" fmla="*/ 2078 h 2197"/>
                <a:gd name="p0x3" fmla="*/ 86 w 135"/>
                <a:gd name="p0y3" fmla="*/ 2156 h 2197"/>
                <a:gd name="p0x4" fmla="*/ 15 w 135"/>
                <a:gd name="p0y4" fmla="*/ 2197 h 2197"/>
                <a:gd name="p0x5" fmla="*/ 0 w 135"/>
                <a:gd name="p0y5" fmla="*/ 2184 h 2197"/>
                <a:gd name="p0x6" fmla="*/ 0 w 135"/>
                <a:gd name="p0y6" fmla="*/ 2184 h 2197"/>
                <a:gd name="p0x7" fmla="*/ 62 w 135"/>
                <a:gd name="p0y7" fmla="*/ 2145 h 2197"/>
                <a:gd name="p0x8" fmla="*/ 105 w 135"/>
                <a:gd name="p0y8" fmla="*/ 2073 h 2197"/>
                <a:gd name="p0x9" fmla="*/ 105 w 135"/>
                <a:gd name="p0y9" fmla="*/ 1989 h 2197"/>
                <a:gd name="p0x10" fmla="*/ 105 w 135"/>
                <a:gd name="p0y10" fmla="*/ 207 h 2197"/>
                <a:gd name="p0x11" fmla="*/ 105 w 135"/>
                <a:gd name="p0y11" fmla="*/ 124 h 2197"/>
                <a:gd name="p0x12" fmla="*/ 62 w 135"/>
                <a:gd name="p0y12" fmla="*/ 51 h 2197"/>
                <a:gd name="p0x13" fmla="*/ 0 w 135"/>
                <a:gd name="p0y13" fmla="*/ 12 h 2197"/>
                <a:gd name="p0x14" fmla="*/ 15 w 135"/>
                <a:gd name="p0y14" fmla="*/ 0 h 2197"/>
                <a:gd name="p0x15" fmla="*/ 15 w 135"/>
                <a:gd name="p0y15" fmla="*/ 0 h 2197"/>
                <a:gd name="p0x16" fmla="*/ 86 w 135"/>
                <a:gd name="p0y16" fmla="*/ 41 h 2197"/>
                <a:gd name="p0x17" fmla="*/ 135 w 135"/>
                <a:gd name="p0y17" fmla="*/ 119 h 2197"/>
                <a:gd name="p0x18" fmla="*/ 135 w 135"/>
                <a:gd name="p0y18" fmla="*/ 207 h 219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D650C7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>
              <p:custDataLst>
                <p:tags r:id="rId21"/>
              </p:custDataLst>
            </p:nvPr>
          </p:nvSpPr>
          <p:spPr>
            <a:xfrm>
              <a:off x="9730" y="5674"/>
              <a:ext cx="4070" cy="81"/>
            </a:xfrm>
            <a:custGeom>
              <a:avLst/>
              <a:gdLst>
                <a:gd name="sw" fmla="*/ 1 w 4069"/>
                <a:gd name="sh" fmla="*/ 1 h 80"/>
                <a:gd name="mins" fmla="min sw sh"/>
                <a:gd name="dsw" fmla="+- 0 sw mins"/>
                <a:gd name="dsh" fmla="+- 0 sh mins"/>
                <a:gd name="p0x0" fmla="*/ 3949 w 4069"/>
                <a:gd name="p0y0" fmla="*/ 80 h 80"/>
                <a:gd name="p0x1" fmla="*/ 169 w 4069"/>
                <a:gd name="p0y1" fmla="*/ 80 h 80"/>
                <a:gd name="p0x2" fmla="*/ 103 w 4069"/>
                <a:gd name="p0y2" fmla="*/ 80 h 80"/>
                <a:gd name="p0x3" fmla="*/ 43 w 4069"/>
                <a:gd name="p0y3" fmla="*/ 54 h 80"/>
                <a:gd name="p0x4" fmla="*/ 0 w 4069"/>
                <a:gd name="p0y4" fmla="*/ 10 h 80"/>
                <a:gd name="p0x5" fmla="*/ 10 w 4069"/>
                <a:gd name="p0y5" fmla="*/ 0 h 80"/>
                <a:gd name="p0x6" fmla="*/ 51 w 4069"/>
                <a:gd name="p0y6" fmla="*/ 40 h 80"/>
                <a:gd name="p0x7" fmla="*/ 107 w 4069"/>
                <a:gd name="p0y7" fmla="*/ 65 h 80"/>
                <a:gd name="p0x8" fmla="*/ 169 w 4069"/>
                <a:gd name="p0y8" fmla="*/ 65 h 80"/>
                <a:gd name="p0x9" fmla="*/ 3949 w 4069"/>
                <a:gd name="p0y9" fmla="*/ 65 h 80"/>
                <a:gd name="p0x10" fmla="*/ 3987 w 4069"/>
                <a:gd name="p0y10" fmla="*/ 65 h 80"/>
                <a:gd name="p0x11" fmla="*/ 4023 w 4069"/>
                <a:gd name="p0y11" fmla="*/ 54 h 80"/>
                <a:gd name="p0x12" fmla="*/ 4054 w 4069"/>
                <a:gd name="p0y12" fmla="*/ 35 h 80"/>
                <a:gd name="p0x13" fmla="*/ 4069 w 4069"/>
                <a:gd name="p0y13" fmla="*/ 48 h 80"/>
                <a:gd name="p0x14" fmla="*/ 4069 w 4069"/>
                <a:gd name="p0y14" fmla="*/ 48 h 80"/>
                <a:gd name="p0x15" fmla="*/ 4034 w 4069"/>
                <a:gd name="p0y15" fmla="*/ 69 h 80"/>
                <a:gd name="p0x16" fmla="*/ 3993 w 4069"/>
                <a:gd name="p0y16" fmla="*/ 80 h 80"/>
                <a:gd name="p0x17" fmla="*/ 3949 w 4069"/>
                <a:gd name="p0y17" fmla="*/ 80 h 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E8DC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任意多边形 27"/>
            <p:cNvSpPr/>
            <p:nvPr>
              <p:custDataLst>
                <p:tags r:id="rId22"/>
              </p:custDataLst>
            </p:nvPr>
          </p:nvSpPr>
          <p:spPr>
            <a:xfrm>
              <a:off x="9660" y="3563"/>
              <a:ext cx="80" cy="2121"/>
            </a:xfrm>
            <a:custGeom>
              <a:avLst/>
              <a:gdLst>
                <a:gd name="sw" fmla="*/ 1 w 80"/>
                <a:gd name="sh" fmla="*/ 1 h 2121"/>
                <a:gd name="mins" fmla="min sw sh"/>
                <a:gd name="dsw" fmla="+- 0 sw mins"/>
                <a:gd name="dsh" fmla="+- 0 sh mins"/>
                <a:gd name="p0x0" fmla="*/ 0 w 80"/>
                <a:gd name="p0y0" fmla="*/ 1951 h 2121"/>
                <a:gd name="p0x1" fmla="*/ 0 w 80"/>
                <a:gd name="p0y1" fmla="*/ 169 h 2121"/>
                <a:gd name="p0x2" fmla="*/ 0 w 80"/>
                <a:gd name="p0y2" fmla="*/ 103 h 2121"/>
                <a:gd name="p0x3" fmla="*/ 26 w 80"/>
                <a:gd name="p0y3" fmla="*/ 43 h 2121"/>
                <a:gd name="p0x4" fmla="*/ 70 w 80"/>
                <a:gd name="p0y4" fmla="*/ 0 h 2121"/>
                <a:gd name="p0x5" fmla="*/ 80 w 80"/>
                <a:gd name="p0y5" fmla="*/ 10 h 2121"/>
                <a:gd name="p0x6" fmla="*/ 40 w 80"/>
                <a:gd name="p0y6" fmla="*/ 51 h 2121"/>
                <a:gd name="p0x7" fmla="*/ 15 w 80"/>
                <a:gd name="p0y7" fmla="*/ 107 h 2121"/>
                <a:gd name="p0x8" fmla="*/ 15 w 80"/>
                <a:gd name="p0y8" fmla="*/ 169 h 2121"/>
                <a:gd name="p0x9" fmla="*/ 15 w 80"/>
                <a:gd name="p0y9" fmla="*/ 1951 h 2121"/>
                <a:gd name="p0x10" fmla="*/ 15 w 80"/>
                <a:gd name="p0y10" fmla="*/ 2013 h 2121"/>
                <a:gd name="p0x11" fmla="*/ 40 w 80"/>
                <a:gd name="p0y11" fmla="*/ 2070 h 2121"/>
                <a:gd name="p0x12" fmla="*/ 80 w 80"/>
                <a:gd name="p0y12" fmla="*/ 2110 h 2121"/>
                <a:gd name="p0x13" fmla="*/ 70 w 80"/>
                <a:gd name="p0y13" fmla="*/ 2121 h 2121"/>
                <a:gd name="p0x14" fmla="*/ 26 w 80"/>
                <a:gd name="p0y14" fmla="*/ 2077 h 2121"/>
                <a:gd name="p0x15" fmla="*/ 0 w 80"/>
                <a:gd name="p0y15" fmla="*/ 2017 h 2121"/>
                <a:gd name="p0x16" fmla="*/ 0 w 80"/>
                <a:gd name="p0y16" fmla="*/ 1951 h 212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E8DC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0" name="文本框 29"/>
          <p:cNvSpPr txBox="1"/>
          <p:nvPr>
            <p:custDataLst>
              <p:tags r:id="rId23"/>
            </p:custDataLst>
          </p:nvPr>
        </p:nvSpPr>
        <p:spPr>
          <a:xfrm>
            <a:off x="6939629" y="2674439"/>
            <a:ext cx="108444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350" b="1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③</a:t>
            </a:r>
            <a:r>
              <a:rPr lang="en-US" altLang="zh-CN" sz="1350" b="1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</a:t>
            </a:r>
            <a:r>
              <a:rPr lang="zh-CN" altLang="en-US" sz="1350" b="1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获得资源</a:t>
            </a:r>
            <a:endParaRPr lang="zh-CN" altLang="en-US" sz="1350" b="1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24"/>
            </p:custDataLst>
          </p:nvPr>
        </p:nvSpPr>
        <p:spPr>
          <a:xfrm>
            <a:off x="6491212" y="2989717"/>
            <a:ext cx="19812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200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掉落即时弹窗，强化获得感</a:t>
            </a:r>
            <a:endParaRPr sz="1200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25"/>
            </p:custDataLst>
          </p:nvPr>
        </p:nvSpPr>
        <p:spPr>
          <a:xfrm>
            <a:off x="8919845" y="2222500"/>
            <a:ext cx="2695575" cy="1426845"/>
          </a:xfrm>
          <a:custGeom>
            <a:avLst/>
            <a:gdLst>
              <a:gd name="sw" fmla="*/ 1 w 4245"/>
              <a:gd name="sh" fmla="*/ 1 h 2246"/>
              <a:gd name="mins" fmla="min sw sh"/>
              <a:gd name="dsw" fmla="+- 0 sw mins"/>
              <a:gd name="dsh" fmla="+- 0 sh mins"/>
              <a:gd name="p0x0" fmla="*/ 240 w 4245"/>
              <a:gd name="p0y0" fmla="*/ 0 h 2246"/>
              <a:gd name="p0x1" fmla="*/ 4005 w 4245"/>
              <a:gd name="p0y1" fmla="*/ 0 h 2246"/>
              <a:gd name="p0x2" fmla="*/ 4137 w 4245"/>
              <a:gd name="p0y2" fmla="*/ 0 h 2246"/>
              <a:gd name="p0x3" fmla="*/ 4245 w 4245"/>
              <a:gd name="p0y3" fmla="*/ 107 h 2246"/>
              <a:gd name="p0x4" fmla="*/ 4245 w 4245"/>
              <a:gd name="p0y4" fmla="*/ 240 h 2246"/>
              <a:gd name="p0x5" fmla="*/ 4245 w 4245"/>
              <a:gd name="p0y5" fmla="*/ 2006 h 2246"/>
              <a:gd name="p0x6" fmla="*/ 4245 w 4245"/>
              <a:gd name="p0y6" fmla="*/ 2139 h 2246"/>
              <a:gd name="p0x7" fmla="*/ 4137 w 4245"/>
              <a:gd name="p0y7" fmla="*/ 2246 h 2246"/>
              <a:gd name="p0x8" fmla="*/ 4005 w 4245"/>
              <a:gd name="p0y8" fmla="*/ 2246 h 2246"/>
              <a:gd name="p0x9" fmla="*/ 240 w 4245"/>
              <a:gd name="p0y9" fmla="*/ 2246 h 2246"/>
              <a:gd name="p0x10" fmla="*/ 107 w 4245"/>
              <a:gd name="p0y10" fmla="*/ 2246 h 2246"/>
              <a:gd name="p0x11" fmla="*/ 0 w 4245"/>
              <a:gd name="p0y11" fmla="*/ 2139 h 2246"/>
              <a:gd name="p0x12" fmla="*/ 0 w 4245"/>
              <a:gd name="p0y12" fmla="*/ 2006 h 2246"/>
              <a:gd name="p0x13" fmla="*/ 0 w 4245"/>
              <a:gd name="p0y13" fmla="*/ 240 h 2246"/>
              <a:gd name="p0x14" fmla="*/ 0 w 4245"/>
              <a:gd name="p0y14" fmla="*/ 107 h 2246"/>
              <a:gd name="p0x15" fmla="*/ 107 w 4245"/>
              <a:gd name="p0y15" fmla="*/ 0 h 2246"/>
              <a:gd name="p0x16" fmla="*/ 240 w 4245"/>
              <a:gd name="p0y16" fmla="*/ 0 h 224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7FF"/>
          </a:solidFill>
          <a:ln w="9525" cmpd="sng">
            <a:solidFill>
              <a:srgbClr val="E8DCF0"/>
            </a:solidFill>
            <a:prstDash val="solid"/>
          </a:ln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26"/>
            </p:custDataLst>
          </p:nvPr>
        </p:nvSpPr>
        <p:spPr>
          <a:xfrm>
            <a:off x="9725692" y="2674439"/>
            <a:ext cx="108444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350" b="1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④</a:t>
            </a:r>
            <a:r>
              <a:rPr lang="en-US" altLang="zh-CN" sz="1350" b="1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</a:t>
            </a:r>
            <a:r>
              <a:rPr lang="zh-CN" altLang="en-US" sz="1350" b="1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提升战力</a:t>
            </a:r>
            <a:endParaRPr lang="zh-CN" altLang="en-US" sz="1350" b="1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27"/>
            </p:custDataLst>
          </p:nvPr>
        </p:nvSpPr>
        <p:spPr>
          <a:xfrm>
            <a:off x="9306001" y="2989717"/>
            <a:ext cx="1923898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zh-CN" altLang="en-US" sz="1200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数值跳涨</a:t>
            </a:r>
            <a:r>
              <a:rPr lang="en-US" altLang="zh-CN" sz="1200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+</a:t>
            </a:r>
            <a:r>
              <a:rPr lang="zh-CN" altLang="en-US" sz="1200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战力榜排名变化</a:t>
            </a:r>
            <a:endParaRPr lang="zh-CN" altLang="en-US" sz="1200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grpSp>
        <p:nvGrpSpPr>
          <p:cNvPr id="83" name="组合 82"/>
          <p:cNvGrpSpPr/>
          <p:nvPr/>
        </p:nvGrpSpPr>
        <p:grpSpPr>
          <a:xfrm>
            <a:off x="571500" y="3730625"/>
            <a:ext cx="2705100" cy="1436370"/>
            <a:chOff x="900" y="5875"/>
            <a:chExt cx="4260" cy="2262"/>
          </a:xfrm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grpSpPr>
        <p:sp>
          <p:nvSpPr>
            <p:cNvPr id="37" name="任意多边形 36"/>
            <p:cNvSpPr/>
            <p:nvPr>
              <p:custDataLst>
                <p:tags r:id="rId28"/>
              </p:custDataLst>
            </p:nvPr>
          </p:nvSpPr>
          <p:spPr>
            <a:xfrm>
              <a:off x="900" y="5875"/>
              <a:ext cx="4260" cy="2262"/>
            </a:xfrm>
            <a:custGeom>
              <a:avLst/>
              <a:gdLst>
                <a:gd name="sw" fmla="*/ 1 w 4260"/>
                <a:gd name="sh" fmla="*/ 1 h 2262"/>
                <a:gd name="mins" fmla="min sw sh"/>
                <a:gd name="dsw" fmla="+- 0 sw mins"/>
                <a:gd name="dsh" fmla="+- 0 sh mins"/>
                <a:gd name="p0x0" fmla="*/ 240 w 4260"/>
                <a:gd name="p0y0" fmla="*/ 0 h 2262"/>
                <a:gd name="p0x1" fmla="*/ 4020 w 4260"/>
                <a:gd name="p0y1" fmla="*/ 0 h 2262"/>
                <a:gd name="p0x2" fmla="*/ 4152 w 4260"/>
                <a:gd name="p0y2" fmla="*/ 0 h 2262"/>
                <a:gd name="p0x3" fmla="*/ 4260 w 4260"/>
                <a:gd name="p0y3" fmla="*/ 107 h 2262"/>
                <a:gd name="p0x4" fmla="*/ 4260 w 4260"/>
                <a:gd name="p0y4" fmla="*/ 240 h 2262"/>
                <a:gd name="p0x5" fmla="*/ 4260 w 4260"/>
                <a:gd name="p0y5" fmla="*/ 2022 h 2262"/>
                <a:gd name="p0x6" fmla="*/ 4260 w 4260"/>
                <a:gd name="p0y6" fmla="*/ 2154 h 2262"/>
                <a:gd name="p0x7" fmla="*/ 4152 w 4260"/>
                <a:gd name="p0y7" fmla="*/ 2262 h 2262"/>
                <a:gd name="p0x8" fmla="*/ 4020 w 4260"/>
                <a:gd name="p0y8" fmla="*/ 2262 h 2262"/>
                <a:gd name="p0x9" fmla="*/ 240 w 4260"/>
                <a:gd name="p0y9" fmla="*/ 2262 h 2262"/>
                <a:gd name="p0x10" fmla="*/ 107 w 4260"/>
                <a:gd name="p0y10" fmla="*/ 2262 h 2262"/>
                <a:gd name="p0x11" fmla="*/ 0 w 4260"/>
                <a:gd name="p0y11" fmla="*/ 2154 h 2262"/>
                <a:gd name="p0x12" fmla="*/ 0 w 4260"/>
                <a:gd name="p0y12" fmla="*/ 2022 h 2262"/>
                <a:gd name="p0x13" fmla="*/ 0 w 4260"/>
                <a:gd name="p0y13" fmla="*/ 240 h 2262"/>
                <a:gd name="p0x14" fmla="*/ 0 w 4260"/>
                <a:gd name="p0y14" fmla="*/ 107 h 2262"/>
                <a:gd name="p0x15" fmla="*/ 107 w 4260"/>
                <a:gd name="p0y15" fmla="*/ 0 h 2262"/>
                <a:gd name="p0x16" fmla="*/ 240 w 4260"/>
                <a:gd name="p0y16" fmla="*/ 0 h 2262"/>
              </a:gdLst>
              <a:ahLst/>
              <a:cxnLst/>
              <a:pathLst>
                <a:path w="4260" h="2262">
                  <a:moveTo>
                    <a:pt x="240" y="0"/>
                  </a:moveTo>
                  <a:lnTo>
                    <a:pt x="4020" y="0"/>
                  </a:lnTo>
                  <a:cubicBezTo>
                    <a:pt x="4153" y="0"/>
                    <a:pt x="4260" y="107"/>
                    <a:pt x="4260" y="240"/>
                  </a:cubicBezTo>
                  <a:lnTo>
                    <a:pt x="4260" y="2022"/>
                  </a:lnTo>
                  <a:cubicBezTo>
                    <a:pt x="4260" y="2155"/>
                    <a:pt x="4153" y="2262"/>
                    <a:pt x="4020" y="2262"/>
                  </a:cubicBezTo>
                  <a:lnTo>
                    <a:pt x="240" y="2262"/>
                  </a:lnTo>
                  <a:cubicBezTo>
                    <a:pt x="107" y="2262"/>
                    <a:pt x="0" y="2155"/>
                    <a:pt x="0" y="2022"/>
                  </a:cubicBezTo>
                  <a:lnTo>
                    <a:pt x="0" y="240"/>
                  </a:lnTo>
                  <a:cubicBezTo>
                    <a:pt x="0" y="107"/>
                    <a:pt x="107" y="0"/>
                    <a:pt x="240" y="0"/>
                  </a:cubicBezTo>
                  <a:close/>
                </a:path>
              </a:pathLst>
            </a:custGeom>
            <a:solidFill>
              <a:srgbClr val="F9F7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38" name="任意多边形 37"/>
            <p:cNvSpPr/>
            <p:nvPr>
              <p:custDataLst>
                <p:tags r:id="rId29"/>
              </p:custDataLst>
            </p:nvPr>
          </p:nvSpPr>
          <p:spPr>
            <a:xfrm>
              <a:off x="932" y="5875"/>
              <a:ext cx="4157" cy="135"/>
            </a:xfrm>
            <a:custGeom>
              <a:avLst/>
              <a:gdLst>
                <a:gd name="sw" fmla="*/ 1 w 4157"/>
                <a:gd name="sh" fmla="*/ 1 h 134"/>
                <a:gd name="mins" fmla="min sw sh"/>
                <a:gd name="dsw" fmla="+- 0 sw mins"/>
                <a:gd name="dsh" fmla="+- 0 sh mins"/>
                <a:gd name="p0x0" fmla="*/ 207 w 4157"/>
                <a:gd name="p0y0" fmla="*/ 0 h 134"/>
                <a:gd name="p0x1" fmla="*/ 3987 w 4157"/>
                <a:gd name="p0y1" fmla="*/ 0 h 134"/>
                <a:gd name="p0x2" fmla="*/ 4054 w 4157"/>
                <a:gd name="p0y2" fmla="*/ 0 h 134"/>
                <a:gd name="p0x3" fmla="*/ 4114 w 4157"/>
                <a:gd name="p0y3" fmla="*/ 26 h 134"/>
                <a:gd name="p0x4" fmla="*/ 4157 w 4157"/>
                <a:gd name="p0y4" fmla="*/ 70 h 134"/>
                <a:gd name="p0x5" fmla="*/ 4136 w 4157"/>
                <a:gd name="p0y5" fmla="*/ 91 h 134"/>
                <a:gd name="p0x6" fmla="*/ 4098 w 4157"/>
                <a:gd name="p0y6" fmla="*/ 53 h 134"/>
                <a:gd name="p0x7" fmla="*/ 4045 w 4157"/>
                <a:gd name="p0y7" fmla="*/ 30 h 134"/>
                <a:gd name="p0x8" fmla="*/ 3987 w 4157"/>
                <a:gd name="p0y8" fmla="*/ 30 h 134"/>
                <a:gd name="p0x9" fmla="*/ 207 w 4157"/>
                <a:gd name="p0y9" fmla="*/ 30 h 134"/>
                <a:gd name="p0x10" fmla="*/ 124 w 4157"/>
                <a:gd name="p0y10" fmla="*/ 30 h 134"/>
                <a:gd name="p0x11" fmla="*/ 51 w 4157"/>
                <a:gd name="p0y11" fmla="*/ 72 h 134"/>
                <a:gd name="p0x12" fmla="*/ 12 w 4157"/>
                <a:gd name="p0y12" fmla="*/ 134 h 134"/>
                <a:gd name="p0x13" fmla="*/ 0 w 4157"/>
                <a:gd name="p0y13" fmla="*/ 120 h 134"/>
                <a:gd name="p0x14" fmla="*/ 0 w 4157"/>
                <a:gd name="p0y14" fmla="*/ 119 h 134"/>
                <a:gd name="p0x15" fmla="*/ 41 w 4157"/>
                <a:gd name="p0y15" fmla="*/ 48 h 134"/>
                <a:gd name="p0x16" fmla="*/ 119 w 4157"/>
                <a:gd name="p0y16" fmla="*/ 0 h 134"/>
                <a:gd name="p0x17" fmla="*/ 207 w 4157"/>
                <a:gd name="p0y17" fmla="*/ 0 h 13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D650C7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任意多边形 38"/>
            <p:cNvSpPr/>
            <p:nvPr>
              <p:custDataLst>
                <p:tags r:id="rId30"/>
              </p:custDataLst>
            </p:nvPr>
          </p:nvSpPr>
          <p:spPr>
            <a:xfrm>
              <a:off x="5025" y="5945"/>
              <a:ext cx="135" cy="2160"/>
            </a:xfrm>
            <a:custGeom>
              <a:avLst/>
              <a:gdLst>
                <a:gd name="sw" fmla="*/ 1 w 135"/>
                <a:gd name="sh" fmla="*/ 1 h 2159"/>
                <a:gd name="mins" fmla="min sw sh"/>
                <a:gd name="dsw" fmla="+- 0 sw mins"/>
                <a:gd name="dsh" fmla="+- 0 sh mins"/>
                <a:gd name="p0x0" fmla="*/ 135 w 135"/>
                <a:gd name="p0y0" fmla="*/ 169 h 2159"/>
                <a:gd name="p0x1" fmla="*/ 135 w 135"/>
                <a:gd name="p0y1" fmla="*/ 1951 h 2159"/>
                <a:gd name="p0x2" fmla="*/ 135 w 135"/>
                <a:gd name="p0y2" fmla="*/ 2040 h 2159"/>
                <a:gd name="p0x3" fmla="*/ 86 w 135"/>
                <a:gd name="p0y3" fmla="*/ 2118 h 2159"/>
                <a:gd name="p0x4" fmla="*/ 15 w 135"/>
                <a:gd name="p0y4" fmla="*/ 2159 h 2159"/>
                <a:gd name="p0x5" fmla="*/ 0 w 135"/>
                <a:gd name="p0y5" fmla="*/ 2146 h 2159"/>
                <a:gd name="p0x6" fmla="*/ 0 w 135"/>
                <a:gd name="p0y6" fmla="*/ 2146 h 2159"/>
                <a:gd name="p0x7" fmla="*/ 62 w 135"/>
                <a:gd name="p0y7" fmla="*/ 2107 h 2159"/>
                <a:gd name="p0x8" fmla="*/ 105 w 135"/>
                <a:gd name="p0y8" fmla="*/ 2035 h 2159"/>
                <a:gd name="p0x9" fmla="*/ 105 w 135"/>
                <a:gd name="p0y9" fmla="*/ 1951 h 2159"/>
                <a:gd name="p0x10" fmla="*/ 105 w 135"/>
                <a:gd name="p0y10" fmla="*/ 169 h 2159"/>
                <a:gd name="p0x11" fmla="*/ 105 w 135"/>
                <a:gd name="p0y11" fmla="*/ 111 h 2159"/>
                <a:gd name="p0x12" fmla="*/ 81 w 135"/>
                <a:gd name="p0y12" fmla="*/ 59 h 2159"/>
                <a:gd name="p0x13" fmla="*/ 43 w 135"/>
                <a:gd name="p0y13" fmla="*/ 21 h 2159"/>
                <a:gd name="p0x14" fmla="*/ 64 w 135"/>
                <a:gd name="p0y14" fmla="*/ 0 h 2159"/>
                <a:gd name="p0x15" fmla="*/ 108 w 135"/>
                <a:gd name="p0y15" fmla="*/ 43 h 2159"/>
                <a:gd name="p0x16" fmla="*/ 135 w 135"/>
                <a:gd name="p0y16" fmla="*/ 103 h 2159"/>
                <a:gd name="p0x17" fmla="*/ 135 w 135"/>
                <a:gd name="p0y17" fmla="*/ 169 h 2159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D650C7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0" name="任意多边形 39"/>
            <p:cNvSpPr/>
            <p:nvPr>
              <p:custDataLst>
                <p:tags r:id="rId31"/>
              </p:custDataLst>
            </p:nvPr>
          </p:nvSpPr>
          <p:spPr>
            <a:xfrm>
              <a:off x="970" y="8056"/>
              <a:ext cx="4070" cy="81"/>
            </a:xfrm>
            <a:custGeom>
              <a:avLst/>
              <a:gdLst>
                <a:gd name="sw" fmla="*/ 1 w 4069"/>
                <a:gd name="sh" fmla="*/ 1 h 80"/>
                <a:gd name="mins" fmla="min sw sh"/>
                <a:gd name="dsw" fmla="+- 0 sw mins"/>
                <a:gd name="dsh" fmla="+- 0 sh mins"/>
                <a:gd name="p0x0" fmla="*/ 3949 w 4069"/>
                <a:gd name="p0y0" fmla="*/ 80 h 80"/>
                <a:gd name="p0x1" fmla="*/ 169 w 4069"/>
                <a:gd name="p0y1" fmla="*/ 80 h 80"/>
                <a:gd name="p0x2" fmla="*/ 103 w 4069"/>
                <a:gd name="p0y2" fmla="*/ 80 h 80"/>
                <a:gd name="p0x3" fmla="*/ 43 w 4069"/>
                <a:gd name="p0y3" fmla="*/ 54 h 80"/>
                <a:gd name="p0x4" fmla="*/ 0 w 4069"/>
                <a:gd name="p0y4" fmla="*/ 10 h 80"/>
                <a:gd name="p0x5" fmla="*/ 10 w 4069"/>
                <a:gd name="p0y5" fmla="*/ 0 h 80"/>
                <a:gd name="p0x6" fmla="*/ 10 w 4069"/>
                <a:gd name="p0y6" fmla="*/ 0 h 80"/>
                <a:gd name="p0x7" fmla="*/ 51 w 4069"/>
                <a:gd name="p0y7" fmla="*/ 40 h 80"/>
                <a:gd name="p0x8" fmla="*/ 107 w 4069"/>
                <a:gd name="p0y8" fmla="*/ 65 h 80"/>
                <a:gd name="p0x9" fmla="*/ 169 w 4069"/>
                <a:gd name="p0y9" fmla="*/ 65 h 80"/>
                <a:gd name="p0x10" fmla="*/ 3949 w 4069"/>
                <a:gd name="p0y10" fmla="*/ 65 h 80"/>
                <a:gd name="p0x11" fmla="*/ 3987 w 4069"/>
                <a:gd name="p0y11" fmla="*/ 65 h 80"/>
                <a:gd name="p0x12" fmla="*/ 4023 w 4069"/>
                <a:gd name="p0y12" fmla="*/ 54 h 80"/>
                <a:gd name="p0x13" fmla="*/ 4054 w 4069"/>
                <a:gd name="p0y13" fmla="*/ 35 h 80"/>
                <a:gd name="p0x14" fmla="*/ 4069 w 4069"/>
                <a:gd name="p0y14" fmla="*/ 48 h 80"/>
                <a:gd name="p0x15" fmla="*/ 4069 w 4069"/>
                <a:gd name="p0y15" fmla="*/ 48 h 80"/>
                <a:gd name="p0x16" fmla="*/ 4034 w 4069"/>
                <a:gd name="p0y16" fmla="*/ 69 h 80"/>
                <a:gd name="p0x17" fmla="*/ 3993 w 4069"/>
                <a:gd name="p0y17" fmla="*/ 80 h 80"/>
                <a:gd name="p0x18" fmla="*/ 3949 w 4069"/>
                <a:gd name="p0y18" fmla="*/ 80 h 80"/>
              </a:gdLst>
              <a:ahLst/>
              <a:cxnLst/>
              <a:pathLst>
                <a:path w="4070" h="81">
                  <a:moveTo>
                    <a:pt x="3950" y="81"/>
                  </a:moveTo>
                  <a:lnTo>
                    <a:pt x="170" y="81"/>
                  </a:lnTo>
                  <a:cubicBezTo>
                    <a:pt x="103" y="81"/>
                    <a:pt x="43" y="54"/>
                    <a:pt x="0" y="11"/>
                  </a:cubicBezTo>
                  <a:lnTo>
                    <a:pt x="11" y="0"/>
                  </a:lnTo>
                  <a:lnTo>
                    <a:pt x="11" y="0"/>
                  </a:lnTo>
                  <a:cubicBezTo>
                    <a:pt x="51" y="41"/>
                    <a:pt x="108" y="66"/>
                    <a:pt x="170" y="66"/>
                  </a:cubicBezTo>
                  <a:lnTo>
                    <a:pt x="3950" y="66"/>
                  </a:lnTo>
                  <a:cubicBezTo>
                    <a:pt x="3988" y="66"/>
                    <a:pt x="4024" y="55"/>
                    <a:pt x="4055" y="36"/>
                  </a:cubicBezTo>
                  <a:lnTo>
                    <a:pt x="4070" y="49"/>
                  </a:lnTo>
                  <a:lnTo>
                    <a:pt x="4070" y="49"/>
                  </a:lnTo>
                  <a:cubicBezTo>
                    <a:pt x="4035" y="69"/>
                    <a:pt x="3994" y="81"/>
                    <a:pt x="3950" y="81"/>
                  </a:cubicBezTo>
                  <a:close/>
                </a:path>
              </a:pathLst>
            </a:custGeom>
            <a:solidFill>
              <a:srgbClr val="E8DC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41" name="任意多边形 40"/>
            <p:cNvSpPr/>
            <p:nvPr>
              <p:custDataLst>
                <p:tags r:id="rId32"/>
              </p:custDataLst>
            </p:nvPr>
          </p:nvSpPr>
          <p:spPr>
            <a:xfrm>
              <a:off x="900" y="5995"/>
              <a:ext cx="80" cy="2071"/>
            </a:xfrm>
            <a:custGeom>
              <a:avLst/>
              <a:gdLst>
                <a:gd name="sw" fmla="*/ 1 w 80"/>
                <a:gd name="sh" fmla="*/ 1 h 2071"/>
                <a:gd name="mins" fmla="min sw sh"/>
                <a:gd name="dsw" fmla="+- 0 sw mins"/>
                <a:gd name="dsh" fmla="+- 0 sh mins"/>
                <a:gd name="p0x0" fmla="*/ 0 w 80"/>
                <a:gd name="p0y0" fmla="*/ 1902 h 2071"/>
                <a:gd name="p0x1" fmla="*/ 0 w 80"/>
                <a:gd name="p0y1" fmla="*/ 120 h 2071"/>
                <a:gd name="p0x2" fmla="*/ 0 w 80"/>
                <a:gd name="p0y2" fmla="*/ 76 h 2071"/>
                <a:gd name="p0x3" fmla="*/ 11 w 80"/>
                <a:gd name="p0y3" fmla="*/ 35 h 2071"/>
                <a:gd name="p0x4" fmla="*/ 32 w 80"/>
                <a:gd name="p0y4" fmla="*/ 0 h 2071"/>
                <a:gd name="p0x5" fmla="*/ 45 w 80"/>
                <a:gd name="p0y5" fmla="*/ 15 h 2071"/>
                <a:gd name="p0x6" fmla="*/ 45 w 80"/>
                <a:gd name="p0y6" fmla="*/ 15 h 2071"/>
                <a:gd name="p0x7" fmla="*/ 25 w 80"/>
                <a:gd name="p0y7" fmla="*/ 45 h 2071"/>
                <a:gd name="p0x8" fmla="*/ 15 w 80"/>
                <a:gd name="p0y8" fmla="*/ 81 h 2071"/>
                <a:gd name="p0x9" fmla="*/ 15 w 80"/>
                <a:gd name="p0y9" fmla="*/ 120 h 2071"/>
                <a:gd name="p0x10" fmla="*/ 15 w 80"/>
                <a:gd name="p0y10" fmla="*/ 1902 h 2071"/>
                <a:gd name="p0x11" fmla="*/ 15 w 80"/>
                <a:gd name="p0y11" fmla="*/ 1964 h 2071"/>
                <a:gd name="p0x12" fmla="*/ 40 w 80"/>
                <a:gd name="p0y12" fmla="*/ 2020 h 2071"/>
                <a:gd name="p0x13" fmla="*/ 80 w 80"/>
                <a:gd name="p0y13" fmla="*/ 2061 h 2071"/>
                <a:gd name="p0x14" fmla="*/ 70 w 80"/>
                <a:gd name="p0y14" fmla="*/ 2071 h 2071"/>
                <a:gd name="p0x15" fmla="*/ 70 w 80"/>
                <a:gd name="p0y15" fmla="*/ 2071 h 2071"/>
                <a:gd name="p0x16" fmla="*/ 26 w 80"/>
                <a:gd name="p0y16" fmla="*/ 2028 h 2071"/>
                <a:gd name="p0x17" fmla="*/ 0 w 80"/>
                <a:gd name="p0y17" fmla="*/ 1968 h 2071"/>
                <a:gd name="p0x18" fmla="*/ 0 w 80"/>
                <a:gd name="p0y18" fmla="*/ 1902 h 2071"/>
              </a:gdLst>
              <a:ahLst/>
              <a:cxnLst/>
              <a:pathLst>
                <a:path w="80" h="2071">
                  <a:moveTo>
                    <a:pt x="0" y="1901"/>
                  </a:moveTo>
                  <a:lnTo>
                    <a:pt x="0" y="120"/>
                  </a:lnTo>
                  <a:cubicBezTo>
                    <a:pt x="0" y="76"/>
                    <a:pt x="12" y="35"/>
                    <a:pt x="32" y="0"/>
                  </a:cubicBezTo>
                  <a:lnTo>
                    <a:pt x="45" y="15"/>
                  </a:lnTo>
                  <a:lnTo>
                    <a:pt x="45" y="15"/>
                  </a:lnTo>
                  <a:cubicBezTo>
                    <a:pt x="26" y="46"/>
                    <a:pt x="15" y="82"/>
                    <a:pt x="15" y="120"/>
                  </a:cubicBezTo>
                  <a:lnTo>
                    <a:pt x="15" y="1901"/>
                  </a:lnTo>
                  <a:cubicBezTo>
                    <a:pt x="15" y="1963"/>
                    <a:pt x="40" y="2020"/>
                    <a:pt x="80" y="2060"/>
                  </a:cubicBezTo>
                  <a:lnTo>
                    <a:pt x="70" y="2071"/>
                  </a:lnTo>
                  <a:lnTo>
                    <a:pt x="70" y="2071"/>
                  </a:lnTo>
                  <a:cubicBezTo>
                    <a:pt x="27" y="2028"/>
                    <a:pt x="0" y="1968"/>
                    <a:pt x="0" y="1901"/>
                  </a:cubicBezTo>
                  <a:close/>
                </a:path>
              </a:pathLst>
            </a:custGeom>
            <a:solidFill>
              <a:srgbClr val="E8DC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43" name="文本框 42"/>
          <p:cNvSpPr txBox="1"/>
          <p:nvPr>
            <p:custDataLst>
              <p:tags r:id="rId33"/>
            </p:custDataLst>
          </p:nvPr>
        </p:nvSpPr>
        <p:spPr>
          <a:xfrm>
            <a:off x="1377029" y="4191743"/>
            <a:ext cx="108444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350" b="1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⑧</a:t>
            </a:r>
            <a:r>
              <a:rPr lang="en-US" altLang="zh-CN" sz="1350" b="1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</a:t>
            </a:r>
            <a:r>
              <a:rPr lang="zh-CN" altLang="en-US" sz="1350" b="1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再次成长</a:t>
            </a:r>
            <a:endParaRPr lang="zh-CN" altLang="en-US" sz="1350" b="1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34"/>
            </p:custDataLst>
          </p:nvPr>
        </p:nvSpPr>
        <p:spPr>
          <a:xfrm>
            <a:off x="852411" y="4507021"/>
            <a:ext cx="21336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200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属性面板对比，确认累积进步</a:t>
            </a:r>
            <a:endParaRPr sz="1200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grpSp>
        <p:nvGrpSpPr>
          <p:cNvPr id="84" name="组合 83"/>
          <p:cNvGrpSpPr/>
          <p:nvPr/>
        </p:nvGrpSpPr>
        <p:grpSpPr>
          <a:xfrm>
            <a:off x="3352800" y="3730625"/>
            <a:ext cx="2705100" cy="1436370"/>
            <a:chOff x="5280" y="5875"/>
            <a:chExt cx="4260" cy="2262"/>
          </a:xfrm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grpSpPr>
        <p:sp>
          <p:nvSpPr>
            <p:cNvPr id="46" name="任意多边形 45"/>
            <p:cNvSpPr/>
            <p:nvPr>
              <p:custDataLst>
                <p:tags r:id="rId35"/>
              </p:custDataLst>
            </p:nvPr>
          </p:nvSpPr>
          <p:spPr>
            <a:xfrm>
              <a:off x="5280" y="5875"/>
              <a:ext cx="4260" cy="2262"/>
            </a:xfrm>
            <a:custGeom>
              <a:avLst/>
              <a:gdLst>
                <a:gd name="sw" fmla="*/ 1 w 4260"/>
                <a:gd name="sh" fmla="*/ 1 h 2262"/>
                <a:gd name="mins" fmla="min sw sh"/>
                <a:gd name="dsw" fmla="+- 0 sw mins"/>
                <a:gd name="dsh" fmla="+- 0 sh mins"/>
                <a:gd name="p0x0" fmla="*/ 240 w 4260"/>
                <a:gd name="p0y0" fmla="*/ 0 h 2262"/>
                <a:gd name="p0x1" fmla="*/ 4020 w 4260"/>
                <a:gd name="p0y1" fmla="*/ 0 h 2262"/>
                <a:gd name="p0x2" fmla="*/ 4152 w 4260"/>
                <a:gd name="p0y2" fmla="*/ 0 h 2262"/>
                <a:gd name="p0x3" fmla="*/ 4260 w 4260"/>
                <a:gd name="p0y3" fmla="*/ 107 h 2262"/>
                <a:gd name="p0x4" fmla="*/ 4260 w 4260"/>
                <a:gd name="p0y4" fmla="*/ 240 h 2262"/>
                <a:gd name="p0x5" fmla="*/ 4260 w 4260"/>
                <a:gd name="p0y5" fmla="*/ 2022 h 2262"/>
                <a:gd name="p0x6" fmla="*/ 4260 w 4260"/>
                <a:gd name="p0y6" fmla="*/ 2154 h 2262"/>
                <a:gd name="p0x7" fmla="*/ 4152 w 4260"/>
                <a:gd name="p0y7" fmla="*/ 2262 h 2262"/>
                <a:gd name="p0x8" fmla="*/ 4020 w 4260"/>
                <a:gd name="p0y8" fmla="*/ 2262 h 2262"/>
                <a:gd name="p0x9" fmla="*/ 240 w 4260"/>
                <a:gd name="p0y9" fmla="*/ 2262 h 2262"/>
                <a:gd name="p0x10" fmla="*/ 107 w 4260"/>
                <a:gd name="p0y10" fmla="*/ 2262 h 2262"/>
                <a:gd name="p0x11" fmla="*/ 0 w 4260"/>
                <a:gd name="p0y11" fmla="*/ 2154 h 2262"/>
                <a:gd name="p0x12" fmla="*/ 0 w 4260"/>
                <a:gd name="p0y12" fmla="*/ 2022 h 2262"/>
                <a:gd name="p0x13" fmla="*/ 0 w 4260"/>
                <a:gd name="p0y13" fmla="*/ 240 h 2262"/>
                <a:gd name="p0x14" fmla="*/ 0 w 4260"/>
                <a:gd name="p0y14" fmla="*/ 107 h 2262"/>
                <a:gd name="p0x15" fmla="*/ 107 w 4260"/>
                <a:gd name="p0y15" fmla="*/ 0 h 2262"/>
                <a:gd name="p0x16" fmla="*/ 240 w 4260"/>
                <a:gd name="p0y16" fmla="*/ 0 h 2262"/>
              </a:gdLst>
              <a:ahLst/>
              <a:cxnLst/>
              <a:pathLst>
                <a:path w="4260" h="2262">
                  <a:moveTo>
                    <a:pt x="240" y="0"/>
                  </a:moveTo>
                  <a:lnTo>
                    <a:pt x="4020" y="0"/>
                  </a:lnTo>
                  <a:cubicBezTo>
                    <a:pt x="4153" y="0"/>
                    <a:pt x="4260" y="107"/>
                    <a:pt x="4260" y="240"/>
                  </a:cubicBezTo>
                  <a:lnTo>
                    <a:pt x="4260" y="2022"/>
                  </a:lnTo>
                  <a:cubicBezTo>
                    <a:pt x="4260" y="2155"/>
                    <a:pt x="4153" y="2262"/>
                    <a:pt x="4020" y="2262"/>
                  </a:cubicBezTo>
                  <a:lnTo>
                    <a:pt x="240" y="2262"/>
                  </a:lnTo>
                  <a:cubicBezTo>
                    <a:pt x="107" y="2262"/>
                    <a:pt x="0" y="2155"/>
                    <a:pt x="0" y="2022"/>
                  </a:cubicBezTo>
                  <a:lnTo>
                    <a:pt x="0" y="240"/>
                  </a:lnTo>
                  <a:cubicBezTo>
                    <a:pt x="0" y="107"/>
                    <a:pt x="107" y="0"/>
                    <a:pt x="240" y="0"/>
                  </a:cubicBezTo>
                  <a:close/>
                </a:path>
              </a:pathLst>
            </a:custGeom>
            <a:solidFill>
              <a:srgbClr val="F9F7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47" name="任意多边形 46"/>
            <p:cNvSpPr/>
            <p:nvPr>
              <p:custDataLst>
                <p:tags r:id="rId36"/>
              </p:custDataLst>
            </p:nvPr>
          </p:nvSpPr>
          <p:spPr>
            <a:xfrm>
              <a:off x="5312" y="5875"/>
              <a:ext cx="4157" cy="135"/>
            </a:xfrm>
            <a:custGeom>
              <a:avLst/>
              <a:gdLst>
                <a:gd name="sw" fmla="*/ 1 w 4157"/>
                <a:gd name="sh" fmla="*/ 1 h 134"/>
                <a:gd name="mins" fmla="min sw sh"/>
                <a:gd name="dsw" fmla="+- 0 sw mins"/>
                <a:gd name="dsh" fmla="+- 0 sh mins"/>
                <a:gd name="p0x0" fmla="*/ 207 w 4157"/>
                <a:gd name="p0y0" fmla="*/ 0 h 134"/>
                <a:gd name="p0x1" fmla="*/ 3987 w 4157"/>
                <a:gd name="p0y1" fmla="*/ 0 h 134"/>
                <a:gd name="p0x2" fmla="*/ 4054 w 4157"/>
                <a:gd name="p0y2" fmla="*/ 0 h 134"/>
                <a:gd name="p0x3" fmla="*/ 4114 w 4157"/>
                <a:gd name="p0y3" fmla="*/ 26 h 134"/>
                <a:gd name="p0x4" fmla="*/ 4157 w 4157"/>
                <a:gd name="p0y4" fmla="*/ 70 h 134"/>
                <a:gd name="p0x5" fmla="*/ 4136 w 4157"/>
                <a:gd name="p0y5" fmla="*/ 91 h 134"/>
                <a:gd name="p0x6" fmla="*/ 4098 w 4157"/>
                <a:gd name="p0y6" fmla="*/ 53 h 134"/>
                <a:gd name="p0x7" fmla="*/ 4045 w 4157"/>
                <a:gd name="p0y7" fmla="*/ 30 h 134"/>
                <a:gd name="p0x8" fmla="*/ 3987 w 4157"/>
                <a:gd name="p0y8" fmla="*/ 30 h 134"/>
                <a:gd name="p0x9" fmla="*/ 207 w 4157"/>
                <a:gd name="p0y9" fmla="*/ 30 h 134"/>
                <a:gd name="p0x10" fmla="*/ 124 w 4157"/>
                <a:gd name="p0y10" fmla="*/ 30 h 134"/>
                <a:gd name="p0x11" fmla="*/ 51 w 4157"/>
                <a:gd name="p0y11" fmla="*/ 72 h 134"/>
                <a:gd name="p0x12" fmla="*/ 12 w 4157"/>
                <a:gd name="p0y12" fmla="*/ 134 h 134"/>
                <a:gd name="p0x13" fmla="*/ 0 w 4157"/>
                <a:gd name="p0y13" fmla="*/ 120 h 134"/>
                <a:gd name="p0x14" fmla="*/ 0 w 4157"/>
                <a:gd name="p0y14" fmla="*/ 119 h 134"/>
                <a:gd name="p0x15" fmla="*/ 41 w 4157"/>
                <a:gd name="p0y15" fmla="*/ 48 h 134"/>
                <a:gd name="p0x16" fmla="*/ 119 w 4157"/>
                <a:gd name="p0y16" fmla="*/ 0 h 134"/>
                <a:gd name="p0x17" fmla="*/ 207 w 4157"/>
                <a:gd name="p0y17" fmla="*/ 0 h 13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D650C7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8" name="任意多边形 47"/>
            <p:cNvSpPr/>
            <p:nvPr>
              <p:custDataLst>
                <p:tags r:id="rId37"/>
              </p:custDataLst>
            </p:nvPr>
          </p:nvSpPr>
          <p:spPr>
            <a:xfrm>
              <a:off x="9405" y="5945"/>
              <a:ext cx="135" cy="2160"/>
            </a:xfrm>
            <a:custGeom>
              <a:avLst/>
              <a:gdLst>
                <a:gd name="sw" fmla="*/ 1 w 135"/>
                <a:gd name="sh" fmla="*/ 1 h 2159"/>
                <a:gd name="mins" fmla="min sw sh"/>
                <a:gd name="dsw" fmla="+- 0 sw mins"/>
                <a:gd name="dsh" fmla="+- 0 sh mins"/>
                <a:gd name="p0x0" fmla="*/ 135 w 135"/>
                <a:gd name="p0y0" fmla="*/ 169 h 2159"/>
                <a:gd name="p0x1" fmla="*/ 135 w 135"/>
                <a:gd name="p0y1" fmla="*/ 1951 h 2159"/>
                <a:gd name="p0x2" fmla="*/ 135 w 135"/>
                <a:gd name="p0y2" fmla="*/ 2040 h 2159"/>
                <a:gd name="p0x3" fmla="*/ 86 w 135"/>
                <a:gd name="p0y3" fmla="*/ 2118 h 2159"/>
                <a:gd name="p0x4" fmla="*/ 15 w 135"/>
                <a:gd name="p0y4" fmla="*/ 2159 h 2159"/>
                <a:gd name="p0x5" fmla="*/ 0 w 135"/>
                <a:gd name="p0y5" fmla="*/ 2146 h 2159"/>
                <a:gd name="p0x6" fmla="*/ 0 w 135"/>
                <a:gd name="p0y6" fmla="*/ 2146 h 2159"/>
                <a:gd name="p0x7" fmla="*/ 62 w 135"/>
                <a:gd name="p0y7" fmla="*/ 2107 h 2159"/>
                <a:gd name="p0x8" fmla="*/ 105 w 135"/>
                <a:gd name="p0y8" fmla="*/ 2035 h 2159"/>
                <a:gd name="p0x9" fmla="*/ 105 w 135"/>
                <a:gd name="p0y9" fmla="*/ 1951 h 2159"/>
                <a:gd name="p0x10" fmla="*/ 105 w 135"/>
                <a:gd name="p0y10" fmla="*/ 169 h 2159"/>
                <a:gd name="p0x11" fmla="*/ 105 w 135"/>
                <a:gd name="p0y11" fmla="*/ 111 h 2159"/>
                <a:gd name="p0x12" fmla="*/ 81 w 135"/>
                <a:gd name="p0y12" fmla="*/ 59 h 2159"/>
                <a:gd name="p0x13" fmla="*/ 43 w 135"/>
                <a:gd name="p0y13" fmla="*/ 21 h 2159"/>
                <a:gd name="p0x14" fmla="*/ 64 w 135"/>
                <a:gd name="p0y14" fmla="*/ 0 h 2159"/>
                <a:gd name="p0x15" fmla="*/ 108 w 135"/>
                <a:gd name="p0y15" fmla="*/ 43 h 2159"/>
                <a:gd name="p0x16" fmla="*/ 135 w 135"/>
                <a:gd name="p0y16" fmla="*/ 103 h 2159"/>
                <a:gd name="p0x17" fmla="*/ 135 w 135"/>
                <a:gd name="p0y17" fmla="*/ 169 h 2159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D650C7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9" name="任意多边形 48"/>
            <p:cNvSpPr/>
            <p:nvPr>
              <p:custDataLst>
                <p:tags r:id="rId38"/>
              </p:custDataLst>
            </p:nvPr>
          </p:nvSpPr>
          <p:spPr>
            <a:xfrm>
              <a:off x="5350" y="8056"/>
              <a:ext cx="4070" cy="81"/>
            </a:xfrm>
            <a:custGeom>
              <a:avLst/>
              <a:gdLst>
                <a:gd name="sw" fmla="*/ 1 w 4069"/>
                <a:gd name="sh" fmla="*/ 1 h 80"/>
                <a:gd name="mins" fmla="min sw sh"/>
                <a:gd name="dsw" fmla="+- 0 sw mins"/>
                <a:gd name="dsh" fmla="+- 0 sh mins"/>
                <a:gd name="p0x0" fmla="*/ 3949 w 4069"/>
                <a:gd name="p0y0" fmla="*/ 80 h 80"/>
                <a:gd name="p0x1" fmla="*/ 169 w 4069"/>
                <a:gd name="p0y1" fmla="*/ 80 h 80"/>
                <a:gd name="p0x2" fmla="*/ 103 w 4069"/>
                <a:gd name="p0y2" fmla="*/ 80 h 80"/>
                <a:gd name="p0x3" fmla="*/ 43 w 4069"/>
                <a:gd name="p0y3" fmla="*/ 54 h 80"/>
                <a:gd name="p0x4" fmla="*/ 0 w 4069"/>
                <a:gd name="p0y4" fmla="*/ 10 h 80"/>
                <a:gd name="p0x5" fmla="*/ 10 w 4069"/>
                <a:gd name="p0y5" fmla="*/ 0 h 80"/>
                <a:gd name="p0x6" fmla="*/ 51 w 4069"/>
                <a:gd name="p0y6" fmla="*/ 40 h 80"/>
                <a:gd name="p0x7" fmla="*/ 107 w 4069"/>
                <a:gd name="p0y7" fmla="*/ 65 h 80"/>
                <a:gd name="p0x8" fmla="*/ 169 w 4069"/>
                <a:gd name="p0y8" fmla="*/ 65 h 80"/>
                <a:gd name="p0x9" fmla="*/ 3949 w 4069"/>
                <a:gd name="p0y9" fmla="*/ 65 h 80"/>
                <a:gd name="p0x10" fmla="*/ 3987 w 4069"/>
                <a:gd name="p0y10" fmla="*/ 65 h 80"/>
                <a:gd name="p0x11" fmla="*/ 4023 w 4069"/>
                <a:gd name="p0y11" fmla="*/ 54 h 80"/>
                <a:gd name="p0x12" fmla="*/ 4054 w 4069"/>
                <a:gd name="p0y12" fmla="*/ 35 h 80"/>
                <a:gd name="p0x13" fmla="*/ 4069 w 4069"/>
                <a:gd name="p0y13" fmla="*/ 48 h 80"/>
                <a:gd name="p0x14" fmla="*/ 4069 w 4069"/>
                <a:gd name="p0y14" fmla="*/ 48 h 80"/>
                <a:gd name="p0x15" fmla="*/ 4034 w 4069"/>
                <a:gd name="p0y15" fmla="*/ 69 h 80"/>
                <a:gd name="p0x16" fmla="*/ 3993 w 4069"/>
                <a:gd name="p0y16" fmla="*/ 80 h 80"/>
                <a:gd name="p0x17" fmla="*/ 3949 w 4069"/>
                <a:gd name="p0y17" fmla="*/ 80 h 80"/>
              </a:gdLst>
              <a:ahLst/>
              <a:cxnLst/>
              <a:pathLst>
                <a:path w="4070" h="81">
                  <a:moveTo>
                    <a:pt x="3950" y="81"/>
                  </a:moveTo>
                  <a:lnTo>
                    <a:pt x="170" y="81"/>
                  </a:lnTo>
                  <a:cubicBezTo>
                    <a:pt x="103" y="81"/>
                    <a:pt x="43" y="54"/>
                    <a:pt x="0" y="11"/>
                  </a:cubicBezTo>
                  <a:lnTo>
                    <a:pt x="11" y="0"/>
                  </a:lnTo>
                  <a:cubicBezTo>
                    <a:pt x="51" y="41"/>
                    <a:pt x="108" y="66"/>
                    <a:pt x="170" y="66"/>
                  </a:cubicBezTo>
                  <a:lnTo>
                    <a:pt x="3950" y="66"/>
                  </a:lnTo>
                  <a:cubicBezTo>
                    <a:pt x="3988" y="66"/>
                    <a:pt x="4024" y="55"/>
                    <a:pt x="4055" y="36"/>
                  </a:cubicBezTo>
                  <a:lnTo>
                    <a:pt x="4070" y="49"/>
                  </a:lnTo>
                  <a:lnTo>
                    <a:pt x="4070" y="49"/>
                  </a:lnTo>
                  <a:cubicBezTo>
                    <a:pt x="4035" y="69"/>
                    <a:pt x="3994" y="81"/>
                    <a:pt x="3950" y="81"/>
                  </a:cubicBezTo>
                  <a:close/>
                </a:path>
              </a:pathLst>
            </a:custGeom>
            <a:solidFill>
              <a:srgbClr val="E8DC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50" name="任意多边形 49"/>
            <p:cNvSpPr/>
            <p:nvPr>
              <p:custDataLst>
                <p:tags r:id="rId39"/>
              </p:custDataLst>
            </p:nvPr>
          </p:nvSpPr>
          <p:spPr>
            <a:xfrm>
              <a:off x="5280" y="5995"/>
              <a:ext cx="80" cy="2071"/>
            </a:xfrm>
            <a:custGeom>
              <a:avLst/>
              <a:gdLst>
                <a:gd name="sw" fmla="*/ 1 w 80"/>
                <a:gd name="sh" fmla="*/ 1 h 2071"/>
                <a:gd name="mins" fmla="min sw sh"/>
                <a:gd name="dsw" fmla="+- 0 sw mins"/>
                <a:gd name="dsh" fmla="+- 0 sh mins"/>
                <a:gd name="p0x0" fmla="*/ 0 w 80"/>
                <a:gd name="p0y0" fmla="*/ 1902 h 2071"/>
                <a:gd name="p0x1" fmla="*/ 0 w 80"/>
                <a:gd name="p0y1" fmla="*/ 120 h 2071"/>
                <a:gd name="p0x2" fmla="*/ 0 w 80"/>
                <a:gd name="p0y2" fmla="*/ 76 h 2071"/>
                <a:gd name="p0x3" fmla="*/ 11 w 80"/>
                <a:gd name="p0y3" fmla="*/ 35 h 2071"/>
                <a:gd name="p0x4" fmla="*/ 32 w 80"/>
                <a:gd name="p0y4" fmla="*/ 0 h 2071"/>
                <a:gd name="p0x5" fmla="*/ 45 w 80"/>
                <a:gd name="p0y5" fmla="*/ 15 h 2071"/>
                <a:gd name="p0x6" fmla="*/ 45 w 80"/>
                <a:gd name="p0y6" fmla="*/ 15 h 2071"/>
                <a:gd name="p0x7" fmla="*/ 25 w 80"/>
                <a:gd name="p0y7" fmla="*/ 45 h 2071"/>
                <a:gd name="p0x8" fmla="*/ 15 w 80"/>
                <a:gd name="p0y8" fmla="*/ 81 h 2071"/>
                <a:gd name="p0x9" fmla="*/ 15 w 80"/>
                <a:gd name="p0y9" fmla="*/ 120 h 2071"/>
                <a:gd name="p0x10" fmla="*/ 15 w 80"/>
                <a:gd name="p0y10" fmla="*/ 1902 h 2071"/>
                <a:gd name="p0x11" fmla="*/ 15 w 80"/>
                <a:gd name="p0y11" fmla="*/ 1964 h 2071"/>
                <a:gd name="p0x12" fmla="*/ 40 w 80"/>
                <a:gd name="p0y12" fmla="*/ 2020 h 2071"/>
                <a:gd name="p0x13" fmla="*/ 80 w 80"/>
                <a:gd name="p0y13" fmla="*/ 2061 h 2071"/>
                <a:gd name="p0x14" fmla="*/ 70 w 80"/>
                <a:gd name="p0y14" fmla="*/ 2071 h 2071"/>
                <a:gd name="p0x15" fmla="*/ 26 w 80"/>
                <a:gd name="p0y15" fmla="*/ 2028 h 2071"/>
                <a:gd name="p0x16" fmla="*/ 0 w 80"/>
                <a:gd name="p0y16" fmla="*/ 1968 h 2071"/>
                <a:gd name="p0x17" fmla="*/ 0 w 80"/>
                <a:gd name="p0y17" fmla="*/ 1902 h 207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E8DC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2" name="文本框 51"/>
          <p:cNvSpPr txBox="1"/>
          <p:nvPr>
            <p:custDataLst>
              <p:tags r:id="rId40"/>
            </p:custDataLst>
          </p:nvPr>
        </p:nvSpPr>
        <p:spPr>
          <a:xfrm>
            <a:off x="3986879" y="4191743"/>
            <a:ext cx="142734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350" b="1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⑦</a:t>
            </a:r>
            <a:r>
              <a:rPr lang="en-US" altLang="zh-CN" sz="1350" b="1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</a:t>
            </a:r>
            <a:r>
              <a:rPr lang="zh-CN" altLang="en-US" sz="1350" b="1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获得更多奖励</a:t>
            </a:r>
            <a:endParaRPr lang="zh-CN" altLang="en-US" sz="1350" b="1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41"/>
            </p:custDataLst>
          </p:nvPr>
        </p:nvSpPr>
        <p:spPr>
          <a:xfrm>
            <a:off x="3481311" y="4507021"/>
            <a:ext cx="24384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200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稀有掉落全服广播，社交炫耀触发</a:t>
            </a:r>
            <a:endParaRPr sz="1200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grpSp>
        <p:nvGrpSpPr>
          <p:cNvPr id="85" name="组合 84"/>
          <p:cNvGrpSpPr/>
          <p:nvPr/>
        </p:nvGrpSpPr>
        <p:grpSpPr>
          <a:xfrm>
            <a:off x="6134100" y="3730625"/>
            <a:ext cx="2705100" cy="1436370"/>
            <a:chOff x="9660" y="5875"/>
            <a:chExt cx="4260" cy="2262"/>
          </a:xfrm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grpSpPr>
        <p:sp>
          <p:nvSpPr>
            <p:cNvPr id="55" name="任意多边形 54"/>
            <p:cNvSpPr/>
            <p:nvPr>
              <p:custDataLst>
                <p:tags r:id="rId42"/>
              </p:custDataLst>
            </p:nvPr>
          </p:nvSpPr>
          <p:spPr>
            <a:xfrm>
              <a:off x="9660" y="5875"/>
              <a:ext cx="4260" cy="2262"/>
            </a:xfrm>
            <a:custGeom>
              <a:avLst/>
              <a:gdLst>
                <a:gd name="sw" fmla="*/ 1 w 4260"/>
                <a:gd name="sh" fmla="*/ 1 h 2262"/>
                <a:gd name="mins" fmla="min sw sh"/>
                <a:gd name="dsw" fmla="+- 0 sw mins"/>
                <a:gd name="dsh" fmla="+- 0 sh mins"/>
                <a:gd name="p0x0" fmla="*/ 240 w 4260"/>
                <a:gd name="p0y0" fmla="*/ 0 h 2262"/>
                <a:gd name="p0x1" fmla="*/ 4020 w 4260"/>
                <a:gd name="p0y1" fmla="*/ 0 h 2262"/>
                <a:gd name="p0x2" fmla="*/ 4152 w 4260"/>
                <a:gd name="p0y2" fmla="*/ 0 h 2262"/>
                <a:gd name="p0x3" fmla="*/ 4260 w 4260"/>
                <a:gd name="p0y3" fmla="*/ 107 h 2262"/>
                <a:gd name="p0x4" fmla="*/ 4260 w 4260"/>
                <a:gd name="p0y4" fmla="*/ 240 h 2262"/>
                <a:gd name="p0x5" fmla="*/ 4260 w 4260"/>
                <a:gd name="p0y5" fmla="*/ 2022 h 2262"/>
                <a:gd name="p0x6" fmla="*/ 4260 w 4260"/>
                <a:gd name="p0y6" fmla="*/ 2154 h 2262"/>
                <a:gd name="p0x7" fmla="*/ 4152 w 4260"/>
                <a:gd name="p0y7" fmla="*/ 2262 h 2262"/>
                <a:gd name="p0x8" fmla="*/ 4020 w 4260"/>
                <a:gd name="p0y8" fmla="*/ 2262 h 2262"/>
                <a:gd name="p0x9" fmla="*/ 240 w 4260"/>
                <a:gd name="p0y9" fmla="*/ 2262 h 2262"/>
                <a:gd name="p0x10" fmla="*/ 107 w 4260"/>
                <a:gd name="p0y10" fmla="*/ 2262 h 2262"/>
                <a:gd name="p0x11" fmla="*/ 0 w 4260"/>
                <a:gd name="p0y11" fmla="*/ 2154 h 2262"/>
                <a:gd name="p0x12" fmla="*/ 0 w 4260"/>
                <a:gd name="p0y12" fmla="*/ 2022 h 2262"/>
                <a:gd name="p0x13" fmla="*/ 0 w 4260"/>
                <a:gd name="p0y13" fmla="*/ 240 h 2262"/>
                <a:gd name="p0x14" fmla="*/ 0 w 4260"/>
                <a:gd name="p0y14" fmla="*/ 107 h 2262"/>
                <a:gd name="p0x15" fmla="*/ 107 w 4260"/>
                <a:gd name="p0y15" fmla="*/ 0 h 2262"/>
                <a:gd name="p0x16" fmla="*/ 240 w 4260"/>
                <a:gd name="p0y16" fmla="*/ 0 h 2262"/>
              </a:gdLst>
              <a:ahLst/>
              <a:cxnLst/>
              <a:pathLst>
                <a:path w="4260" h="2262">
                  <a:moveTo>
                    <a:pt x="240" y="0"/>
                  </a:moveTo>
                  <a:lnTo>
                    <a:pt x="4020" y="0"/>
                  </a:lnTo>
                  <a:cubicBezTo>
                    <a:pt x="4153" y="0"/>
                    <a:pt x="4260" y="107"/>
                    <a:pt x="4260" y="240"/>
                  </a:cubicBezTo>
                  <a:lnTo>
                    <a:pt x="4260" y="2022"/>
                  </a:lnTo>
                  <a:cubicBezTo>
                    <a:pt x="4260" y="2155"/>
                    <a:pt x="4153" y="2262"/>
                    <a:pt x="4020" y="2262"/>
                  </a:cubicBezTo>
                  <a:lnTo>
                    <a:pt x="240" y="2262"/>
                  </a:lnTo>
                  <a:cubicBezTo>
                    <a:pt x="107" y="2262"/>
                    <a:pt x="0" y="2155"/>
                    <a:pt x="0" y="2022"/>
                  </a:cubicBezTo>
                  <a:lnTo>
                    <a:pt x="0" y="240"/>
                  </a:lnTo>
                  <a:cubicBezTo>
                    <a:pt x="0" y="107"/>
                    <a:pt x="107" y="0"/>
                    <a:pt x="240" y="0"/>
                  </a:cubicBezTo>
                  <a:close/>
                </a:path>
              </a:pathLst>
            </a:custGeom>
            <a:solidFill>
              <a:srgbClr val="F9F7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56" name="任意多边形 55"/>
            <p:cNvSpPr/>
            <p:nvPr>
              <p:custDataLst>
                <p:tags r:id="rId43"/>
              </p:custDataLst>
            </p:nvPr>
          </p:nvSpPr>
          <p:spPr>
            <a:xfrm>
              <a:off x="9692" y="5875"/>
              <a:ext cx="4157" cy="135"/>
            </a:xfrm>
            <a:custGeom>
              <a:avLst/>
              <a:gdLst>
                <a:gd name="sw" fmla="*/ 1 w 4157"/>
                <a:gd name="sh" fmla="*/ 1 h 134"/>
                <a:gd name="mins" fmla="min sw sh"/>
                <a:gd name="dsw" fmla="+- 0 sw mins"/>
                <a:gd name="dsh" fmla="+- 0 sh mins"/>
                <a:gd name="p0x0" fmla="*/ 207 w 4157"/>
                <a:gd name="p0y0" fmla="*/ 0 h 134"/>
                <a:gd name="p0x1" fmla="*/ 3987 w 4157"/>
                <a:gd name="p0y1" fmla="*/ 0 h 134"/>
                <a:gd name="p0x2" fmla="*/ 4054 w 4157"/>
                <a:gd name="p0y2" fmla="*/ 0 h 134"/>
                <a:gd name="p0x3" fmla="*/ 4114 w 4157"/>
                <a:gd name="p0y3" fmla="*/ 26 h 134"/>
                <a:gd name="p0x4" fmla="*/ 4157 w 4157"/>
                <a:gd name="p0y4" fmla="*/ 70 h 134"/>
                <a:gd name="p0x5" fmla="*/ 4136 w 4157"/>
                <a:gd name="p0y5" fmla="*/ 91 h 134"/>
                <a:gd name="p0x6" fmla="*/ 4098 w 4157"/>
                <a:gd name="p0y6" fmla="*/ 53 h 134"/>
                <a:gd name="p0x7" fmla="*/ 4045 w 4157"/>
                <a:gd name="p0y7" fmla="*/ 30 h 134"/>
                <a:gd name="p0x8" fmla="*/ 3987 w 4157"/>
                <a:gd name="p0y8" fmla="*/ 30 h 134"/>
                <a:gd name="p0x9" fmla="*/ 207 w 4157"/>
                <a:gd name="p0y9" fmla="*/ 30 h 134"/>
                <a:gd name="p0x10" fmla="*/ 124 w 4157"/>
                <a:gd name="p0y10" fmla="*/ 30 h 134"/>
                <a:gd name="p0x11" fmla="*/ 51 w 4157"/>
                <a:gd name="p0y11" fmla="*/ 72 h 134"/>
                <a:gd name="p0x12" fmla="*/ 12 w 4157"/>
                <a:gd name="p0y12" fmla="*/ 134 h 134"/>
                <a:gd name="p0x13" fmla="*/ 0 w 4157"/>
                <a:gd name="p0y13" fmla="*/ 120 h 134"/>
                <a:gd name="p0x14" fmla="*/ 0 w 4157"/>
                <a:gd name="p0y14" fmla="*/ 119 h 134"/>
                <a:gd name="p0x15" fmla="*/ 41 w 4157"/>
                <a:gd name="p0y15" fmla="*/ 48 h 134"/>
                <a:gd name="p0x16" fmla="*/ 119 w 4157"/>
                <a:gd name="p0y16" fmla="*/ 0 h 134"/>
                <a:gd name="p0x17" fmla="*/ 207 w 4157"/>
                <a:gd name="p0y17" fmla="*/ 0 h 13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D650C7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7" name="任意多边形 56"/>
            <p:cNvSpPr/>
            <p:nvPr>
              <p:custDataLst>
                <p:tags r:id="rId44"/>
              </p:custDataLst>
            </p:nvPr>
          </p:nvSpPr>
          <p:spPr>
            <a:xfrm>
              <a:off x="13785" y="5945"/>
              <a:ext cx="135" cy="2160"/>
            </a:xfrm>
            <a:custGeom>
              <a:avLst/>
              <a:gdLst>
                <a:gd name="sw" fmla="*/ 1 w 135"/>
                <a:gd name="sh" fmla="*/ 1 h 2159"/>
                <a:gd name="mins" fmla="min sw sh"/>
                <a:gd name="dsw" fmla="+- 0 sw mins"/>
                <a:gd name="dsh" fmla="+- 0 sh mins"/>
                <a:gd name="p0x0" fmla="*/ 135 w 135"/>
                <a:gd name="p0y0" fmla="*/ 169 h 2159"/>
                <a:gd name="p0x1" fmla="*/ 135 w 135"/>
                <a:gd name="p0y1" fmla="*/ 1951 h 2159"/>
                <a:gd name="p0x2" fmla="*/ 135 w 135"/>
                <a:gd name="p0y2" fmla="*/ 2040 h 2159"/>
                <a:gd name="p0x3" fmla="*/ 86 w 135"/>
                <a:gd name="p0y3" fmla="*/ 2118 h 2159"/>
                <a:gd name="p0x4" fmla="*/ 15 w 135"/>
                <a:gd name="p0y4" fmla="*/ 2159 h 2159"/>
                <a:gd name="p0x5" fmla="*/ 0 w 135"/>
                <a:gd name="p0y5" fmla="*/ 2146 h 2159"/>
                <a:gd name="p0x6" fmla="*/ 0 w 135"/>
                <a:gd name="p0y6" fmla="*/ 2146 h 2159"/>
                <a:gd name="p0x7" fmla="*/ 62 w 135"/>
                <a:gd name="p0y7" fmla="*/ 2107 h 2159"/>
                <a:gd name="p0x8" fmla="*/ 105 w 135"/>
                <a:gd name="p0y8" fmla="*/ 2035 h 2159"/>
                <a:gd name="p0x9" fmla="*/ 105 w 135"/>
                <a:gd name="p0y9" fmla="*/ 1951 h 2159"/>
                <a:gd name="p0x10" fmla="*/ 105 w 135"/>
                <a:gd name="p0y10" fmla="*/ 169 h 2159"/>
                <a:gd name="p0x11" fmla="*/ 105 w 135"/>
                <a:gd name="p0y11" fmla="*/ 111 h 2159"/>
                <a:gd name="p0x12" fmla="*/ 81 w 135"/>
                <a:gd name="p0y12" fmla="*/ 59 h 2159"/>
                <a:gd name="p0x13" fmla="*/ 43 w 135"/>
                <a:gd name="p0y13" fmla="*/ 21 h 2159"/>
                <a:gd name="p0x14" fmla="*/ 64 w 135"/>
                <a:gd name="p0y14" fmla="*/ 0 h 2159"/>
                <a:gd name="p0x15" fmla="*/ 108 w 135"/>
                <a:gd name="p0y15" fmla="*/ 43 h 2159"/>
                <a:gd name="p0x16" fmla="*/ 135 w 135"/>
                <a:gd name="p0y16" fmla="*/ 103 h 2159"/>
                <a:gd name="p0x17" fmla="*/ 135 w 135"/>
                <a:gd name="p0y17" fmla="*/ 169 h 2159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D650C7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8" name="任意多边形 57"/>
            <p:cNvSpPr/>
            <p:nvPr>
              <p:custDataLst>
                <p:tags r:id="rId45"/>
              </p:custDataLst>
            </p:nvPr>
          </p:nvSpPr>
          <p:spPr>
            <a:xfrm>
              <a:off x="9730" y="8056"/>
              <a:ext cx="4070" cy="81"/>
            </a:xfrm>
            <a:custGeom>
              <a:avLst/>
              <a:gdLst>
                <a:gd name="sw" fmla="*/ 1 w 4069"/>
                <a:gd name="sh" fmla="*/ 1 h 80"/>
                <a:gd name="mins" fmla="min sw sh"/>
                <a:gd name="dsw" fmla="+- 0 sw mins"/>
                <a:gd name="dsh" fmla="+- 0 sh mins"/>
                <a:gd name="p0x0" fmla="*/ 3949 w 4069"/>
                <a:gd name="p0y0" fmla="*/ 80 h 80"/>
                <a:gd name="p0x1" fmla="*/ 169 w 4069"/>
                <a:gd name="p0y1" fmla="*/ 80 h 80"/>
                <a:gd name="p0x2" fmla="*/ 103 w 4069"/>
                <a:gd name="p0y2" fmla="*/ 80 h 80"/>
                <a:gd name="p0x3" fmla="*/ 43 w 4069"/>
                <a:gd name="p0y3" fmla="*/ 54 h 80"/>
                <a:gd name="p0x4" fmla="*/ 0 w 4069"/>
                <a:gd name="p0y4" fmla="*/ 10 h 80"/>
                <a:gd name="p0x5" fmla="*/ 10 w 4069"/>
                <a:gd name="p0y5" fmla="*/ 0 h 80"/>
                <a:gd name="p0x6" fmla="*/ 51 w 4069"/>
                <a:gd name="p0y6" fmla="*/ 40 h 80"/>
                <a:gd name="p0x7" fmla="*/ 107 w 4069"/>
                <a:gd name="p0y7" fmla="*/ 65 h 80"/>
                <a:gd name="p0x8" fmla="*/ 169 w 4069"/>
                <a:gd name="p0y8" fmla="*/ 65 h 80"/>
                <a:gd name="p0x9" fmla="*/ 3949 w 4069"/>
                <a:gd name="p0y9" fmla="*/ 65 h 80"/>
                <a:gd name="p0x10" fmla="*/ 3987 w 4069"/>
                <a:gd name="p0y10" fmla="*/ 65 h 80"/>
                <a:gd name="p0x11" fmla="*/ 4023 w 4069"/>
                <a:gd name="p0y11" fmla="*/ 54 h 80"/>
                <a:gd name="p0x12" fmla="*/ 4054 w 4069"/>
                <a:gd name="p0y12" fmla="*/ 35 h 80"/>
                <a:gd name="p0x13" fmla="*/ 4069 w 4069"/>
                <a:gd name="p0y13" fmla="*/ 48 h 80"/>
                <a:gd name="p0x14" fmla="*/ 4069 w 4069"/>
                <a:gd name="p0y14" fmla="*/ 48 h 80"/>
                <a:gd name="p0x15" fmla="*/ 4034 w 4069"/>
                <a:gd name="p0y15" fmla="*/ 69 h 80"/>
                <a:gd name="p0x16" fmla="*/ 3993 w 4069"/>
                <a:gd name="p0y16" fmla="*/ 80 h 80"/>
                <a:gd name="p0x17" fmla="*/ 3949 w 4069"/>
                <a:gd name="p0y17" fmla="*/ 80 h 80"/>
              </a:gdLst>
              <a:ahLst/>
              <a:cxnLst/>
              <a:pathLst>
                <a:path w="4070" h="81">
                  <a:moveTo>
                    <a:pt x="3950" y="81"/>
                  </a:moveTo>
                  <a:lnTo>
                    <a:pt x="170" y="81"/>
                  </a:lnTo>
                  <a:cubicBezTo>
                    <a:pt x="103" y="81"/>
                    <a:pt x="43" y="54"/>
                    <a:pt x="0" y="11"/>
                  </a:cubicBezTo>
                  <a:lnTo>
                    <a:pt x="11" y="0"/>
                  </a:lnTo>
                  <a:cubicBezTo>
                    <a:pt x="51" y="41"/>
                    <a:pt x="108" y="66"/>
                    <a:pt x="170" y="66"/>
                  </a:cubicBezTo>
                  <a:lnTo>
                    <a:pt x="3950" y="66"/>
                  </a:lnTo>
                  <a:cubicBezTo>
                    <a:pt x="3988" y="66"/>
                    <a:pt x="4024" y="55"/>
                    <a:pt x="4055" y="36"/>
                  </a:cubicBezTo>
                  <a:lnTo>
                    <a:pt x="4070" y="49"/>
                  </a:lnTo>
                  <a:lnTo>
                    <a:pt x="4070" y="49"/>
                  </a:lnTo>
                  <a:cubicBezTo>
                    <a:pt x="4035" y="69"/>
                    <a:pt x="3994" y="81"/>
                    <a:pt x="3950" y="81"/>
                  </a:cubicBezTo>
                  <a:close/>
                </a:path>
              </a:pathLst>
            </a:custGeom>
            <a:solidFill>
              <a:srgbClr val="E8DC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59" name="任意多边形 58"/>
            <p:cNvSpPr/>
            <p:nvPr>
              <p:custDataLst>
                <p:tags r:id="rId46"/>
              </p:custDataLst>
            </p:nvPr>
          </p:nvSpPr>
          <p:spPr>
            <a:xfrm>
              <a:off x="9660" y="5995"/>
              <a:ext cx="80" cy="2071"/>
            </a:xfrm>
            <a:custGeom>
              <a:avLst/>
              <a:gdLst>
                <a:gd name="sw" fmla="*/ 1 w 80"/>
                <a:gd name="sh" fmla="*/ 1 h 2071"/>
                <a:gd name="mins" fmla="min sw sh"/>
                <a:gd name="dsw" fmla="+- 0 sw mins"/>
                <a:gd name="dsh" fmla="+- 0 sh mins"/>
                <a:gd name="p0x0" fmla="*/ 0 w 80"/>
                <a:gd name="p0y0" fmla="*/ 1902 h 2071"/>
                <a:gd name="p0x1" fmla="*/ 0 w 80"/>
                <a:gd name="p0y1" fmla="*/ 120 h 2071"/>
                <a:gd name="p0x2" fmla="*/ 0 w 80"/>
                <a:gd name="p0y2" fmla="*/ 76 h 2071"/>
                <a:gd name="p0x3" fmla="*/ 11 w 80"/>
                <a:gd name="p0y3" fmla="*/ 35 h 2071"/>
                <a:gd name="p0x4" fmla="*/ 32 w 80"/>
                <a:gd name="p0y4" fmla="*/ 0 h 2071"/>
                <a:gd name="p0x5" fmla="*/ 45 w 80"/>
                <a:gd name="p0y5" fmla="*/ 15 h 2071"/>
                <a:gd name="p0x6" fmla="*/ 45 w 80"/>
                <a:gd name="p0y6" fmla="*/ 15 h 2071"/>
                <a:gd name="p0x7" fmla="*/ 25 w 80"/>
                <a:gd name="p0y7" fmla="*/ 45 h 2071"/>
                <a:gd name="p0x8" fmla="*/ 15 w 80"/>
                <a:gd name="p0y8" fmla="*/ 81 h 2071"/>
                <a:gd name="p0x9" fmla="*/ 15 w 80"/>
                <a:gd name="p0y9" fmla="*/ 120 h 2071"/>
                <a:gd name="p0x10" fmla="*/ 15 w 80"/>
                <a:gd name="p0y10" fmla="*/ 1902 h 2071"/>
                <a:gd name="p0x11" fmla="*/ 15 w 80"/>
                <a:gd name="p0y11" fmla="*/ 1964 h 2071"/>
                <a:gd name="p0x12" fmla="*/ 40 w 80"/>
                <a:gd name="p0y12" fmla="*/ 2020 h 2071"/>
                <a:gd name="p0x13" fmla="*/ 80 w 80"/>
                <a:gd name="p0y13" fmla="*/ 2061 h 2071"/>
                <a:gd name="p0x14" fmla="*/ 70 w 80"/>
                <a:gd name="p0y14" fmla="*/ 2071 h 2071"/>
                <a:gd name="p0x15" fmla="*/ 26 w 80"/>
                <a:gd name="p0y15" fmla="*/ 2028 h 2071"/>
                <a:gd name="p0x16" fmla="*/ 0 w 80"/>
                <a:gd name="p0y16" fmla="*/ 1968 h 2071"/>
                <a:gd name="p0x17" fmla="*/ 0 w 80"/>
                <a:gd name="p0y17" fmla="*/ 1902 h 207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E8DC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1" name="文本框 60"/>
          <p:cNvSpPr txBox="1"/>
          <p:nvPr>
            <p:custDataLst>
              <p:tags r:id="rId47"/>
            </p:custDataLst>
          </p:nvPr>
        </p:nvSpPr>
        <p:spPr>
          <a:xfrm>
            <a:off x="6768179" y="4191743"/>
            <a:ext cx="142734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350" b="1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⑥</a:t>
            </a:r>
            <a:r>
              <a:rPr lang="en-US" altLang="zh-CN" sz="1350" b="1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</a:t>
            </a:r>
            <a:r>
              <a:rPr lang="zh-CN" altLang="en-US" sz="1350" b="1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挑战更高难度</a:t>
            </a:r>
            <a:endParaRPr lang="zh-CN" altLang="en-US" sz="1350" b="1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62" name="文本框 61"/>
          <p:cNvSpPr txBox="1"/>
          <p:nvPr>
            <p:custDataLst>
              <p:tags r:id="rId48"/>
            </p:custDataLst>
          </p:nvPr>
        </p:nvSpPr>
        <p:spPr>
          <a:xfrm>
            <a:off x="6215063" y="4507021"/>
            <a:ext cx="2533574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zh-CN" altLang="en-US" sz="1200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难度阶梯</a:t>
            </a:r>
            <a:r>
              <a:rPr lang="en-US" altLang="zh-CN" sz="1200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+</a:t>
            </a:r>
            <a:r>
              <a:rPr lang="zh-CN" altLang="en-US" sz="1200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通关动画，制造心流峰值</a:t>
            </a:r>
            <a:endParaRPr lang="zh-CN" altLang="en-US" sz="1200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grpSp>
        <p:nvGrpSpPr>
          <p:cNvPr id="86" name="组合 85"/>
          <p:cNvGrpSpPr/>
          <p:nvPr/>
        </p:nvGrpSpPr>
        <p:grpSpPr>
          <a:xfrm>
            <a:off x="8915400" y="3730625"/>
            <a:ext cx="2705100" cy="1436370"/>
            <a:chOff x="14040" y="5875"/>
            <a:chExt cx="4260" cy="2262"/>
          </a:xfrm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grpSpPr>
        <p:sp>
          <p:nvSpPr>
            <p:cNvPr id="64" name="任意多边形 63"/>
            <p:cNvSpPr/>
            <p:nvPr>
              <p:custDataLst>
                <p:tags r:id="rId49"/>
              </p:custDataLst>
            </p:nvPr>
          </p:nvSpPr>
          <p:spPr>
            <a:xfrm>
              <a:off x="14040" y="5875"/>
              <a:ext cx="4260" cy="2262"/>
            </a:xfrm>
            <a:custGeom>
              <a:avLst/>
              <a:gdLst>
                <a:gd name="sw" fmla="*/ 1 w 4260"/>
                <a:gd name="sh" fmla="*/ 1 h 2262"/>
                <a:gd name="mins" fmla="min sw sh"/>
                <a:gd name="dsw" fmla="+- 0 sw mins"/>
                <a:gd name="dsh" fmla="+- 0 sh mins"/>
                <a:gd name="p0x0" fmla="*/ 240 w 4260"/>
                <a:gd name="p0y0" fmla="*/ 0 h 2262"/>
                <a:gd name="p0x1" fmla="*/ 4020 w 4260"/>
                <a:gd name="p0y1" fmla="*/ 0 h 2262"/>
                <a:gd name="p0x2" fmla="*/ 4152 w 4260"/>
                <a:gd name="p0y2" fmla="*/ 0 h 2262"/>
                <a:gd name="p0x3" fmla="*/ 4260 w 4260"/>
                <a:gd name="p0y3" fmla="*/ 107 h 2262"/>
                <a:gd name="p0x4" fmla="*/ 4260 w 4260"/>
                <a:gd name="p0y4" fmla="*/ 240 h 2262"/>
                <a:gd name="p0x5" fmla="*/ 4260 w 4260"/>
                <a:gd name="p0y5" fmla="*/ 2022 h 2262"/>
                <a:gd name="p0x6" fmla="*/ 4260 w 4260"/>
                <a:gd name="p0y6" fmla="*/ 2154 h 2262"/>
                <a:gd name="p0x7" fmla="*/ 4152 w 4260"/>
                <a:gd name="p0y7" fmla="*/ 2262 h 2262"/>
                <a:gd name="p0x8" fmla="*/ 4020 w 4260"/>
                <a:gd name="p0y8" fmla="*/ 2262 h 2262"/>
                <a:gd name="p0x9" fmla="*/ 240 w 4260"/>
                <a:gd name="p0y9" fmla="*/ 2262 h 2262"/>
                <a:gd name="p0x10" fmla="*/ 107 w 4260"/>
                <a:gd name="p0y10" fmla="*/ 2262 h 2262"/>
                <a:gd name="p0x11" fmla="*/ 0 w 4260"/>
                <a:gd name="p0y11" fmla="*/ 2154 h 2262"/>
                <a:gd name="p0x12" fmla="*/ 0 w 4260"/>
                <a:gd name="p0y12" fmla="*/ 2022 h 2262"/>
                <a:gd name="p0x13" fmla="*/ 0 w 4260"/>
                <a:gd name="p0y13" fmla="*/ 240 h 2262"/>
                <a:gd name="p0x14" fmla="*/ 0 w 4260"/>
                <a:gd name="p0y14" fmla="*/ 107 h 2262"/>
                <a:gd name="p0x15" fmla="*/ 107 w 4260"/>
                <a:gd name="p0y15" fmla="*/ 0 h 2262"/>
                <a:gd name="p0x16" fmla="*/ 240 w 4260"/>
                <a:gd name="p0y16" fmla="*/ 0 h 2262"/>
              </a:gdLst>
              <a:ahLst/>
              <a:cxnLst/>
              <a:pathLst>
                <a:path w="4260" h="2262">
                  <a:moveTo>
                    <a:pt x="240" y="0"/>
                  </a:moveTo>
                  <a:lnTo>
                    <a:pt x="4020" y="0"/>
                  </a:lnTo>
                  <a:cubicBezTo>
                    <a:pt x="4153" y="0"/>
                    <a:pt x="4260" y="107"/>
                    <a:pt x="4260" y="240"/>
                  </a:cubicBezTo>
                  <a:lnTo>
                    <a:pt x="4260" y="2022"/>
                  </a:lnTo>
                  <a:cubicBezTo>
                    <a:pt x="4260" y="2155"/>
                    <a:pt x="4153" y="2262"/>
                    <a:pt x="4020" y="2262"/>
                  </a:cubicBezTo>
                  <a:lnTo>
                    <a:pt x="240" y="2262"/>
                  </a:lnTo>
                  <a:cubicBezTo>
                    <a:pt x="107" y="2262"/>
                    <a:pt x="0" y="2155"/>
                    <a:pt x="0" y="2022"/>
                  </a:cubicBezTo>
                  <a:lnTo>
                    <a:pt x="0" y="240"/>
                  </a:lnTo>
                  <a:cubicBezTo>
                    <a:pt x="0" y="107"/>
                    <a:pt x="107" y="0"/>
                    <a:pt x="240" y="0"/>
                  </a:cubicBezTo>
                  <a:close/>
                </a:path>
              </a:pathLst>
            </a:custGeom>
            <a:solidFill>
              <a:srgbClr val="F9F7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65" name="任意多边形 64"/>
            <p:cNvSpPr/>
            <p:nvPr>
              <p:custDataLst>
                <p:tags r:id="rId50"/>
              </p:custDataLst>
            </p:nvPr>
          </p:nvSpPr>
          <p:spPr>
            <a:xfrm>
              <a:off x="14072" y="5875"/>
              <a:ext cx="4195" cy="135"/>
            </a:xfrm>
            <a:custGeom>
              <a:avLst/>
              <a:gdLst>
                <a:gd name="sw" fmla="*/ 1 w 4195"/>
                <a:gd name="sh" fmla="*/ 1 h 135"/>
                <a:gd name="mins" fmla="min sw sh"/>
                <a:gd name="dsw" fmla="+- 0 sw mins"/>
                <a:gd name="dsh" fmla="+- 0 sh mins"/>
                <a:gd name="p0x0" fmla="*/ 207 w 4195"/>
                <a:gd name="p0y0" fmla="*/ 0 h 135"/>
                <a:gd name="p0x1" fmla="*/ 3987 w 4195"/>
                <a:gd name="p0y1" fmla="*/ 0 h 135"/>
                <a:gd name="p0x2" fmla="*/ 4076 w 4195"/>
                <a:gd name="p0y2" fmla="*/ 0 h 135"/>
                <a:gd name="p0x3" fmla="*/ 4154 w 4195"/>
                <a:gd name="p0y3" fmla="*/ 48 h 135"/>
                <a:gd name="p0x4" fmla="*/ 4195 w 4195"/>
                <a:gd name="p0y4" fmla="*/ 119 h 135"/>
                <a:gd name="p0x5" fmla="*/ 4182 w 4195"/>
                <a:gd name="p0y5" fmla="*/ 135 h 135"/>
                <a:gd name="p0x6" fmla="*/ 4182 w 4195"/>
                <a:gd name="p0y6" fmla="*/ 134 h 135"/>
                <a:gd name="p0x7" fmla="*/ 4143 w 4195"/>
                <a:gd name="p0y7" fmla="*/ 72 h 135"/>
                <a:gd name="p0x8" fmla="*/ 4071 w 4195"/>
                <a:gd name="p0y8" fmla="*/ 30 h 135"/>
                <a:gd name="p0x9" fmla="*/ 3987 w 4195"/>
                <a:gd name="p0y9" fmla="*/ 30 h 135"/>
                <a:gd name="p0x10" fmla="*/ 207 w 4195"/>
                <a:gd name="p0y10" fmla="*/ 30 h 135"/>
                <a:gd name="p0x11" fmla="*/ 124 w 4195"/>
                <a:gd name="p0y11" fmla="*/ 30 h 135"/>
                <a:gd name="p0x12" fmla="*/ 51 w 4195"/>
                <a:gd name="p0y12" fmla="*/ 72 h 135"/>
                <a:gd name="p0x13" fmla="*/ 12 w 4195"/>
                <a:gd name="p0y13" fmla="*/ 134 h 135"/>
                <a:gd name="p0x14" fmla="*/ 0 w 4195"/>
                <a:gd name="p0y14" fmla="*/ 120 h 135"/>
                <a:gd name="p0x15" fmla="*/ 0 w 4195"/>
                <a:gd name="p0y15" fmla="*/ 119 h 135"/>
                <a:gd name="p0x16" fmla="*/ 41 w 4195"/>
                <a:gd name="p0y16" fmla="*/ 48 h 135"/>
                <a:gd name="p0x17" fmla="*/ 119 w 4195"/>
                <a:gd name="p0y17" fmla="*/ 0 h 135"/>
                <a:gd name="p0x18" fmla="*/ 207 w 4195"/>
                <a:gd name="p0y18" fmla="*/ 0 h 1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D650C7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6" name="任意多边形 65"/>
            <p:cNvSpPr/>
            <p:nvPr>
              <p:custDataLst>
                <p:tags r:id="rId51"/>
              </p:custDataLst>
            </p:nvPr>
          </p:nvSpPr>
          <p:spPr>
            <a:xfrm>
              <a:off x="18219" y="5995"/>
              <a:ext cx="81" cy="2071"/>
            </a:xfrm>
            <a:custGeom>
              <a:avLst/>
              <a:gdLst>
                <a:gd name="sw" fmla="*/ 1 w 80"/>
                <a:gd name="sh" fmla="*/ 1 h 2071"/>
                <a:gd name="mins" fmla="min sw sh"/>
                <a:gd name="dsw" fmla="+- 0 sw mins"/>
                <a:gd name="dsh" fmla="+- 0 sh mins"/>
                <a:gd name="p0x0" fmla="*/ 80 w 80"/>
                <a:gd name="p0y0" fmla="*/ 120 h 2071"/>
                <a:gd name="p0x1" fmla="*/ 80 w 80"/>
                <a:gd name="p0y1" fmla="*/ 1902 h 2071"/>
                <a:gd name="p0x2" fmla="*/ 80 w 80"/>
                <a:gd name="p0y2" fmla="*/ 1968 h 2071"/>
                <a:gd name="p0x3" fmla="*/ 54 w 80"/>
                <a:gd name="p0y3" fmla="*/ 2028 h 2071"/>
                <a:gd name="p0x4" fmla="*/ 10 w 80"/>
                <a:gd name="p0y4" fmla="*/ 2071 h 2071"/>
                <a:gd name="p0x5" fmla="*/ 0 w 80"/>
                <a:gd name="p0y5" fmla="*/ 2061 h 2071"/>
                <a:gd name="p0x6" fmla="*/ 40 w 80"/>
                <a:gd name="p0y6" fmla="*/ 2020 h 2071"/>
                <a:gd name="p0x7" fmla="*/ 65 w 80"/>
                <a:gd name="p0y7" fmla="*/ 1964 h 2071"/>
                <a:gd name="p0x8" fmla="*/ 65 w 80"/>
                <a:gd name="p0y8" fmla="*/ 1902 h 2071"/>
                <a:gd name="p0x9" fmla="*/ 65 w 80"/>
                <a:gd name="p0y9" fmla="*/ 120 h 2071"/>
                <a:gd name="p0x10" fmla="*/ 65 w 80"/>
                <a:gd name="p0y10" fmla="*/ 81 h 2071"/>
                <a:gd name="p0x11" fmla="*/ 54 w 80"/>
                <a:gd name="p0y11" fmla="*/ 45 h 2071"/>
                <a:gd name="p0x12" fmla="*/ 35 w 80"/>
                <a:gd name="p0y12" fmla="*/ 15 h 2071"/>
                <a:gd name="p0x13" fmla="*/ 48 w 80"/>
                <a:gd name="p0y13" fmla="*/ 0 h 2071"/>
                <a:gd name="p0x14" fmla="*/ 48 w 80"/>
                <a:gd name="p0y14" fmla="*/ 0 h 2071"/>
                <a:gd name="p0x15" fmla="*/ 69 w 80"/>
                <a:gd name="p0y15" fmla="*/ 35 h 2071"/>
                <a:gd name="p0x16" fmla="*/ 80 w 80"/>
                <a:gd name="p0y16" fmla="*/ 76 h 2071"/>
                <a:gd name="p0x17" fmla="*/ 80 w 80"/>
                <a:gd name="p0y17" fmla="*/ 120 h 2071"/>
              </a:gdLst>
              <a:ahLst/>
              <a:cxnLst/>
              <a:pathLst>
                <a:path w="81" h="2071">
                  <a:moveTo>
                    <a:pt x="81" y="120"/>
                  </a:moveTo>
                  <a:lnTo>
                    <a:pt x="81" y="1901"/>
                  </a:lnTo>
                  <a:cubicBezTo>
                    <a:pt x="81" y="1968"/>
                    <a:pt x="54" y="2028"/>
                    <a:pt x="11" y="2071"/>
                  </a:cubicBezTo>
                  <a:lnTo>
                    <a:pt x="0" y="2060"/>
                  </a:lnTo>
                  <a:cubicBezTo>
                    <a:pt x="41" y="2020"/>
                    <a:pt x="66" y="1963"/>
                    <a:pt x="66" y="1901"/>
                  </a:cubicBezTo>
                  <a:lnTo>
                    <a:pt x="66" y="120"/>
                  </a:lnTo>
                  <a:cubicBezTo>
                    <a:pt x="66" y="82"/>
                    <a:pt x="55" y="46"/>
                    <a:pt x="36" y="15"/>
                  </a:cubicBezTo>
                  <a:lnTo>
                    <a:pt x="49" y="0"/>
                  </a:lnTo>
                  <a:lnTo>
                    <a:pt x="49" y="0"/>
                  </a:lnTo>
                  <a:cubicBezTo>
                    <a:pt x="69" y="35"/>
                    <a:pt x="81" y="76"/>
                    <a:pt x="81" y="120"/>
                  </a:cubicBezTo>
                  <a:close/>
                </a:path>
              </a:pathLst>
            </a:custGeom>
            <a:solidFill>
              <a:srgbClr val="E8DC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67" name="任意多边形 66"/>
            <p:cNvSpPr/>
            <p:nvPr>
              <p:custDataLst>
                <p:tags r:id="rId52"/>
              </p:custDataLst>
            </p:nvPr>
          </p:nvSpPr>
          <p:spPr>
            <a:xfrm>
              <a:off x="14110" y="8056"/>
              <a:ext cx="4119" cy="81"/>
            </a:xfrm>
            <a:custGeom>
              <a:avLst/>
              <a:gdLst>
                <a:gd name="sw" fmla="*/ 1 w 4119"/>
                <a:gd name="sh" fmla="*/ 1 h 80"/>
                <a:gd name="mins" fmla="min sw sh"/>
                <a:gd name="dsw" fmla="+- 0 sw mins"/>
                <a:gd name="dsh" fmla="+- 0 sh mins"/>
                <a:gd name="p0x0" fmla="*/ 3949 w 4119"/>
                <a:gd name="p0y0" fmla="*/ 80 h 80"/>
                <a:gd name="p0x1" fmla="*/ 169 w 4119"/>
                <a:gd name="p0y1" fmla="*/ 80 h 80"/>
                <a:gd name="p0x2" fmla="*/ 103 w 4119"/>
                <a:gd name="p0y2" fmla="*/ 80 h 80"/>
                <a:gd name="p0x3" fmla="*/ 43 w 4119"/>
                <a:gd name="p0y3" fmla="*/ 54 h 80"/>
                <a:gd name="p0x4" fmla="*/ 0 w 4119"/>
                <a:gd name="p0y4" fmla="*/ 10 h 80"/>
                <a:gd name="p0x5" fmla="*/ 10 w 4119"/>
                <a:gd name="p0y5" fmla="*/ 0 h 80"/>
                <a:gd name="p0x6" fmla="*/ 51 w 4119"/>
                <a:gd name="p0y6" fmla="*/ 40 h 80"/>
                <a:gd name="p0x7" fmla="*/ 107 w 4119"/>
                <a:gd name="p0y7" fmla="*/ 65 h 80"/>
                <a:gd name="p0x8" fmla="*/ 169 w 4119"/>
                <a:gd name="p0y8" fmla="*/ 65 h 80"/>
                <a:gd name="p0x9" fmla="*/ 3949 w 4119"/>
                <a:gd name="p0y9" fmla="*/ 65 h 80"/>
                <a:gd name="p0x10" fmla="*/ 4011 w 4119"/>
                <a:gd name="p0y10" fmla="*/ 65 h 80"/>
                <a:gd name="p0x11" fmla="*/ 4068 w 4119"/>
                <a:gd name="p0y11" fmla="*/ 40 h 80"/>
                <a:gd name="p0x12" fmla="*/ 4108 w 4119"/>
                <a:gd name="p0y12" fmla="*/ 0 h 80"/>
                <a:gd name="p0x13" fmla="*/ 4119 w 4119"/>
                <a:gd name="p0y13" fmla="*/ 10 h 80"/>
                <a:gd name="p0x14" fmla="*/ 4075 w 4119"/>
                <a:gd name="p0y14" fmla="*/ 54 h 80"/>
                <a:gd name="p0x15" fmla="*/ 4015 w 4119"/>
                <a:gd name="p0y15" fmla="*/ 80 h 80"/>
                <a:gd name="p0x16" fmla="*/ 3949 w 4119"/>
                <a:gd name="p0y16" fmla="*/ 80 h 80"/>
              </a:gdLst>
              <a:ahLst/>
              <a:cxnLst/>
              <a:pathLst>
                <a:path w="4119" h="81">
                  <a:moveTo>
                    <a:pt x="3949" y="81"/>
                  </a:moveTo>
                  <a:lnTo>
                    <a:pt x="170" y="81"/>
                  </a:lnTo>
                  <a:cubicBezTo>
                    <a:pt x="103" y="81"/>
                    <a:pt x="43" y="54"/>
                    <a:pt x="0" y="11"/>
                  </a:cubicBezTo>
                  <a:lnTo>
                    <a:pt x="11" y="0"/>
                  </a:lnTo>
                  <a:cubicBezTo>
                    <a:pt x="51" y="41"/>
                    <a:pt x="108" y="66"/>
                    <a:pt x="170" y="66"/>
                  </a:cubicBezTo>
                  <a:lnTo>
                    <a:pt x="3949" y="66"/>
                  </a:lnTo>
                  <a:cubicBezTo>
                    <a:pt x="4011" y="66"/>
                    <a:pt x="4068" y="41"/>
                    <a:pt x="4108" y="0"/>
                  </a:cubicBezTo>
                  <a:lnTo>
                    <a:pt x="4119" y="11"/>
                  </a:lnTo>
                  <a:cubicBezTo>
                    <a:pt x="4076" y="54"/>
                    <a:pt x="4016" y="81"/>
                    <a:pt x="3949" y="81"/>
                  </a:cubicBezTo>
                  <a:close/>
                </a:path>
              </a:pathLst>
            </a:custGeom>
            <a:solidFill>
              <a:srgbClr val="E8DC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68" name="任意多边形 67"/>
            <p:cNvSpPr/>
            <p:nvPr>
              <p:custDataLst>
                <p:tags r:id="rId53"/>
              </p:custDataLst>
            </p:nvPr>
          </p:nvSpPr>
          <p:spPr>
            <a:xfrm>
              <a:off x="14040" y="5995"/>
              <a:ext cx="80" cy="2071"/>
            </a:xfrm>
            <a:custGeom>
              <a:avLst/>
              <a:gdLst>
                <a:gd name="sw" fmla="*/ 1 w 80"/>
                <a:gd name="sh" fmla="*/ 1 h 2071"/>
                <a:gd name="mins" fmla="min sw sh"/>
                <a:gd name="dsw" fmla="+- 0 sw mins"/>
                <a:gd name="dsh" fmla="+- 0 sh mins"/>
                <a:gd name="p0x0" fmla="*/ 0 w 80"/>
                <a:gd name="p0y0" fmla="*/ 1902 h 2071"/>
                <a:gd name="p0x1" fmla="*/ 0 w 80"/>
                <a:gd name="p0y1" fmla="*/ 120 h 2071"/>
                <a:gd name="p0x2" fmla="*/ 0 w 80"/>
                <a:gd name="p0y2" fmla="*/ 76 h 2071"/>
                <a:gd name="p0x3" fmla="*/ 11 w 80"/>
                <a:gd name="p0y3" fmla="*/ 35 h 2071"/>
                <a:gd name="p0x4" fmla="*/ 32 w 80"/>
                <a:gd name="p0y4" fmla="*/ 0 h 2071"/>
                <a:gd name="p0x5" fmla="*/ 45 w 80"/>
                <a:gd name="p0y5" fmla="*/ 15 h 2071"/>
                <a:gd name="p0x6" fmla="*/ 45 w 80"/>
                <a:gd name="p0y6" fmla="*/ 15 h 2071"/>
                <a:gd name="p0x7" fmla="*/ 25 w 80"/>
                <a:gd name="p0y7" fmla="*/ 45 h 2071"/>
                <a:gd name="p0x8" fmla="*/ 15 w 80"/>
                <a:gd name="p0y8" fmla="*/ 81 h 2071"/>
                <a:gd name="p0x9" fmla="*/ 15 w 80"/>
                <a:gd name="p0y9" fmla="*/ 120 h 2071"/>
                <a:gd name="p0x10" fmla="*/ 15 w 80"/>
                <a:gd name="p0y10" fmla="*/ 1902 h 2071"/>
                <a:gd name="p0x11" fmla="*/ 15 w 80"/>
                <a:gd name="p0y11" fmla="*/ 1964 h 2071"/>
                <a:gd name="p0x12" fmla="*/ 40 w 80"/>
                <a:gd name="p0y12" fmla="*/ 2020 h 2071"/>
                <a:gd name="p0x13" fmla="*/ 80 w 80"/>
                <a:gd name="p0y13" fmla="*/ 2061 h 2071"/>
                <a:gd name="p0x14" fmla="*/ 70 w 80"/>
                <a:gd name="p0y14" fmla="*/ 2071 h 2071"/>
                <a:gd name="p0x15" fmla="*/ 26 w 80"/>
                <a:gd name="p0y15" fmla="*/ 2028 h 2071"/>
                <a:gd name="p0x16" fmla="*/ 0 w 80"/>
                <a:gd name="p0y16" fmla="*/ 1968 h 2071"/>
                <a:gd name="p0x17" fmla="*/ 0 w 80"/>
                <a:gd name="p0y17" fmla="*/ 1902 h 207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E8DC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0" name="文本框 69"/>
          <p:cNvSpPr txBox="1"/>
          <p:nvPr>
            <p:custDataLst>
              <p:tags r:id="rId54"/>
            </p:custDataLst>
          </p:nvPr>
        </p:nvSpPr>
        <p:spPr>
          <a:xfrm>
            <a:off x="9725692" y="4191743"/>
            <a:ext cx="108444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350" b="1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⑤</a:t>
            </a:r>
            <a:r>
              <a:rPr lang="en-US" altLang="zh-CN" sz="1350" b="1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</a:t>
            </a:r>
            <a:r>
              <a:rPr lang="zh-CN" altLang="en-US" sz="1350" b="1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解锁系统</a:t>
            </a:r>
            <a:endParaRPr lang="zh-CN" altLang="en-US" sz="1350" b="1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71" name="文本框 70"/>
          <p:cNvSpPr txBox="1"/>
          <p:nvPr>
            <p:custDataLst>
              <p:tags r:id="rId55"/>
            </p:custDataLst>
          </p:nvPr>
        </p:nvSpPr>
        <p:spPr>
          <a:xfrm>
            <a:off x="9124874" y="4507021"/>
            <a:ext cx="22860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200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新玩法红点提示，拓展成长维度</a:t>
            </a:r>
            <a:endParaRPr sz="1200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77" name="任意多边形 76"/>
          <p:cNvSpPr/>
          <p:nvPr>
            <p:custDataLst>
              <p:tags r:id="rId56"/>
            </p:custDataLst>
          </p:nvPr>
        </p:nvSpPr>
        <p:spPr>
          <a:xfrm>
            <a:off x="571500" y="5602605"/>
            <a:ext cx="11049000" cy="666750"/>
          </a:xfrm>
          <a:custGeom>
            <a:avLst/>
            <a:gdLst>
              <a:gd name="sw" fmla="*/ 1 w 17400"/>
              <a:gd name="sh" fmla="*/ 1 h 1050"/>
              <a:gd name="mins" fmla="min sw sh"/>
              <a:gd name="dsw" fmla="+- 0 sw mins"/>
              <a:gd name="dsh" fmla="+- 0 sh mins"/>
              <a:gd name="p0x0" fmla="*/ 240 w 17400"/>
              <a:gd name="p0y0" fmla="*/ 0 h 1050"/>
              <a:gd name="p0x1" fmla="*/ 17160 w 17400"/>
              <a:gd name="p0y1" fmla="*/ 0 h 1050"/>
              <a:gd name="p0x2" fmla="*/ 17292 w 17400"/>
              <a:gd name="p0y2" fmla="*/ 0 h 1050"/>
              <a:gd name="p0x3" fmla="*/ 17400 w 17400"/>
              <a:gd name="p0y3" fmla="*/ 107 h 1050"/>
              <a:gd name="p0x4" fmla="*/ 17400 w 17400"/>
              <a:gd name="p0y4" fmla="*/ 240 h 1050"/>
              <a:gd name="p0x5" fmla="*/ 17400 w 17400"/>
              <a:gd name="p0y5" fmla="*/ 810 h 1050"/>
              <a:gd name="p0x6" fmla="*/ 17400 w 17400"/>
              <a:gd name="p0y6" fmla="*/ 942 h 1050"/>
              <a:gd name="p0x7" fmla="*/ 17292 w 17400"/>
              <a:gd name="p0y7" fmla="*/ 1050 h 1050"/>
              <a:gd name="p0x8" fmla="*/ 17160 w 17400"/>
              <a:gd name="p0y8" fmla="*/ 1050 h 1050"/>
              <a:gd name="p0x9" fmla="*/ 240 w 17400"/>
              <a:gd name="p0y9" fmla="*/ 1050 h 1050"/>
              <a:gd name="p0x10" fmla="*/ 107 w 17400"/>
              <a:gd name="p0y10" fmla="*/ 1050 h 1050"/>
              <a:gd name="p0x11" fmla="*/ 0 w 17400"/>
              <a:gd name="p0y11" fmla="*/ 942 h 1050"/>
              <a:gd name="p0x12" fmla="*/ 0 w 17400"/>
              <a:gd name="p0y12" fmla="*/ 810 h 1050"/>
              <a:gd name="p0x13" fmla="*/ 0 w 17400"/>
              <a:gd name="p0y13" fmla="*/ 240 h 1050"/>
              <a:gd name="p0x14" fmla="*/ 0 w 17400"/>
              <a:gd name="p0y14" fmla="*/ 107 h 1050"/>
              <a:gd name="p0x15" fmla="*/ 107 w 17400"/>
              <a:gd name="p0y15" fmla="*/ 0 h 1050"/>
              <a:gd name="p0x16" fmla="*/ 240 w 17400"/>
              <a:gd name="p0y16" fmla="*/ 0 h 1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0E6F9"/>
          </a:solidFill>
          <a:ln>
            <a:noFill/>
          </a:ln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文本框 77"/>
          <p:cNvSpPr txBox="1"/>
          <p:nvPr>
            <p:custDataLst>
              <p:tags r:id="rId57"/>
            </p:custDataLst>
          </p:nvPr>
        </p:nvSpPr>
        <p:spPr>
          <a:xfrm>
            <a:off x="762000" y="5778265"/>
            <a:ext cx="7086829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循环本质：挂机是入口，</a:t>
            </a:r>
            <a:r>
              <a:rPr b="1">
                <a:solidFill>
                  <a:srgbClr val="D650C7"/>
                </a:solidFill>
                <a:latin typeface="MiSans Normal" panose="00000500000000000000" charset="-122"/>
                <a:ea typeface="MiSans Normal" panose="00000500000000000000" charset="-122"/>
              </a:rPr>
              <a:t>成长反馈</a:t>
            </a:r>
            <a:r>
              <a:rPr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才是让玩家每日回归的长情告白</a:t>
            </a:r>
            <a:endParaRPr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73" name="任意多边形 72"/>
          <p:cNvSpPr/>
          <p:nvPr>
            <p:custDataLst>
              <p:tags r:id="rId58"/>
            </p:custDataLst>
          </p:nvPr>
        </p:nvSpPr>
        <p:spPr>
          <a:xfrm>
            <a:off x="5829300" y="3425825"/>
            <a:ext cx="533400" cy="533400"/>
          </a:xfrm>
          <a:custGeom>
            <a:avLst/>
            <a:gdLst>
              <a:gd name="sw" fmla="*/ 1 w 840"/>
              <a:gd name="sh" fmla="*/ 1 h 840"/>
              <a:gd name="mins" fmla="min sw sh"/>
              <a:gd name="dsw" fmla="+- 0 sw mins"/>
              <a:gd name="dsh" fmla="+- 0 sh mins"/>
              <a:gd name="p0x0" fmla="*/ 420 w 840"/>
              <a:gd name="p0y0" fmla="*/ 0 h 840"/>
              <a:gd name="p0x1" fmla="*/ 651 w 840"/>
              <a:gd name="p0y1" fmla="*/ 0 h 840"/>
              <a:gd name="p0x2" fmla="*/ 840 w 840"/>
              <a:gd name="p0y2" fmla="*/ 188 h 840"/>
              <a:gd name="p0x3" fmla="*/ 840 w 840"/>
              <a:gd name="p0y3" fmla="*/ 420 h 840"/>
              <a:gd name="p0x4" fmla="*/ 840 w 840"/>
              <a:gd name="p0y4" fmla="*/ 651 h 840"/>
              <a:gd name="p0x5" fmla="*/ 651 w 840"/>
              <a:gd name="p0y5" fmla="*/ 840 h 840"/>
              <a:gd name="p0x6" fmla="*/ 420 w 840"/>
              <a:gd name="p0y6" fmla="*/ 840 h 840"/>
              <a:gd name="p0x7" fmla="*/ 188 w 840"/>
              <a:gd name="p0y7" fmla="*/ 840 h 840"/>
              <a:gd name="p0x8" fmla="*/ 0 w 840"/>
              <a:gd name="p0y8" fmla="*/ 651 h 840"/>
              <a:gd name="p0x9" fmla="*/ 0 w 840"/>
              <a:gd name="p0y9" fmla="*/ 420 h 840"/>
              <a:gd name="p0x10" fmla="*/ 0 w 840"/>
              <a:gd name="p0y10" fmla="*/ 188 h 840"/>
              <a:gd name="p0x11" fmla="*/ 188 w 840"/>
              <a:gd name="p0y11" fmla="*/ 0 h 840"/>
              <a:gd name="p0x12" fmla="*/ 420 w 840"/>
              <a:gd name="p0y12" fmla="*/ 0 h 8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650C7"/>
          </a:solidFill>
          <a:ln>
            <a:noFill/>
          </a:ln>
          <a:effectLst>
            <a:outerShdw sx="114286" sy="114286" algn="ctr" rotWithShape="0">
              <a:srgbClr val="F8E0F5">
                <a:alpha val="10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文本框 73"/>
          <p:cNvSpPr txBox="1"/>
          <p:nvPr>
            <p:custDataLst>
              <p:tags r:id="rId59"/>
            </p:custDataLst>
          </p:nvPr>
        </p:nvSpPr>
        <p:spPr>
          <a:xfrm>
            <a:off x="5905500" y="3492500"/>
            <a:ext cx="3810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</a:rPr>
              <a:t>成长</a:t>
            </a:r>
            <a:endParaRPr sz="1200" b="1">
              <a:solidFill>
                <a:srgbClr val="FFFFFF"/>
              </a:solidFill>
              <a:latin typeface="MiSans Normal" panose="00000500000000000000" charset="-122"/>
              <a:ea typeface="MiSans Normal" panose="00000500000000000000" charset="-122"/>
            </a:endParaRPr>
          </a:p>
          <a:p>
            <a:pPr algn="ctr"/>
            <a:r>
              <a:rPr sz="1200" b="1">
                <a:solidFill>
                  <a:srgbClr val="FFFFFF"/>
                </a:solidFill>
                <a:latin typeface="MiSans Normal" panose="00000500000000000000" charset="-122"/>
                <a:ea typeface="MiSans Normal" panose="00000500000000000000" charset="-122"/>
              </a:rPr>
              <a:t>飞轮</a:t>
            </a:r>
            <a:endParaRPr sz="1200" b="1">
              <a:solidFill>
                <a:srgbClr val="FFFFFF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C1B3D"/>
                </a:solidFill>
                <a:latin typeface="MiSans Demibold" panose="00000700000000000000" charset="-122"/>
                <a:ea typeface="MiSans Demibold" panose="00000700000000000000" charset="-122"/>
              </a:rPr>
              <a:t>系统如何服务成长</a:t>
            </a:r>
            <a:endParaRPr sz="3000" b="1">
              <a:solidFill>
                <a:srgbClr val="2C1B3D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1104900"/>
            <a:ext cx="11049000" cy="666750"/>
          </a:xfrm>
          <a:custGeom>
            <a:avLst/>
            <a:gdLst>
              <a:gd name="sw" fmla="*/ 1 w 17400"/>
              <a:gd name="sh" fmla="*/ 1 h 1050"/>
              <a:gd name="mins" fmla="min sw sh"/>
              <a:gd name="dsw" fmla="+- 0 sw mins"/>
              <a:gd name="dsh" fmla="+- 0 sh mins"/>
              <a:gd name="p0x0" fmla="*/ 240 w 17400"/>
              <a:gd name="p0y0" fmla="*/ 0 h 1050"/>
              <a:gd name="p0x1" fmla="*/ 17160 w 17400"/>
              <a:gd name="p0y1" fmla="*/ 0 h 1050"/>
              <a:gd name="p0x2" fmla="*/ 17292 w 17400"/>
              <a:gd name="p0y2" fmla="*/ 0 h 1050"/>
              <a:gd name="p0x3" fmla="*/ 17400 w 17400"/>
              <a:gd name="p0y3" fmla="*/ 107 h 1050"/>
              <a:gd name="p0x4" fmla="*/ 17400 w 17400"/>
              <a:gd name="p0y4" fmla="*/ 240 h 1050"/>
              <a:gd name="p0x5" fmla="*/ 17400 w 17400"/>
              <a:gd name="p0y5" fmla="*/ 810 h 1050"/>
              <a:gd name="p0x6" fmla="*/ 17400 w 17400"/>
              <a:gd name="p0y6" fmla="*/ 942 h 1050"/>
              <a:gd name="p0x7" fmla="*/ 17292 w 17400"/>
              <a:gd name="p0y7" fmla="*/ 1050 h 1050"/>
              <a:gd name="p0x8" fmla="*/ 17160 w 17400"/>
              <a:gd name="p0y8" fmla="*/ 1050 h 1050"/>
              <a:gd name="p0x9" fmla="*/ 240 w 17400"/>
              <a:gd name="p0y9" fmla="*/ 1050 h 1050"/>
              <a:gd name="p0x10" fmla="*/ 107 w 17400"/>
              <a:gd name="p0y10" fmla="*/ 1050 h 1050"/>
              <a:gd name="p0x11" fmla="*/ 0 w 17400"/>
              <a:gd name="p0y11" fmla="*/ 942 h 1050"/>
              <a:gd name="p0x12" fmla="*/ 0 w 17400"/>
              <a:gd name="p0y12" fmla="*/ 810 h 1050"/>
              <a:gd name="p0x13" fmla="*/ 0 w 17400"/>
              <a:gd name="p0y13" fmla="*/ 240 h 1050"/>
              <a:gd name="p0x14" fmla="*/ 0 w 17400"/>
              <a:gd name="p0y14" fmla="*/ 107 h 1050"/>
              <a:gd name="p0x15" fmla="*/ 107 w 17400"/>
              <a:gd name="p0y15" fmla="*/ 0 h 1050"/>
              <a:gd name="p0x16" fmla="*/ 240 w 17400"/>
              <a:gd name="p0y16" fmla="*/ 0 h 1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0E6F9"/>
          </a:solidFill>
          <a:ln>
            <a:noFill/>
          </a:ln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62000" y="1280160"/>
            <a:ext cx="3200552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所有系统共同服务于</a:t>
            </a:r>
            <a:r>
              <a:rPr b="1">
                <a:solidFill>
                  <a:srgbClr val="D650C7"/>
                </a:solidFill>
                <a:latin typeface="MiSans Normal" panose="00000500000000000000" charset="-122"/>
                <a:ea typeface="MiSans Normal" panose="00000500000000000000" charset="-122"/>
              </a:rPr>
              <a:t>成长体验</a:t>
            </a:r>
            <a:endParaRPr b="1">
              <a:solidFill>
                <a:srgbClr val="D650C7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575945" y="1966595"/>
            <a:ext cx="3546475" cy="2152650"/>
          </a:xfrm>
          <a:custGeom>
            <a:avLst/>
            <a:gdLst>
              <a:gd name="sw" fmla="*/ 1 w 5584"/>
              <a:gd name="sh" fmla="*/ 1 h 3390"/>
              <a:gd name="mins" fmla="min sw sh"/>
              <a:gd name="dsw" fmla="+- 0 sw mins"/>
              <a:gd name="dsh" fmla="+- 0 sh mins"/>
              <a:gd name="p0x0" fmla="*/ 240 w 5584"/>
              <a:gd name="p0y0" fmla="*/ 0 h 3390"/>
              <a:gd name="p0x1" fmla="*/ 5344 w 5584"/>
              <a:gd name="p0y1" fmla="*/ 0 h 3390"/>
              <a:gd name="p0x2" fmla="*/ 5477 w 5584"/>
              <a:gd name="p0y2" fmla="*/ 0 h 3390"/>
              <a:gd name="p0x3" fmla="*/ 5584 w 5584"/>
              <a:gd name="p0y3" fmla="*/ 107 h 3390"/>
              <a:gd name="p0x4" fmla="*/ 5584 w 5584"/>
              <a:gd name="p0y4" fmla="*/ 240 h 3390"/>
              <a:gd name="p0x5" fmla="*/ 5584 w 5584"/>
              <a:gd name="p0y5" fmla="*/ 3150 h 3390"/>
              <a:gd name="p0x6" fmla="*/ 5584 w 5584"/>
              <a:gd name="p0y6" fmla="*/ 3282 h 3390"/>
              <a:gd name="p0x7" fmla="*/ 5477 w 5584"/>
              <a:gd name="p0y7" fmla="*/ 3390 h 3390"/>
              <a:gd name="p0x8" fmla="*/ 5344 w 5584"/>
              <a:gd name="p0y8" fmla="*/ 3390 h 3390"/>
              <a:gd name="p0x9" fmla="*/ 240 w 5584"/>
              <a:gd name="p0y9" fmla="*/ 3390 h 3390"/>
              <a:gd name="p0x10" fmla="*/ 107 w 5584"/>
              <a:gd name="p0y10" fmla="*/ 3390 h 3390"/>
              <a:gd name="p0x11" fmla="*/ 0 w 5584"/>
              <a:gd name="p0y11" fmla="*/ 3282 h 3390"/>
              <a:gd name="p0x12" fmla="*/ 0 w 5584"/>
              <a:gd name="p0y12" fmla="*/ 3150 h 3390"/>
              <a:gd name="p0x13" fmla="*/ 0 w 5584"/>
              <a:gd name="p0y13" fmla="*/ 240 h 3390"/>
              <a:gd name="p0x14" fmla="*/ 0 w 5584"/>
              <a:gd name="p0y14" fmla="*/ 107 h 3390"/>
              <a:gd name="p0x15" fmla="*/ 107 w 5584"/>
              <a:gd name="p0y15" fmla="*/ 0 h 3390"/>
              <a:gd name="p0x16" fmla="*/ 240 w 5584"/>
              <a:gd name="p0y16" fmla="*/ 0 h 33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7FF"/>
          </a:solidFill>
          <a:ln w="9525" cmpd="sng">
            <a:solidFill>
              <a:srgbClr val="E8DCF0"/>
            </a:solidFill>
            <a:prstDash val="solid"/>
          </a:ln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2139315" y="24955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40 w 660"/>
              <a:gd name="p0y0" fmla="*/ 0 h 660"/>
              <a:gd name="p0x1" fmla="*/ 420 w 660"/>
              <a:gd name="p0y1" fmla="*/ 0 h 660"/>
              <a:gd name="p0x2" fmla="*/ 552 w 660"/>
              <a:gd name="p0y2" fmla="*/ 0 h 660"/>
              <a:gd name="p0x3" fmla="*/ 660 w 660"/>
              <a:gd name="p0y3" fmla="*/ 107 h 660"/>
              <a:gd name="p0x4" fmla="*/ 660 w 660"/>
              <a:gd name="p0y4" fmla="*/ 240 h 660"/>
              <a:gd name="p0x5" fmla="*/ 660 w 660"/>
              <a:gd name="p0y5" fmla="*/ 420 h 660"/>
              <a:gd name="p0x6" fmla="*/ 660 w 660"/>
              <a:gd name="p0y6" fmla="*/ 552 h 660"/>
              <a:gd name="p0x7" fmla="*/ 552 w 660"/>
              <a:gd name="p0y7" fmla="*/ 660 h 660"/>
              <a:gd name="p0x8" fmla="*/ 420 w 660"/>
              <a:gd name="p0y8" fmla="*/ 660 h 660"/>
              <a:gd name="p0x9" fmla="*/ 240 w 660"/>
              <a:gd name="p0y9" fmla="*/ 660 h 660"/>
              <a:gd name="p0x10" fmla="*/ 107 w 660"/>
              <a:gd name="p0y10" fmla="*/ 660 h 660"/>
              <a:gd name="p0x11" fmla="*/ 0 w 660"/>
              <a:gd name="p0y11" fmla="*/ 552 h 660"/>
              <a:gd name="p0x12" fmla="*/ 0 w 660"/>
              <a:gd name="p0y12" fmla="*/ 420 h 660"/>
              <a:gd name="p0x13" fmla="*/ 0 w 660"/>
              <a:gd name="p0y13" fmla="*/ 240 h 660"/>
              <a:gd name="p0x14" fmla="*/ 0 w 660"/>
              <a:gd name="p0y14" fmla="*/ 107 h 660"/>
              <a:gd name="p0x15" fmla="*/ 107 w 660"/>
              <a:gd name="p0y15" fmla="*/ 0 h 660"/>
              <a:gd name="p0x16" fmla="*/ 24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0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 descr="1f92bb8a-8598-11f1-b58e-aaf5da2b6ef6"/>
          <p:cNvPicPr/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246" r="246"/>
          <a:stretch>
            <a:fillRect/>
          </a:stretch>
        </p:blipFill>
        <p:spPr>
          <a:xfrm>
            <a:off x="2225040" y="2581275"/>
            <a:ext cx="247650" cy="24765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2001955" y="2975610"/>
            <a:ext cx="694954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 spc="36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主线</a:t>
            </a:r>
            <a:endParaRPr b="1" spc="36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1920773" y="3299460"/>
            <a:ext cx="8573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</a:rPr>
              <a:t>提供目标</a:t>
            </a:r>
            <a:endParaRPr sz="1350">
              <a:solidFill>
                <a:srgbClr val="5A4A6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1"/>
            </p:custDataLst>
          </p:nvPr>
        </p:nvSpPr>
        <p:spPr>
          <a:xfrm>
            <a:off x="4322445" y="1966595"/>
            <a:ext cx="3546475" cy="2152650"/>
          </a:xfrm>
          <a:custGeom>
            <a:avLst/>
            <a:gdLst>
              <a:gd name="sw" fmla="*/ 1 w 5585"/>
              <a:gd name="sh" fmla="*/ 1 h 3390"/>
              <a:gd name="mins" fmla="min sw sh"/>
              <a:gd name="dsw" fmla="+- 0 sw mins"/>
              <a:gd name="dsh" fmla="+- 0 sh mins"/>
              <a:gd name="p0x0" fmla="*/ 240 w 5585"/>
              <a:gd name="p0y0" fmla="*/ 0 h 3390"/>
              <a:gd name="p0x1" fmla="*/ 5345 w 5585"/>
              <a:gd name="p0y1" fmla="*/ 0 h 3390"/>
              <a:gd name="p0x2" fmla="*/ 5477 w 5585"/>
              <a:gd name="p0y2" fmla="*/ 0 h 3390"/>
              <a:gd name="p0x3" fmla="*/ 5585 w 5585"/>
              <a:gd name="p0y3" fmla="*/ 107 h 3390"/>
              <a:gd name="p0x4" fmla="*/ 5585 w 5585"/>
              <a:gd name="p0y4" fmla="*/ 240 h 3390"/>
              <a:gd name="p0x5" fmla="*/ 5585 w 5585"/>
              <a:gd name="p0y5" fmla="*/ 3150 h 3390"/>
              <a:gd name="p0x6" fmla="*/ 5585 w 5585"/>
              <a:gd name="p0y6" fmla="*/ 3282 h 3390"/>
              <a:gd name="p0x7" fmla="*/ 5477 w 5585"/>
              <a:gd name="p0y7" fmla="*/ 3390 h 3390"/>
              <a:gd name="p0x8" fmla="*/ 5345 w 5585"/>
              <a:gd name="p0y8" fmla="*/ 3390 h 3390"/>
              <a:gd name="p0x9" fmla="*/ 240 w 5585"/>
              <a:gd name="p0y9" fmla="*/ 3390 h 3390"/>
              <a:gd name="p0x10" fmla="*/ 107 w 5585"/>
              <a:gd name="p0y10" fmla="*/ 3390 h 3390"/>
              <a:gd name="p0x11" fmla="*/ 0 w 5585"/>
              <a:gd name="p0y11" fmla="*/ 3282 h 3390"/>
              <a:gd name="p0x12" fmla="*/ 0 w 5585"/>
              <a:gd name="p0y12" fmla="*/ 3150 h 3390"/>
              <a:gd name="p0x13" fmla="*/ 0 w 5585"/>
              <a:gd name="p0y13" fmla="*/ 240 h 3390"/>
              <a:gd name="p0x14" fmla="*/ 0 w 5585"/>
              <a:gd name="p0y14" fmla="*/ 107 h 3390"/>
              <a:gd name="p0x15" fmla="*/ 107 w 5585"/>
              <a:gd name="p0y15" fmla="*/ 0 h 3390"/>
              <a:gd name="p0x16" fmla="*/ 240 w 5585"/>
              <a:gd name="p0y16" fmla="*/ 0 h 33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7FF"/>
          </a:solidFill>
          <a:ln w="9525" cmpd="sng">
            <a:solidFill>
              <a:srgbClr val="E8DCF0"/>
            </a:solidFill>
            <a:prstDash val="solid"/>
          </a:ln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5885815" y="24955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40 w 660"/>
              <a:gd name="p0y0" fmla="*/ 0 h 660"/>
              <a:gd name="p0x1" fmla="*/ 420 w 660"/>
              <a:gd name="p0y1" fmla="*/ 0 h 660"/>
              <a:gd name="p0x2" fmla="*/ 552 w 660"/>
              <a:gd name="p0y2" fmla="*/ 0 h 660"/>
              <a:gd name="p0x3" fmla="*/ 660 w 660"/>
              <a:gd name="p0y3" fmla="*/ 107 h 660"/>
              <a:gd name="p0x4" fmla="*/ 660 w 660"/>
              <a:gd name="p0y4" fmla="*/ 240 h 660"/>
              <a:gd name="p0x5" fmla="*/ 660 w 660"/>
              <a:gd name="p0y5" fmla="*/ 420 h 660"/>
              <a:gd name="p0x6" fmla="*/ 660 w 660"/>
              <a:gd name="p0y6" fmla="*/ 552 h 660"/>
              <a:gd name="p0x7" fmla="*/ 552 w 660"/>
              <a:gd name="p0y7" fmla="*/ 660 h 660"/>
              <a:gd name="p0x8" fmla="*/ 420 w 660"/>
              <a:gd name="p0y8" fmla="*/ 660 h 660"/>
              <a:gd name="p0x9" fmla="*/ 240 w 660"/>
              <a:gd name="p0y9" fmla="*/ 660 h 660"/>
              <a:gd name="p0x10" fmla="*/ 107 w 660"/>
              <a:gd name="p0y10" fmla="*/ 660 h 660"/>
              <a:gd name="p0x11" fmla="*/ 0 w 660"/>
              <a:gd name="p0y11" fmla="*/ 552 h 660"/>
              <a:gd name="p0x12" fmla="*/ 0 w 660"/>
              <a:gd name="p0y12" fmla="*/ 420 h 660"/>
              <a:gd name="p0x13" fmla="*/ 0 w 660"/>
              <a:gd name="p0y13" fmla="*/ 240 h 660"/>
              <a:gd name="p0x14" fmla="*/ 0 w 660"/>
              <a:gd name="p0y14" fmla="*/ 107 h 660"/>
              <a:gd name="p0x15" fmla="*/ 107 w 660"/>
              <a:gd name="p0y15" fmla="*/ 0 h 660"/>
              <a:gd name="p0x16" fmla="*/ 24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0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 descr="1f92bbf0-8598-11f1-b58e-aaf5da2b6ef6"/>
          <p:cNvPicPr/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-225" r="225"/>
          <a:stretch>
            <a:fillRect/>
          </a:stretch>
        </p:blipFill>
        <p:spPr>
          <a:xfrm>
            <a:off x="5971540" y="2581275"/>
            <a:ext cx="247650" cy="24765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16"/>
            </p:custDataLst>
          </p:nvPr>
        </p:nvSpPr>
        <p:spPr>
          <a:xfrm>
            <a:off x="5748481" y="2975610"/>
            <a:ext cx="694953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 spc="36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挂机</a:t>
            </a:r>
            <a:endParaRPr b="1" spc="36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7"/>
            </p:custDataLst>
          </p:nvPr>
        </p:nvSpPr>
        <p:spPr>
          <a:xfrm>
            <a:off x="5667299" y="3299460"/>
            <a:ext cx="8573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</a:rPr>
              <a:t>提供资源</a:t>
            </a:r>
            <a:endParaRPr sz="1350">
              <a:solidFill>
                <a:srgbClr val="5A4A6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8"/>
            </p:custDataLst>
          </p:nvPr>
        </p:nvSpPr>
        <p:spPr>
          <a:xfrm>
            <a:off x="8068945" y="1966595"/>
            <a:ext cx="3546475" cy="2152650"/>
          </a:xfrm>
          <a:custGeom>
            <a:avLst/>
            <a:gdLst>
              <a:gd name="sw" fmla="*/ 1 w 5585"/>
              <a:gd name="sh" fmla="*/ 1 h 3390"/>
              <a:gd name="mins" fmla="min sw sh"/>
              <a:gd name="dsw" fmla="+- 0 sw mins"/>
              <a:gd name="dsh" fmla="+- 0 sh mins"/>
              <a:gd name="p0x0" fmla="*/ 240 w 5585"/>
              <a:gd name="p0y0" fmla="*/ 0 h 3390"/>
              <a:gd name="p0x1" fmla="*/ 5345 w 5585"/>
              <a:gd name="p0y1" fmla="*/ 0 h 3390"/>
              <a:gd name="p0x2" fmla="*/ 5477 w 5585"/>
              <a:gd name="p0y2" fmla="*/ 0 h 3390"/>
              <a:gd name="p0x3" fmla="*/ 5585 w 5585"/>
              <a:gd name="p0y3" fmla="*/ 107 h 3390"/>
              <a:gd name="p0x4" fmla="*/ 5585 w 5585"/>
              <a:gd name="p0y4" fmla="*/ 240 h 3390"/>
              <a:gd name="p0x5" fmla="*/ 5585 w 5585"/>
              <a:gd name="p0y5" fmla="*/ 3150 h 3390"/>
              <a:gd name="p0x6" fmla="*/ 5585 w 5585"/>
              <a:gd name="p0y6" fmla="*/ 3282 h 3390"/>
              <a:gd name="p0x7" fmla="*/ 5477 w 5585"/>
              <a:gd name="p0y7" fmla="*/ 3390 h 3390"/>
              <a:gd name="p0x8" fmla="*/ 5345 w 5585"/>
              <a:gd name="p0y8" fmla="*/ 3390 h 3390"/>
              <a:gd name="p0x9" fmla="*/ 240 w 5585"/>
              <a:gd name="p0y9" fmla="*/ 3390 h 3390"/>
              <a:gd name="p0x10" fmla="*/ 107 w 5585"/>
              <a:gd name="p0y10" fmla="*/ 3390 h 3390"/>
              <a:gd name="p0x11" fmla="*/ 0 w 5585"/>
              <a:gd name="p0y11" fmla="*/ 3282 h 3390"/>
              <a:gd name="p0x12" fmla="*/ 0 w 5585"/>
              <a:gd name="p0y12" fmla="*/ 3150 h 3390"/>
              <a:gd name="p0x13" fmla="*/ 0 w 5585"/>
              <a:gd name="p0y13" fmla="*/ 240 h 3390"/>
              <a:gd name="p0x14" fmla="*/ 0 w 5585"/>
              <a:gd name="p0y14" fmla="*/ 107 h 3390"/>
              <a:gd name="p0x15" fmla="*/ 107 w 5585"/>
              <a:gd name="p0y15" fmla="*/ 0 h 3390"/>
              <a:gd name="p0x16" fmla="*/ 240 w 5585"/>
              <a:gd name="p0y16" fmla="*/ 0 h 33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7FF"/>
          </a:solidFill>
          <a:ln w="9525" cmpd="sng">
            <a:solidFill>
              <a:srgbClr val="E8DCF0"/>
            </a:solidFill>
            <a:prstDash val="solid"/>
          </a:ln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19"/>
            </p:custDataLst>
          </p:nvPr>
        </p:nvSpPr>
        <p:spPr>
          <a:xfrm>
            <a:off x="9632315" y="24955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40 w 660"/>
              <a:gd name="p0y0" fmla="*/ 0 h 660"/>
              <a:gd name="p0x1" fmla="*/ 420 w 660"/>
              <a:gd name="p0y1" fmla="*/ 0 h 660"/>
              <a:gd name="p0x2" fmla="*/ 552 w 660"/>
              <a:gd name="p0y2" fmla="*/ 0 h 660"/>
              <a:gd name="p0x3" fmla="*/ 660 w 660"/>
              <a:gd name="p0y3" fmla="*/ 107 h 660"/>
              <a:gd name="p0x4" fmla="*/ 660 w 660"/>
              <a:gd name="p0y4" fmla="*/ 240 h 660"/>
              <a:gd name="p0x5" fmla="*/ 660 w 660"/>
              <a:gd name="p0y5" fmla="*/ 420 h 660"/>
              <a:gd name="p0x6" fmla="*/ 660 w 660"/>
              <a:gd name="p0y6" fmla="*/ 552 h 660"/>
              <a:gd name="p0x7" fmla="*/ 552 w 660"/>
              <a:gd name="p0y7" fmla="*/ 660 h 660"/>
              <a:gd name="p0x8" fmla="*/ 420 w 660"/>
              <a:gd name="p0y8" fmla="*/ 660 h 660"/>
              <a:gd name="p0x9" fmla="*/ 240 w 660"/>
              <a:gd name="p0y9" fmla="*/ 660 h 660"/>
              <a:gd name="p0x10" fmla="*/ 107 w 660"/>
              <a:gd name="p0y10" fmla="*/ 660 h 660"/>
              <a:gd name="p0x11" fmla="*/ 0 w 660"/>
              <a:gd name="p0y11" fmla="*/ 552 h 660"/>
              <a:gd name="p0x12" fmla="*/ 0 w 660"/>
              <a:gd name="p0y12" fmla="*/ 420 h 660"/>
              <a:gd name="p0x13" fmla="*/ 0 w 660"/>
              <a:gd name="p0y13" fmla="*/ 240 h 660"/>
              <a:gd name="p0x14" fmla="*/ 0 w 660"/>
              <a:gd name="p0y14" fmla="*/ 107 h 660"/>
              <a:gd name="p0x15" fmla="*/ 107 w 660"/>
              <a:gd name="p0y15" fmla="*/ 0 h 660"/>
              <a:gd name="p0x16" fmla="*/ 24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0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 descr="1f92bcd7-8598-11f1-b58e-aaf5da2b6ef6"/>
          <p:cNvPicPr/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235" r="235"/>
          <a:stretch>
            <a:fillRect/>
          </a:stretch>
        </p:blipFill>
        <p:spPr>
          <a:xfrm>
            <a:off x="9718040" y="2581275"/>
            <a:ext cx="247650" cy="247650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9495006" y="2975610"/>
            <a:ext cx="694954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 spc="36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装备</a:t>
            </a:r>
            <a:endParaRPr b="1" spc="36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9242374" y="3299460"/>
            <a:ext cx="12002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</a:rPr>
              <a:t>提供随机奖励</a:t>
            </a:r>
            <a:endParaRPr sz="1350">
              <a:solidFill>
                <a:srgbClr val="5A4A6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25"/>
            </p:custDataLst>
          </p:nvPr>
        </p:nvSpPr>
        <p:spPr>
          <a:xfrm>
            <a:off x="575945" y="4319270"/>
            <a:ext cx="3546475" cy="2152650"/>
          </a:xfrm>
          <a:custGeom>
            <a:avLst/>
            <a:gdLst>
              <a:gd name="sw" fmla="*/ 1 w 5584"/>
              <a:gd name="sh" fmla="*/ 1 h 3390"/>
              <a:gd name="mins" fmla="min sw sh"/>
              <a:gd name="dsw" fmla="+- 0 sw mins"/>
              <a:gd name="dsh" fmla="+- 0 sh mins"/>
              <a:gd name="p0x0" fmla="*/ 240 w 5584"/>
              <a:gd name="p0y0" fmla="*/ 0 h 3390"/>
              <a:gd name="p0x1" fmla="*/ 5344 w 5584"/>
              <a:gd name="p0y1" fmla="*/ 0 h 3390"/>
              <a:gd name="p0x2" fmla="*/ 5477 w 5584"/>
              <a:gd name="p0y2" fmla="*/ 0 h 3390"/>
              <a:gd name="p0x3" fmla="*/ 5584 w 5584"/>
              <a:gd name="p0y3" fmla="*/ 107 h 3390"/>
              <a:gd name="p0x4" fmla="*/ 5584 w 5584"/>
              <a:gd name="p0y4" fmla="*/ 240 h 3390"/>
              <a:gd name="p0x5" fmla="*/ 5584 w 5584"/>
              <a:gd name="p0y5" fmla="*/ 3150 h 3390"/>
              <a:gd name="p0x6" fmla="*/ 5584 w 5584"/>
              <a:gd name="p0y6" fmla="*/ 3282 h 3390"/>
              <a:gd name="p0x7" fmla="*/ 5477 w 5584"/>
              <a:gd name="p0y7" fmla="*/ 3390 h 3390"/>
              <a:gd name="p0x8" fmla="*/ 5344 w 5584"/>
              <a:gd name="p0y8" fmla="*/ 3390 h 3390"/>
              <a:gd name="p0x9" fmla="*/ 240 w 5584"/>
              <a:gd name="p0y9" fmla="*/ 3390 h 3390"/>
              <a:gd name="p0x10" fmla="*/ 107 w 5584"/>
              <a:gd name="p0y10" fmla="*/ 3390 h 3390"/>
              <a:gd name="p0x11" fmla="*/ 0 w 5584"/>
              <a:gd name="p0y11" fmla="*/ 3282 h 3390"/>
              <a:gd name="p0x12" fmla="*/ 0 w 5584"/>
              <a:gd name="p0y12" fmla="*/ 3150 h 3390"/>
              <a:gd name="p0x13" fmla="*/ 0 w 5584"/>
              <a:gd name="p0y13" fmla="*/ 240 h 3390"/>
              <a:gd name="p0x14" fmla="*/ 0 w 5584"/>
              <a:gd name="p0y14" fmla="*/ 107 h 3390"/>
              <a:gd name="p0x15" fmla="*/ 107 w 5584"/>
              <a:gd name="p0y15" fmla="*/ 0 h 3390"/>
              <a:gd name="p0x16" fmla="*/ 240 w 5584"/>
              <a:gd name="p0y16" fmla="*/ 0 h 33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7FF"/>
          </a:solidFill>
          <a:ln w="9525" cmpd="sng">
            <a:solidFill>
              <a:srgbClr val="E8DCF0"/>
            </a:solidFill>
            <a:prstDash val="solid"/>
          </a:ln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任意多边形 25"/>
          <p:cNvSpPr/>
          <p:nvPr>
            <p:custDataLst>
              <p:tags r:id="rId26"/>
            </p:custDataLst>
          </p:nvPr>
        </p:nvSpPr>
        <p:spPr>
          <a:xfrm>
            <a:off x="2139315" y="48482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40 w 660"/>
              <a:gd name="p0y0" fmla="*/ 0 h 660"/>
              <a:gd name="p0x1" fmla="*/ 420 w 660"/>
              <a:gd name="p0y1" fmla="*/ 0 h 660"/>
              <a:gd name="p0x2" fmla="*/ 552 w 660"/>
              <a:gd name="p0y2" fmla="*/ 0 h 660"/>
              <a:gd name="p0x3" fmla="*/ 660 w 660"/>
              <a:gd name="p0y3" fmla="*/ 107 h 660"/>
              <a:gd name="p0x4" fmla="*/ 660 w 660"/>
              <a:gd name="p0y4" fmla="*/ 240 h 660"/>
              <a:gd name="p0x5" fmla="*/ 660 w 660"/>
              <a:gd name="p0y5" fmla="*/ 420 h 660"/>
              <a:gd name="p0x6" fmla="*/ 660 w 660"/>
              <a:gd name="p0y6" fmla="*/ 552 h 660"/>
              <a:gd name="p0x7" fmla="*/ 552 w 660"/>
              <a:gd name="p0y7" fmla="*/ 660 h 660"/>
              <a:gd name="p0x8" fmla="*/ 420 w 660"/>
              <a:gd name="p0y8" fmla="*/ 660 h 660"/>
              <a:gd name="p0x9" fmla="*/ 240 w 660"/>
              <a:gd name="p0y9" fmla="*/ 660 h 660"/>
              <a:gd name="p0x10" fmla="*/ 107 w 660"/>
              <a:gd name="p0y10" fmla="*/ 660 h 660"/>
              <a:gd name="p0x11" fmla="*/ 0 w 660"/>
              <a:gd name="p0y11" fmla="*/ 552 h 660"/>
              <a:gd name="p0x12" fmla="*/ 0 w 660"/>
              <a:gd name="p0y12" fmla="*/ 420 h 660"/>
              <a:gd name="p0x13" fmla="*/ 0 w 660"/>
              <a:gd name="p0y13" fmla="*/ 240 h 660"/>
              <a:gd name="p0x14" fmla="*/ 0 w 660"/>
              <a:gd name="p0y14" fmla="*/ 107 h 660"/>
              <a:gd name="p0x15" fmla="*/ 107 w 660"/>
              <a:gd name="p0y15" fmla="*/ 0 h 660"/>
              <a:gd name="p0x16" fmla="*/ 24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0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7" name="图片 26" descr="1f92bca6-8598-11f1-b58e-aaf5da2b6ef6"/>
          <p:cNvPicPr/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-246" r="246"/>
          <a:stretch>
            <a:fillRect/>
          </a:stretch>
        </p:blipFill>
        <p:spPr>
          <a:xfrm>
            <a:off x="2225040" y="4933950"/>
            <a:ext cx="247650" cy="247650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30"/>
            </p:custDataLst>
          </p:nvPr>
        </p:nvSpPr>
        <p:spPr>
          <a:xfrm>
            <a:off x="1957902" y="5328285"/>
            <a:ext cx="782984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 spc="36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Build</a:t>
            </a:r>
            <a:endParaRPr b="1" spc="36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31"/>
            </p:custDataLst>
          </p:nvPr>
        </p:nvSpPr>
        <p:spPr>
          <a:xfrm>
            <a:off x="1920773" y="5652135"/>
            <a:ext cx="8573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</a:rPr>
              <a:t>提供策略</a:t>
            </a:r>
            <a:endParaRPr sz="1350">
              <a:solidFill>
                <a:srgbClr val="5A4A6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32"/>
            </p:custDataLst>
          </p:nvPr>
        </p:nvSpPr>
        <p:spPr>
          <a:xfrm>
            <a:off x="4322445" y="4319270"/>
            <a:ext cx="3546475" cy="2152650"/>
          </a:xfrm>
          <a:custGeom>
            <a:avLst/>
            <a:gdLst>
              <a:gd name="sw" fmla="*/ 1 w 5585"/>
              <a:gd name="sh" fmla="*/ 1 h 3390"/>
              <a:gd name="mins" fmla="min sw sh"/>
              <a:gd name="dsw" fmla="+- 0 sw mins"/>
              <a:gd name="dsh" fmla="+- 0 sh mins"/>
              <a:gd name="p0x0" fmla="*/ 240 w 5585"/>
              <a:gd name="p0y0" fmla="*/ 0 h 3390"/>
              <a:gd name="p0x1" fmla="*/ 5345 w 5585"/>
              <a:gd name="p0y1" fmla="*/ 0 h 3390"/>
              <a:gd name="p0x2" fmla="*/ 5477 w 5585"/>
              <a:gd name="p0y2" fmla="*/ 0 h 3390"/>
              <a:gd name="p0x3" fmla="*/ 5585 w 5585"/>
              <a:gd name="p0y3" fmla="*/ 107 h 3390"/>
              <a:gd name="p0x4" fmla="*/ 5585 w 5585"/>
              <a:gd name="p0y4" fmla="*/ 240 h 3390"/>
              <a:gd name="p0x5" fmla="*/ 5585 w 5585"/>
              <a:gd name="p0y5" fmla="*/ 3150 h 3390"/>
              <a:gd name="p0x6" fmla="*/ 5585 w 5585"/>
              <a:gd name="p0y6" fmla="*/ 3282 h 3390"/>
              <a:gd name="p0x7" fmla="*/ 5477 w 5585"/>
              <a:gd name="p0y7" fmla="*/ 3390 h 3390"/>
              <a:gd name="p0x8" fmla="*/ 5345 w 5585"/>
              <a:gd name="p0y8" fmla="*/ 3390 h 3390"/>
              <a:gd name="p0x9" fmla="*/ 240 w 5585"/>
              <a:gd name="p0y9" fmla="*/ 3390 h 3390"/>
              <a:gd name="p0x10" fmla="*/ 107 w 5585"/>
              <a:gd name="p0y10" fmla="*/ 3390 h 3390"/>
              <a:gd name="p0x11" fmla="*/ 0 w 5585"/>
              <a:gd name="p0y11" fmla="*/ 3282 h 3390"/>
              <a:gd name="p0x12" fmla="*/ 0 w 5585"/>
              <a:gd name="p0y12" fmla="*/ 3150 h 3390"/>
              <a:gd name="p0x13" fmla="*/ 0 w 5585"/>
              <a:gd name="p0y13" fmla="*/ 240 h 3390"/>
              <a:gd name="p0x14" fmla="*/ 0 w 5585"/>
              <a:gd name="p0y14" fmla="*/ 107 h 3390"/>
              <a:gd name="p0x15" fmla="*/ 107 w 5585"/>
              <a:gd name="p0y15" fmla="*/ 0 h 3390"/>
              <a:gd name="p0x16" fmla="*/ 240 w 5585"/>
              <a:gd name="p0y16" fmla="*/ 0 h 33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7FF"/>
          </a:solidFill>
          <a:ln w="9525" cmpd="sng">
            <a:solidFill>
              <a:srgbClr val="E8DCF0"/>
            </a:solidFill>
            <a:prstDash val="solid"/>
          </a:ln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>
            <p:custDataLst>
              <p:tags r:id="rId33"/>
            </p:custDataLst>
          </p:nvPr>
        </p:nvSpPr>
        <p:spPr>
          <a:xfrm>
            <a:off x="5885815" y="48482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40 w 660"/>
              <a:gd name="p0y0" fmla="*/ 0 h 660"/>
              <a:gd name="p0x1" fmla="*/ 420 w 660"/>
              <a:gd name="p0y1" fmla="*/ 0 h 660"/>
              <a:gd name="p0x2" fmla="*/ 552 w 660"/>
              <a:gd name="p0y2" fmla="*/ 0 h 660"/>
              <a:gd name="p0x3" fmla="*/ 660 w 660"/>
              <a:gd name="p0y3" fmla="*/ 107 h 660"/>
              <a:gd name="p0x4" fmla="*/ 660 w 660"/>
              <a:gd name="p0y4" fmla="*/ 240 h 660"/>
              <a:gd name="p0x5" fmla="*/ 660 w 660"/>
              <a:gd name="p0y5" fmla="*/ 420 h 660"/>
              <a:gd name="p0x6" fmla="*/ 660 w 660"/>
              <a:gd name="p0y6" fmla="*/ 552 h 660"/>
              <a:gd name="p0x7" fmla="*/ 552 w 660"/>
              <a:gd name="p0y7" fmla="*/ 660 h 660"/>
              <a:gd name="p0x8" fmla="*/ 420 w 660"/>
              <a:gd name="p0y8" fmla="*/ 660 h 660"/>
              <a:gd name="p0x9" fmla="*/ 240 w 660"/>
              <a:gd name="p0y9" fmla="*/ 660 h 660"/>
              <a:gd name="p0x10" fmla="*/ 107 w 660"/>
              <a:gd name="p0y10" fmla="*/ 660 h 660"/>
              <a:gd name="p0x11" fmla="*/ 0 w 660"/>
              <a:gd name="p0y11" fmla="*/ 552 h 660"/>
              <a:gd name="p0x12" fmla="*/ 0 w 660"/>
              <a:gd name="p0y12" fmla="*/ 420 h 660"/>
              <a:gd name="p0x13" fmla="*/ 0 w 660"/>
              <a:gd name="p0y13" fmla="*/ 240 h 660"/>
              <a:gd name="p0x14" fmla="*/ 0 w 660"/>
              <a:gd name="p0y14" fmla="*/ 107 h 660"/>
              <a:gd name="p0x15" fmla="*/ 107 w 660"/>
              <a:gd name="p0y15" fmla="*/ 0 h 660"/>
              <a:gd name="p0x16" fmla="*/ 24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0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3" name="图片 32" descr="1f92bcf0-8598-11f1-b58e-aaf5da2b6ef6"/>
          <p:cNvPicPr/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l="-225" r="225"/>
          <a:stretch>
            <a:fillRect/>
          </a:stretch>
        </p:blipFill>
        <p:spPr>
          <a:xfrm>
            <a:off x="5971540" y="4933950"/>
            <a:ext cx="247650" cy="247650"/>
          </a:xfrm>
          <a:prstGeom prst="rect">
            <a:avLst/>
          </a:prstGeom>
        </p:spPr>
      </p:pic>
      <p:sp>
        <p:nvSpPr>
          <p:cNvPr id="35" name="文本框 34"/>
          <p:cNvSpPr txBox="1"/>
          <p:nvPr>
            <p:custDataLst>
              <p:tags r:id="rId37"/>
            </p:custDataLst>
          </p:nvPr>
        </p:nvSpPr>
        <p:spPr>
          <a:xfrm>
            <a:off x="5748481" y="5328285"/>
            <a:ext cx="694953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 spc="36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宠物</a:t>
            </a:r>
            <a:endParaRPr b="1" spc="36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38"/>
            </p:custDataLst>
          </p:nvPr>
        </p:nvSpPr>
        <p:spPr>
          <a:xfrm>
            <a:off x="5667299" y="5652135"/>
            <a:ext cx="8573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</a:rPr>
              <a:t>提供养成</a:t>
            </a:r>
            <a:endParaRPr sz="1350">
              <a:solidFill>
                <a:srgbClr val="5A4A6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7" name="任意多边形 36"/>
          <p:cNvSpPr/>
          <p:nvPr>
            <p:custDataLst>
              <p:tags r:id="rId39"/>
            </p:custDataLst>
          </p:nvPr>
        </p:nvSpPr>
        <p:spPr>
          <a:xfrm>
            <a:off x="8068945" y="4319270"/>
            <a:ext cx="3546475" cy="2152650"/>
          </a:xfrm>
          <a:custGeom>
            <a:avLst/>
            <a:gdLst>
              <a:gd name="sw" fmla="*/ 1 w 5585"/>
              <a:gd name="sh" fmla="*/ 1 h 3390"/>
              <a:gd name="mins" fmla="min sw sh"/>
              <a:gd name="dsw" fmla="+- 0 sw mins"/>
              <a:gd name="dsh" fmla="+- 0 sh mins"/>
              <a:gd name="p0x0" fmla="*/ 240 w 5585"/>
              <a:gd name="p0y0" fmla="*/ 0 h 3390"/>
              <a:gd name="p0x1" fmla="*/ 5345 w 5585"/>
              <a:gd name="p0y1" fmla="*/ 0 h 3390"/>
              <a:gd name="p0x2" fmla="*/ 5477 w 5585"/>
              <a:gd name="p0y2" fmla="*/ 0 h 3390"/>
              <a:gd name="p0x3" fmla="*/ 5585 w 5585"/>
              <a:gd name="p0y3" fmla="*/ 107 h 3390"/>
              <a:gd name="p0x4" fmla="*/ 5585 w 5585"/>
              <a:gd name="p0y4" fmla="*/ 240 h 3390"/>
              <a:gd name="p0x5" fmla="*/ 5585 w 5585"/>
              <a:gd name="p0y5" fmla="*/ 3150 h 3390"/>
              <a:gd name="p0x6" fmla="*/ 5585 w 5585"/>
              <a:gd name="p0y6" fmla="*/ 3282 h 3390"/>
              <a:gd name="p0x7" fmla="*/ 5477 w 5585"/>
              <a:gd name="p0y7" fmla="*/ 3390 h 3390"/>
              <a:gd name="p0x8" fmla="*/ 5345 w 5585"/>
              <a:gd name="p0y8" fmla="*/ 3390 h 3390"/>
              <a:gd name="p0x9" fmla="*/ 240 w 5585"/>
              <a:gd name="p0y9" fmla="*/ 3390 h 3390"/>
              <a:gd name="p0x10" fmla="*/ 107 w 5585"/>
              <a:gd name="p0y10" fmla="*/ 3390 h 3390"/>
              <a:gd name="p0x11" fmla="*/ 0 w 5585"/>
              <a:gd name="p0y11" fmla="*/ 3282 h 3390"/>
              <a:gd name="p0x12" fmla="*/ 0 w 5585"/>
              <a:gd name="p0y12" fmla="*/ 3150 h 3390"/>
              <a:gd name="p0x13" fmla="*/ 0 w 5585"/>
              <a:gd name="p0y13" fmla="*/ 240 h 3390"/>
              <a:gd name="p0x14" fmla="*/ 0 w 5585"/>
              <a:gd name="p0y14" fmla="*/ 107 h 3390"/>
              <a:gd name="p0x15" fmla="*/ 107 w 5585"/>
              <a:gd name="p0y15" fmla="*/ 0 h 3390"/>
              <a:gd name="p0x16" fmla="*/ 240 w 5585"/>
              <a:gd name="p0y16" fmla="*/ 0 h 33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7FF"/>
          </a:solidFill>
          <a:ln w="9525" cmpd="sng">
            <a:solidFill>
              <a:srgbClr val="E8DCF0"/>
            </a:solidFill>
            <a:prstDash val="solid"/>
          </a:ln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任意多边形 37"/>
          <p:cNvSpPr/>
          <p:nvPr>
            <p:custDataLst>
              <p:tags r:id="rId40"/>
            </p:custDataLst>
          </p:nvPr>
        </p:nvSpPr>
        <p:spPr>
          <a:xfrm>
            <a:off x="9632315" y="48482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40 w 660"/>
              <a:gd name="p0y0" fmla="*/ 0 h 660"/>
              <a:gd name="p0x1" fmla="*/ 420 w 660"/>
              <a:gd name="p0y1" fmla="*/ 0 h 660"/>
              <a:gd name="p0x2" fmla="*/ 552 w 660"/>
              <a:gd name="p0y2" fmla="*/ 0 h 660"/>
              <a:gd name="p0x3" fmla="*/ 660 w 660"/>
              <a:gd name="p0y3" fmla="*/ 107 h 660"/>
              <a:gd name="p0x4" fmla="*/ 660 w 660"/>
              <a:gd name="p0y4" fmla="*/ 240 h 660"/>
              <a:gd name="p0x5" fmla="*/ 660 w 660"/>
              <a:gd name="p0y5" fmla="*/ 420 h 660"/>
              <a:gd name="p0x6" fmla="*/ 660 w 660"/>
              <a:gd name="p0y6" fmla="*/ 552 h 660"/>
              <a:gd name="p0x7" fmla="*/ 552 w 660"/>
              <a:gd name="p0y7" fmla="*/ 660 h 660"/>
              <a:gd name="p0x8" fmla="*/ 420 w 660"/>
              <a:gd name="p0y8" fmla="*/ 660 h 660"/>
              <a:gd name="p0x9" fmla="*/ 240 w 660"/>
              <a:gd name="p0y9" fmla="*/ 660 h 660"/>
              <a:gd name="p0x10" fmla="*/ 107 w 660"/>
              <a:gd name="p0y10" fmla="*/ 660 h 660"/>
              <a:gd name="p0x11" fmla="*/ 0 w 660"/>
              <a:gd name="p0y11" fmla="*/ 552 h 660"/>
              <a:gd name="p0x12" fmla="*/ 0 w 660"/>
              <a:gd name="p0y12" fmla="*/ 420 h 660"/>
              <a:gd name="p0x13" fmla="*/ 0 w 660"/>
              <a:gd name="p0y13" fmla="*/ 240 h 660"/>
              <a:gd name="p0x14" fmla="*/ 0 w 660"/>
              <a:gd name="p0y14" fmla="*/ 107 h 660"/>
              <a:gd name="p0x15" fmla="*/ 107 w 660"/>
              <a:gd name="p0y15" fmla="*/ 0 h 660"/>
              <a:gd name="p0x16" fmla="*/ 24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0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9" name="图片 38" descr="1f92bd8b-8598-11f1-b58e-aaf5da2b6ef6"/>
          <p:cNvPicPr/>
          <p:nvPr>
            <p:custDataLst>
              <p:tags r:id="rId41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 l="-235" r="235"/>
          <a:stretch>
            <a:fillRect/>
          </a:stretch>
        </p:blipFill>
        <p:spPr>
          <a:xfrm>
            <a:off x="9718040" y="4933950"/>
            <a:ext cx="247650" cy="247650"/>
          </a:xfrm>
          <a:prstGeom prst="rect">
            <a:avLst/>
          </a:prstGeom>
        </p:spPr>
      </p:pic>
      <p:sp>
        <p:nvSpPr>
          <p:cNvPr id="41" name="文本框 40"/>
          <p:cNvSpPr txBox="1"/>
          <p:nvPr>
            <p:custDataLst>
              <p:tags r:id="rId44"/>
            </p:custDataLst>
          </p:nvPr>
        </p:nvSpPr>
        <p:spPr>
          <a:xfrm>
            <a:off x="9495006" y="5328285"/>
            <a:ext cx="694954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 spc="36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副本</a:t>
            </a:r>
            <a:endParaRPr b="1" spc="36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45"/>
            </p:custDataLst>
          </p:nvPr>
        </p:nvSpPr>
        <p:spPr>
          <a:xfrm>
            <a:off x="9413824" y="5652135"/>
            <a:ext cx="8573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</a:rPr>
              <a:t>提供挑战</a:t>
            </a:r>
            <a:endParaRPr sz="1350">
              <a:solidFill>
                <a:srgbClr val="5A4A6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C1B3D"/>
                </a:solidFill>
                <a:latin typeface="MiSans Demibold" panose="00000700000000000000" charset="-122"/>
                <a:ea typeface="MiSans Demibold" panose="00000700000000000000" charset="-122"/>
              </a:rPr>
              <a:t>每日上线驱动力</a:t>
            </a:r>
            <a:endParaRPr sz="3000" b="1">
              <a:solidFill>
                <a:srgbClr val="2C1B3D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1104900"/>
            <a:ext cx="11049000" cy="1285875"/>
          </a:xfrm>
          <a:custGeom>
            <a:avLst/>
            <a:gdLst>
              <a:gd name="sw" fmla="*/ 1 w 17400"/>
              <a:gd name="sh" fmla="*/ 1 h 2025"/>
              <a:gd name="mins" fmla="min sw sh"/>
              <a:gd name="dsw" fmla="+- 0 sw mins"/>
              <a:gd name="dsh" fmla="+- 0 sh mins"/>
              <a:gd name="p0x0" fmla="*/ 240 w 17400"/>
              <a:gd name="p0y0" fmla="*/ 0 h 2025"/>
              <a:gd name="p0x1" fmla="*/ 17160 w 17400"/>
              <a:gd name="p0y1" fmla="*/ 0 h 2025"/>
              <a:gd name="p0x2" fmla="*/ 17292 w 17400"/>
              <a:gd name="p0y2" fmla="*/ 0 h 2025"/>
              <a:gd name="p0x3" fmla="*/ 17400 w 17400"/>
              <a:gd name="p0y3" fmla="*/ 107 h 2025"/>
              <a:gd name="p0x4" fmla="*/ 17400 w 17400"/>
              <a:gd name="p0y4" fmla="*/ 240 h 2025"/>
              <a:gd name="p0x5" fmla="*/ 17400 w 17400"/>
              <a:gd name="p0y5" fmla="*/ 1785 h 2025"/>
              <a:gd name="p0x6" fmla="*/ 17400 w 17400"/>
              <a:gd name="p0y6" fmla="*/ 1917 h 2025"/>
              <a:gd name="p0x7" fmla="*/ 17292 w 17400"/>
              <a:gd name="p0y7" fmla="*/ 2025 h 2025"/>
              <a:gd name="p0x8" fmla="*/ 17160 w 17400"/>
              <a:gd name="p0y8" fmla="*/ 2025 h 2025"/>
              <a:gd name="p0x9" fmla="*/ 240 w 17400"/>
              <a:gd name="p0y9" fmla="*/ 2025 h 2025"/>
              <a:gd name="p0x10" fmla="*/ 107 w 17400"/>
              <a:gd name="p0y10" fmla="*/ 2025 h 2025"/>
              <a:gd name="p0x11" fmla="*/ 0 w 17400"/>
              <a:gd name="p0y11" fmla="*/ 1917 h 2025"/>
              <a:gd name="p0x12" fmla="*/ 0 w 17400"/>
              <a:gd name="p0y12" fmla="*/ 1785 h 2025"/>
              <a:gd name="p0x13" fmla="*/ 0 w 17400"/>
              <a:gd name="p0y13" fmla="*/ 240 h 2025"/>
              <a:gd name="p0x14" fmla="*/ 0 w 17400"/>
              <a:gd name="p0y14" fmla="*/ 107 h 2025"/>
              <a:gd name="p0x15" fmla="*/ 107 w 17400"/>
              <a:gd name="p0y15" fmla="*/ 0 h 2025"/>
              <a:gd name="p0x16" fmla="*/ 240 w 17400"/>
              <a:gd name="p0y16" fmla="*/ 0 h 20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0E6F9"/>
          </a:solidFill>
          <a:ln>
            <a:noFill/>
          </a:ln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62000" y="1589723"/>
            <a:ext cx="3429152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D650C7"/>
                </a:solidFill>
                <a:latin typeface="MiSans Normal" panose="00000500000000000000" charset="-122"/>
                <a:ea typeface="MiSans Normal" panose="00000500000000000000" charset="-122"/>
              </a:rPr>
              <a:t>成长反馈</a:t>
            </a:r>
            <a:r>
              <a:rPr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是稳定留存的底层逻辑</a:t>
            </a:r>
            <a:endParaRPr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575945" y="2623820"/>
            <a:ext cx="2609850" cy="3848100"/>
          </a:xfrm>
          <a:custGeom>
            <a:avLst/>
            <a:gdLst>
              <a:gd name="sw" fmla="*/ 1 w 4110"/>
              <a:gd name="sh" fmla="*/ 1 h 6060"/>
              <a:gd name="mins" fmla="min sw sh"/>
              <a:gd name="dsw" fmla="+- 0 sw mins"/>
              <a:gd name="dsh" fmla="+- 0 sh mins"/>
              <a:gd name="p0x0" fmla="*/ 240 w 4110"/>
              <a:gd name="p0y0" fmla="*/ 0 h 6060"/>
              <a:gd name="p0x1" fmla="*/ 3870 w 4110"/>
              <a:gd name="p0y1" fmla="*/ 0 h 6060"/>
              <a:gd name="p0x2" fmla="*/ 4002 w 4110"/>
              <a:gd name="p0y2" fmla="*/ 0 h 6060"/>
              <a:gd name="p0x3" fmla="*/ 4110 w 4110"/>
              <a:gd name="p0y3" fmla="*/ 107 h 6060"/>
              <a:gd name="p0x4" fmla="*/ 4110 w 4110"/>
              <a:gd name="p0y4" fmla="*/ 240 h 6060"/>
              <a:gd name="p0x5" fmla="*/ 4110 w 4110"/>
              <a:gd name="p0y5" fmla="*/ 5820 h 6060"/>
              <a:gd name="p0x6" fmla="*/ 4110 w 4110"/>
              <a:gd name="p0y6" fmla="*/ 5952 h 6060"/>
              <a:gd name="p0x7" fmla="*/ 4002 w 4110"/>
              <a:gd name="p0y7" fmla="*/ 6060 h 6060"/>
              <a:gd name="p0x8" fmla="*/ 3870 w 4110"/>
              <a:gd name="p0y8" fmla="*/ 6060 h 6060"/>
              <a:gd name="p0x9" fmla="*/ 240 w 4110"/>
              <a:gd name="p0y9" fmla="*/ 6060 h 6060"/>
              <a:gd name="p0x10" fmla="*/ 107 w 4110"/>
              <a:gd name="p0y10" fmla="*/ 6060 h 6060"/>
              <a:gd name="p0x11" fmla="*/ 0 w 4110"/>
              <a:gd name="p0y11" fmla="*/ 5952 h 6060"/>
              <a:gd name="p0x12" fmla="*/ 0 w 4110"/>
              <a:gd name="p0y12" fmla="*/ 5820 h 6060"/>
              <a:gd name="p0x13" fmla="*/ 0 w 4110"/>
              <a:gd name="p0y13" fmla="*/ 240 h 6060"/>
              <a:gd name="p0x14" fmla="*/ 0 w 4110"/>
              <a:gd name="p0y14" fmla="*/ 107 h 6060"/>
              <a:gd name="p0x15" fmla="*/ 107 w 4110"/>
              <a:gd name="p0y15" fmla="*/ 0 h 6060"/>
              <a:gd name="p0x16" fmla="*/ 240 w 4110"/>
              <a:gd name="p0y16" fmla="*/ 0 h 60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7FF"/>
          </a:solidFill>
          <a:ln w="9525" cmpd="sng">
            <a:solidFill>
              <a:srgbClr val="E8DCF0"/>
            </a:solidFill>
            <a:prstDash val="solid"/>
          </a:ln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771525" y="3950970"/>
            <a:ext cx="221932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即时反馈</a:t>
            </a:r>
            <a:endParaRPr sz="2100" b="1" spc="42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6"/>
            </p:custDataLst>
          </p:nvPr>
        </p:nvSpPr>
        <p:spPr>
          <a:xfrm>
            <a:off x="771525" y="4376420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650C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771525" y="4505325"/>
            <a:ext cx="221932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</a:rPr>
              <a:t>挂机收益领取、角色数值提升，</a:t>
            </a:r>
            <a:r>
              <a:rPr sz="1500" b="1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立竿见影</a:t>
            </a:r>
            <a:r>
              <a:rPr sz="150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</a:rPr>
              <a:t>变强感知</a:t>
            </a:r>
            <a:endParaRPr sz="1500">
              <a:solidFill>
                <a:srgbClr val="5A4A6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8"/>
            </p:custDataLst>
          </p:nvPr>
        </p:nvSpPr>
        <p:spPr>
          <a:xfrm>
            <a:off x="3385820" y="2623820"/>
            <a:ext cx="2609850" cy="3848100"/>
          </a:xfrm>
          <a:custGeom>
            <a:avLst/>
            <a:gdLst>
              <a:gd name="sw" fmla="*/ 1 w 4110"/>
              <a:gd name="sh" fmla="*/ 1 h 6060"/>
              <a:gd name="mins" fmla="min sw sh"/>
              <a:gd name="dsw" fmla="+- 0 sw mins"/>
              <a:gd name="dsh" fmla="+- 0 sh mins"/>
              <a:gd name="p0x0" fmla="*/ 240 w 4110"/>
              <a:gd name="p0y0" fmla="*/ 0 h 6060"/>
              <a:gd name="p0x1" fmla="*/ 3870 w 4110"/>
              <a:gd name="p0y1" fmla="*/ 0 h 6060"/>
              <a:gd name="p0x2" fmla="*/ 4002 w 4110"/>
              <a:gd name="p0y2" fmla="*/ 0 h 6060"/>
              <a:gd name="p0x3" fmla="*/ 4110 w 4110"/>
              <a:gd name="p0y3" fmla="*/ 107 h 6060"/>
              <a:gd name="p0x4" fmla="*/ 4110 w 4110"/>
              <a:gd name="p0y4" fmla="*/ 240 h 6060"/>
              <a:gd name="p0x5" fmla="*/ 4110 w 4110"/>
              <a:gd name="p0y5" fmla="*/ 5820 h 6060"/>
              <a:gd name="p0x6" fmla="*/ 4110 w 4110"/>
              <a:gd name="p0y6" fmla="*/ 5952 h 6060"/>
              <a:gd name="p0x7" fmla="*/ 4002 w 4110"/>
              <a:gd name="p0y7" fmla="*/ 6060 h 6060"/>
              <a:gd name="p0x8" fmla="*/ 3870 w 4110"/>
              <a:gd name="p0y8" fmla="*/ 6060 h 6060"/>
              <a:gd name="p0x9" fmla="*/ 240 w 4110"/>
              <a:gd name="p0y9" fmla="*/ 6060 h 6060"/>
              <a:gd name="p0x10" fmla="*/ 107 w 4110"/>
              <a:gd name="p0y10" fmla="*/ 6060 h 6060"/>
              <a:gd name="p0x11" fmla="*/ 0 w 4110"/>
              <a:gd name="p0y11" fmla="*/ 5952 h 6060"/>
              <a:gd name="p0x12" fmla="*/ 0 w 4110"/>
              <a:gd name="p0y12" fmla="*/ 5820 h 6060"/>
              <a:gd name="p0x13" fmla="*/ 0 w 4110"/>
              <a:gd name="p0y13" fmla="*/ 240 h 6060"/>
              <a:gd name="p0x14" fmla="*/ 0 w 4110"/>
              <a:gd name="p0y14" fmla="*/ 107 h 6060"/>
              <a:gd name="p0x15" fmla="*/ 107 w 4110"/>
              <a:gd name="p0y15" fmla="*/ 0 h 6060"/>
              <a:gd name="p0x16" fmla="*/ 240 w 4110"/>
              <a:gd name="p0y16" fmla="*/ 0 h 60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7FF"/>
          </a:solidFill>
          <a:ln w="9525" cmpd="sng">
            <a:solidFill>
              <a:srgbClr val="E8DCF0"/>
            </a:solidFill>
            <a:prstDash val="solid"/>
          </a:ln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3581400" y="3950970"/>
            <a:ext cx="221932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阶段目标</a:t>
            </a:r>
            <a:endParaRPr sz="2100" b="1" spc="42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0"/>
            </p:custDataLst>
          </p:nvPr>
        </p:nvSpPr>
        <p:spPr>
          <a:xfrm>
            <a:off x="3581400" y="4376420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650C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3581400" y="4505325"/>
            <a:ext cx="20955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</a:rPr>
              <a:t>关卡推进、副本解锁，今日进度</a:t>
            </a:r>
            <a:r>
              <a:rPr sz="1500" b="1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可视化</a:t>
            </a:r>
            <a:endParaRPr sz="1500" b="1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12"/>
            </p:custDataLst>
          </p:nvPr>
        </p:nvSpPr>
        <p:spPr>
          <a:xfrm>
            <a:off x="6195695" y="2623820"/>
            <a:ext cx="2609850" cy="3848100"/>
          </a:xfrm>
          <a:custGeom>
            <a:avLst/>
            <a:gdLst>
              <a:gd name="sw" fmla="*/ 1 w 4110"/>
              <a:gd name="sh" fmla="*/ 1 h 6060"/>
              <a:gd name="mins" fmla="min sw sh"/>
              <a:gd name="dsw" fmla="+- 0 sw mins"/>
              <a:gd name="dsh" fmla="+- 0 sh mins"/>
              <a:gd name="p0x0" fmla="*/ 240 w 4110"/>
              <a:gd name="p0y0" fmla="*/ 0 h 6060"/>
              <a:gd name="p0x1" fmla="*/ 3870 w 4110"/>
              <a:gd name="p0y1" fmla="*/ 0 h 6060"/>
              <a:gd name="p0x2" fmla="*/ 4002 w 4110"/>
              <a:gd name="p0y2" fmla="*/ 0 h 6060"/>
              <a:gd name="p0x3" fmla="*/ 4110 w 4110"/>
              <a:gd name="p0y3" fmla="*/ 107 h 6060"/>
              <a:gd name="p0x4" fmla="*/ 4110 w 4110"/>
              <a:gd name="p0y4" fmla="*/ 240 h 6060"/>
              <a:gd name="p0x5" fmla="*/ 4110 w 4110"/>
              <a:gd name="p0y5" fmla="*/ 5820 h 6060"/>
              <a:gd name="p0x6" fmla="*/ 4110 w 4110"/>
              <a:gd name="p0y6" fmla="*/ 5952 h 6060"/>
              <a:gd name="p0x7" fmla="*/ 4002 w 4110"/>
              <a:gd name="p0y7" fmla="*/ 6060 h 6060"/>
              <a:gd name="p0x8" fmla="*/ 3870 w 4110"/>
              <a:gd name="p0y8" fmla="*/ 6060 h 6060"/>
              <a:gd name="p0x9" fmla="*/ 240 w 4110"/>
              <a:gd name="p0y9" fmla="*/ 6060 h 6060"/>
              <a:gd name="p0x10" fmla="*/ 107 w 4110"/>
              <a:gd name="p0y10" fmla="*/ 6060 h 6060"/>
              <a:gd name="p0x11" fmla="*/ 0 w 4110"/>
              <a:gd name="p0y11" fmla="*/ 5952 h 6060"/>
              <a:gd name="p0x12" fmla="*/ 0 w 4110"/>
              <a:gd name="p0y12" fmla="*/ 5820 h 6060"/>
              <a:gd name="p0x13" fmla="*/ 0 w 4110"/>
              <a:gd name="p0y13" fmla="*/ 240 h 6060"/>
              <a:gd name="p0x14" fmla="*/ 0 w 4110"/>
              <a:gd name="p0y14" fmla="*/ 107 h 6060"/>
              <a:gd name="p0x15" fmla="*/ 107 w 4110"/>
              <a:gd name="p0y15" fmla="*/ 0 h 6060"/>
              <a:gd name="p0x16" fmla="*/ 240 w 4110"/>
              <a:gd name="p0y16" fmla="*/ 0 h 60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7FF"/>
          </a:solidFill>
          <a:ln w="9525" cmpd="sng">
            <a:solidFill>
              <a:srgbClr val="E8DCF0"/>
            </a:solidFill>
            <a:prstDash val="solid"/>
          </a:ln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3"/>
            </p:custDataLst>
          </p:nvPr>
        </p:nvSpPr>
        <p:spPr>
          <a:xfrm>
            <a:off x="6391275" y="3950970"/>
            <a:ext cx="221932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长期目标</a:t>
            </a:r>
            <a:endParaRPr sz="2100" b="1" spc="42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4"/>
            </p:custDataLst>
          </p:nvPr>
        </p:nvSpPr>
        <p:spPr>
          <a:xfrm>
            <a:off x="6391275" y="4376420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650C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5"/>
            </p:custDataLst>
          </p:nvPr>
        </p:nvSpPr>
        <p:spPr>
          <a:xfrm>
            <a:off x="6391275" y="4505325"/>
            <a:ext cx="221932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毕业装备追求、</a:t>
            </a:r>
            <a:r>
              <a:rPr lang="en-US" altLang="zh-CN" sz="150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Build</a:t>
            </a:r>
            <a:r>
              <a:rPr lang="zh-CN" altLang="en-US" sz="150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成型，</a:t>
            </a:r>
            <a:r>
              <a:rPr sz="1500" b="1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持续数周</a:t>
            </a:r>
            <a:r>
              <a:rPr sz="150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</a:rPr>
              <a:t>的养成主线</a:t>
            </a:r>
            <a:endParaRPr sz="1500">
              <a:solidFill>
                <a:srgbClr val="5A4A6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6"/>
            </p:custDataLst>
          </p:nvPr>
        </p:nvSpPr>
        <p:spPr>
          <a:xfrm>
            <a:off x="9005570" y="2623820"/>
            <a:ext cx="2609850" cy="3848100"/>
          </a:xfrm>
          <a:custGeom>
            <a:avLst/>
            <a:gdLst>
              <a:gd name="sw" fmla="*/ 1 w 4110"/>
              <a:gd name="sh" fmla="*/ 1 h 6060"/>
              <a:gd name="mins" fmla="min sw sh"/>
              <a:gd name="dsw" fmla="+- 0 sw mins"/>
              <a:gd name="dsh" fmla="+- 0 sh mins"/>
              <a:gd name="p0x0" fmla="*/ 240 w 4110"/>
              <a:gd name="p0y0" fmla="*/ 0 h 6060"/>
              <a:gd name="p0x1" fmla="*/ 3870 w 4110"/>
              <a:gd name="p0y1" fmla="*/ 0 h 6060"/>
              <a:gd name="p0x2" fmla="*/ 4002 w 4110"/>
              <a:gd name="p0y2" fmla="*/ 0 h 6060"/>
              <a:gd name="p0x3" fmla="*/ 4110 w 4110"/>
              <a:gd name="p0y3" fmla="*/ 107 h 6060"/>
              <a:gd name="p0x4" fmla="*/ 4110 w 4110"/>
              <a:gd name="p0y4" fmla="*/ 240 h 6060"/>
              <a:gd name="p0x5" fmla="*/ 4110 w 4110"/>
              <a:gd name="p0y5" fmla="*/ 5820 h 6060"/>
              <a:gd name="p0x6" fmla="*/ 4110 w 4110"/>
              <a:gd name="p0y6" fmla="*/ 5952 h 6060"/>
              <a:gd name="p0x7" fmla="*/ 4002 w 4110"/>
              <a:gd name="p0y7" fmla="*/ 6060 h 6060"/>
              <a:gd name="p0x8" fmla="*/ 3870 w 4110"/>
              <a:gd name="p0y8" fmla="*/ 6060 h 6060"/>
              <a:gd name="p0x9" fmla="*/ 240 w 4110"/>
              <a:gd name="p0y9" fmla="*/ 6060 h 6060"/>
              <a:gd name="p0x10" fmla="*/ 107 w 4110"/>
              <a:gd name="p0y10" fmla="*/ 6060 h 6060"/>
              <a:gd name="p0x11" fmla="*/ 0 w 4110"/>
              <a:gd name="p0y11" fmla="*/ 5952 h 6060"/>
              <a:gd name="p0x12" fmla="*/ 0 w 4110"/>
              <a:gd name="p0y12" fmla="*/ 5820 h 6060"/>
              <a:gd name="p0x13" fmla="*/ 0 w 4110"/>
              <a:gd name="p0y13" fmla="*/ 240 h 6060"/>
              <a:gd name="p0x14" fmla="*/ 0 w 4110"/>
              <a:gd name="p0y14" fmla="*/ 107 h 6060"/>
              <a:gd name="p0x15" fmla="*/ 107 w 4110"/>
              <a:gd name="p0y15" fmla="*/ 0 h 6060"/>
              <a:gd name="p0x16" fmla="*/ 240 w 4110"/>
              <a:gd name="p0y16" fmla="*/ 0 h 60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7FF"/>
          </a:solidFill>
          <a:ln w="9525" cmpd="sng">
            <a:solidFill>
              <a:srgbClr val="E8DCF0"/>
            </a:solidFill>
            <a:prstDash val="solid"/>
          </a:ln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7"/>
            </p:custDataLst>
          </p:nvPr>
        </p:nvSpPr>
        <p:spPr>
          <a:xfrm>
            <a:off x="9201150" y="3950970"/>
            <a:ext cx="221932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随机奖励</a:t>
            </a:r>
            <a:endParaRPr sz="2100" b="1" spc="42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18"/>
            </p:custDataLst>
          </p:nvPr>
        </p:nvSpPr>
        <p:spPr>
          <a:xfrm>
            <a:off x="9201150" y="4376420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650C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19"/>
            </p:custDataLst>
          </p:nvPr>
        </p:nvSpPr>
        <p:spPr>
          <a:xfrm>
            <a:off x="9201150" y="4505325"/>
            <a:ext cx="221932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</a:rPr>
              <a:t>极品词条掉落、稀有材料获取，</a:t>
            </a:r>
            <a:r>
              <a:rPr sz="1500" b="1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惊喜驱动</a:t>
            </a:r>
            <a:r>
              <a:rPr sz="150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</a:rPr>
              <a:t>期待感</a:t>
            </a:r>
            <a:endParaRPr sz="1500">
              <a:solidFill>
                <a:srgbClr val="5A4A6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C1B3D"/>
                </a:solidFill>
                <a:latin typeface="MiSans Demibold" panose="00000700000000000000" charset="-122"/>
                <a:ea typeface="MiSans Demibold" panose="00000700000000000000" charset="-122"/>
              </a:rPr>
              <a:t>商业化设计逻辑</a:t>
            </a:r>
            <a:endParaRPr sz="3000" b="1">
              <a:solidFill>
                <a:srgbClr val="2C1B3D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1414145"/>
            <a:ext cx="11049000" cy="666750"/>
          </a:xfrm>
          <a:custGeom>
            <a:avLst/>
            <a:gdLst>
              <a:gd name="sw" fmla="*/ 1 w 17400"/>
              <a:gd name="sh" fmla="*/ 1 h 1050"/>
              <a:gd name="mins" fmla="min sw sh"/>
              <a:gd name="dsw" fmla="+- 0 sw mins"/>
              <a:gd name="dsh" fmla="+- 0 sh mins"/>
              <a:gd name="p0x0" fmla="*/ 240 w 17400"/>
              <a:gd name="p0y0" fmla="*/ 0 h 1050"/>
              <a:gd name="p0x1" fmla="*/ 17160 w 17400"/>
              <a:gd name="p0y1" fmla="*/ 0 h 1050"/>
              <a:gd name="p0x2" fmla="*/ 17292 w 17400"/>
              <a:gd name="p0y2" fmla="*/ 0 h 1050"/>
              <a:gd name="p0x3" fmla="*/ 17400 w 17400"/>
              <a:gd name="p0y3" fmla="*/ 107 h 1050"/>
              <a:gd name="p0x4" fmla="*/ 17400 w 17400"/>
              <a:gd name="p0y4" fmla="*/ 240 h 1050"/>
              <a:gd name="p0x5" fmla="*/ 17400 w 17400"/>
              <a:gd name="p0y5" fmla="*/ 810 h 1050"/>
              <a:gd name="p0x6" fmla="*/ 17400 w 17400"/>
              <a:gd name="p0y6" fmla="*/ 942 h 1050"/>
              <a:gd name="p0x7" fmla="*/ 17292 w 17400"/>
              <a:gd name="p0y7" fmla="*/ 1050 h 1050"/>
              <a:gd name="p0x8" fmla="*/ 17160 w 17400"/>
              <a:gd name="p0y8" fmla="*/ 1050 h 1050"/>
              <a:gd name="p0x9" fmla="*/ 240 w 17400"/>
              <a:gd name="p0y9" fmla="*/ 1050 h 1050"/>
              <a:gd name="p0x10" fmla="*/ 107 w 17400"/>
              <a:gd name="p0y10" fmla="*/ 1050 h 1050"/>
              <a:gd name="p0x11" fmla="*/ 0 w 17400"/>
              <a:gd name="p0y11" fmla="*/ 942 h 1050"/>
              <a:gd name="p0x12" fmla="*/ 0 w 17400"/>
              <a:gd name="p0y12" fmla="*/ 810 h 1050"/>
              <a:gd name="p0x13" fmla="*/ 0 w 17400"/>
              <a:gd name="p0y13" fmla="*/ 240 h 1050"/>
              <a:gd name="p0x14" fmla="*/ 0 w 17400"/>
              <a:gd name="p0y14" fmla="*/ 107 h 1050"/>
              <a:gd name="p0x15" fmla="*/ 107 w 17400"/>
              <a:gd name="p0y15" fmla="*/ 0 h 1050"/>
              <a:gd name="p0x16" fmla="*/ 240 w 17400"/>
              <a:gd name="p0y16" fmla="*/ 0 h 1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0E6F9"/>
          </a:solidFill>
          <a:ln>
            <a:noFill/>
          </a:ln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62000" y="1589723"/>
            <a:ext cx="3429152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商业化围绕成长，</a:t>
            </a:r>
            <a:r>
              <a:rPr b="1">
                <a:solidFill>
                  <a:srgbClr val="D650C7"/>
                </a:solidFill>
                <a:latin typeface="MiSans Normal" panose="00000500000000000000" charset="-122"/>
                <a:ea typeface="MiSans Normal" panose="00000500000000000000" charset="-122"/>
              </a:rPr>
              <a:t>而非强制付费</a:t>
            </a:r>
            <a:endParaRPr b="1">
              <a:solidFill>
                <a:srgbClr val="D650C7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575945" y="2623820"/>
            <a:ext cx="2609850" cy="3848100"/>
          </a:xfrm>
          <a:custGeom>
            <a:avLst/>
            <a:gdLst>
              <a:gd name="sw" fmla="*/ 1 w 4110"/>
              <a:gd name="sh" fmla="*/ 1 h 6060"/>
              <a:gd name="mins" fmla="min sw sh"/>
              <a:gd name="dsw" fmla="+- 0 sw mins"/>
              <a:gd name="dsh" fmla="+- 0 sh mins"/>
              <a:gd name="p0x0" fmla="*/ 240 w 4110"/>
              <a:gd name="p0y0" fmla="*/ 0 h 6060"/>
              <a:gd name="p0x1" fmla="*/ 3870 w 4110"/>
              <a:gd name="p0y1" fmla="*/ 0 h 6060"/>
              <a:gd name="p0x2" fmla="*/ 4002 w 4110"/>
              <a:gd name="p0y2" fmla="*/ 0 h 6060"/>
              <a:gd name="p0x3" fmla="*/ 4110 w 4110"/>
              <a:gd name="p0y3" fmla="*/ 107 h 6060"/>
              <a:gd name="p0x4" fmla="*/ 4110 w 4110"/>
              <a:gd name="p0y4" fmla="*/ 240 h 6060"/>
              <a:gd name="p0x5" fmla="*/ 4110 w 4110"/>
              <a:gd name="p0y5" fmla="*/ 5820 h 6060"/>
              <a:gd name="p0x6" fmla="*/ 4110 w 4110"/>
              <a:gd name="p0y6" fmla="*/ 5952 h 6060"/>
              <a:gd name="p0x7" fmla="*/ 4002 w 4110"/>
              <a:gd name="p0y7" fmla="*/ 6060 h 6060"/>
              <a:gd name="p0x8" fmla="*/ 3870 w 4110"/>
              <a:gd name="p0y8" fmla="*/ 6060 h 6060"/>
              <a:gd name="p0x9" fmla="*/ 240 w 4110"/>
              <a:gd name="p0y9" fmla="*/ 6060 h 6060"/>
              <a:gd name="p0x10" fmla="*/ 107 w 4110"/>
              <a:gd name="p0y10" fmla="*/ 6060 h 6060"/>
              <a:gd name="p0x11" fmla="*/ 0 w 4110"/>
              <a:gd name="p0y11" fmla="*/ 5952 h 6060"/>
              <a:gd name="p0x12" fmla="*/ 0 w 4110"/>
              <a:gd name="p0y12" fmla="*/ 5820 h 6060"/>
              <a:gd name="p0x13" fmla="*/ 0 w 4110"/>
              <a:gd name="p0y13" fmla="*/ 240 h 6060"/>
              <a:gd name="p0x14" fmla="*/ 0 w 4110"/>
              <a:gd name="p0y14" fmla="*/ 107 h 6060"/>
              <a:gd name="p0x15" fmla="*/ 107 w 4110"/>
              <a:gd name="p0y15" fmla="*/ 0 h 6060"/>
              <a:gd name="p0x16" fmla="*/ 240 w 4110"/>
              <a:gd name="p0y16" fmla="*/ 0 h 60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7FF"/>
          </a:solidFill>
          <a:ln w="9525" cmpd="sng">
            <a:solidFill>
              <a:srgbClr val="E8DCF0"/>
            </a:solidFill>
            <a:prstDash val="solid"/>
          </a:ln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771525" y="384302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40 w 540"/>
              <a:gd name="p0y0" fmla="*/ 0 h 540"/>
              <a:gd name="p0x1" fmla="*/ 300 w 540"/>
              <a:gd name="p0y1" fmla="*/ 0 h 540"/>
              <a:gd name="p0x2" fmla="*/ 432 w 540"/>
              <a:gd name="p0y2" fmla="*/ 0 h 540"/>
              <a:gd name="p0x3" fmla="*/ 540 w 540"/>
              <a:gd name="p0y3" fmla="*/ 107 h 540"/>
              <a:gd name="p0x4" fmla="*/ 540 w 540"/>
              <a:gd name="p0y4" fmla="*/ 240 h 540"/>
              <a:gd name="p0x5" fmla="*/ 540 w 540"/>
              <a:gd name="p0y5" fmla="*/ 300 h 540"/>
              <a:gd name="p0x6" fmla="*/ 540 w 540"/>
              <a:gd name="p0y6" fmla="*/ 432 h 540"/>
              <a:gd name="p0x7" fmla="*/ 432 w 540"/>
              <a:gd name="p0y7" fmla="*/ 540 h 540"/>
              <a:gd name="p0x8" fmla="*/ 300 w 540"/>
              <a:gd name="p0y8" fmla="*/ 540 h 540"/>
              <a:gd name="p0x9" fmla="*/ 240 w 540"/>
              <a:gd name="p0y9" fmla="*/ 540 h 540"/>
              <a:gd name="p0x10" fmla="*/ 107 w 540"/>
              <a:gd name="p0y10" fmla="*/ 540 h 540"/>
              <a:gd name="p0x11" fmla="*/ 0 w 540"/>
              <a:gd name="p0y11" fmla="*/ 432 h 540"/>
              <a:gd name="p0x12" fmla="*/ 0 w 540"/>
              <a:gd name="p0y12" fmla="*/ 300 h 540"/>
              <a:gd name="p0x13" fmla="*/ 0 w 540"/>
              <a:gd name="p0y13" fmla="*/ 240 h 540"/>
              <a:gd name="p0x14" fmla="*/ 0 w 540"/>
              <a:gd name="p0y14" fmla="*/ 107 h 540"/>
              <a:gd name="p0x15" fmla="*/ 107 w 540"/>
              <a:gd name="p0y15" fmla="*/ 0 h 540"/>
              <a:gd name="p0x16" fmla="*/ 24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0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 descr="e0fb314f-8597-11f1-8853-aeec90f47d02"/>
          <p:cNvPicPr/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-151" b="151"/>
          <a:stretch>
            <a:fillRect/>
          </a:stretch>
        </p:blipFill>
        <p:spPr>
          <a:xfrm>
            <a:off x="838200" y="3909695"/>
            <a:ext cx="209550" cy="20955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1190625" y="3831908"/>
            <a:ext cx="810816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首充</a:t>
            </a:r>
            <a:endParaRPr sz="2100" b="1" spc="42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771525" y="4323397"/>
            <a:ext cx="221932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</a:rPr>
              <a:t>降低首次付费门槛，建立付费习惯</a:t>
            </a:r>
            <a:endParaRPr sz="1350">
              <a:solidFill>
                <a:srgbClr val="5A4A6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1"/>
            </p:custDataLst>
          </p:nvPr>
        </p:nvSpPr>
        <p:spPr>
          <a:xfrm>
            <a:off x="775970" y="5010150"/>
            <a:ext cx="847725" cy="238125"/>
          </a:xfrm>
          <a:custGeom>
            <a:avLst/>
            <a:gdLst>
              <a:gd name="sw" fmla="*/ 1 w 1335"/>
              <a:gd name="sh" fmla="*/ 1 h 375"/>
              <a:gd name="mins" fmla="min sw sh"/>
              <a:gd name="dsw" fmla="+- 0 sw mins"/>
              <a:gd name="dsh" fmla="+- 0 sh mins"/>
              <a:gd name="p0x0" fmla="*/ 187 w 1335"/>
              <a:gd name="p0y0" fmla="*/ 0 h 375"/>
              <a:gd name="p0x1" fmla="*/ 1147 w 1335"/>
              <a:gd name="p0y1" fmla="*/ 0 h 375"/>
              <a:gd name="p0x2" fmla="*/ 1251 w 1335"/>
              <a:gd name="p0y2" fmla="*/ 0 h 375"/>
              <a:gd name="p0x3" fmla="*/ 1335 w 1335"/>
              <a:gd name="p0y3" fmla="*/ 83 h 375"/>
              <a:gd name="p0x4" fmla="*/ 1335 w 1335"/>
              <a:gd name="p0y4" fmla="*/ 187 h 375"/>
              <a:gd name="p0x5" fmla="*/ 1335 w 1335"/>
              <a:gd name="p0y5" fmla="*/ 291 h 375"/>
              <a:gd name="p0x6" fmla="*/ 1251 w 1335"/>
              <a:gd name="p0y6" fmla="*/ 375 h 375"/>
              <a:gd name="p0x7" fmla="*/ 1147 w 1335"/>
              <a:gd name="p0y7" fmla="*/ 375 h 375"/>
              <a:gd name="p0x8" fmla="*/ 187 w 1335"/>
              <a:gd name="p0y8" fmla="*/ 375 h 375"/>
              <a:gd name="p0x9" fmla="*/ 83 w 1335"/>
              <a:gd name="p0y9" fmla="*/ 375 h 375"/>
              <a:gd name="p0x10" fmla="*/ 0 w 1335"/>
              <a:gd name="p0y10" fmla="*/ 291 h 375"/>
              <a:gd name="p0x11" fmla="*/ 0 w 1335"/>
              <a:gd name="p0y11" fmla="*/ 187 h 375"/>
              <a:gd name="p0x12" fmla="*/ 0 w 1335"/>
              <a:gd name="p0y12" fmla="*/ 83 h 375"/>
              <a:gd name="p0x13" fmla="*/ 83 w 1335"/>
              <a:gd name="p0y13" fmla="*/ 0 h 375"/>
              <a:gd name="p0x14" fmla="*/ 187 w 1335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8E0F5"/>
          </a:solidFill>
          <a:ln w="9525" cmpd="sng">
            <a:solidFill>
              <a:srgbClr val="F8E0F5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895350" y="5044440"/>
            <a:ext cx="7620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sz="1200">
                <a:solidFill>
                  <a:srgbClr val="4A1545"/>
                </a:solidFill>
                <a:latin typeface="MiSans Normal" panose="00000500000000000000" charset="-122"/>
                <a:ea typeface="MiSans Normal" panose="00000500000000000000" charset="-122"/>
              </a:rPr>
              <a:t>付费设计</a:t>
            </a:r>
            <a:endParaRPr sz="1200">
              <a:solidFill>
                <a:srgbClr val="4A1545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13"/>
            </p:custDataLst>
          </p:nvPr>
        </p:nvSpPr>
        <p:spPr>
          <a:xfrm>
            <a:off x="1671320" y="5010150"/>
            <a:ext cx="847725" cy="238125"/>
          </a:xfrm>
          <a:custGeom>
            <a:avLst/>
            <a:gdLst>
              <a:gd name="sw" fmla="*/ 1 w 1335"/>
              <a:gd name="sh" fmla="*/ 1 h 375"/>
              <a:gd name="mins" fmla="min sw sh"/>
              <a:gd name="dsw" fmla="+- 0 sw mins"/>
              <a:gd name="dsh" fmla="+- 0 sh mins"/>
              <a:gd name="p0x0" fmla="*/ 187 w 1335"/>
              <a:gd name="p0y0" fmla="*/ 0 h 375"/>
              <a:gd name="p0x1" fmla="*/ 1147 w 1335"/>
              <a:gd name="p0y1" fmla="*/ 0 h 375"/>
              <a:gd name="p0x2" fmla="*/ 1251 w 1335"/>
              <a:gd name="p0y2" fmla="*/ 0 h 375"/>
              <a:gd name="p0x3" fmla="*/ 1335 w 1335"/>
              <a:gd name="p0y3" fmla="*/ 83 h 375"/>
              <a:gd name="p0x4" fmla="*/ 1335 w 1335"/>
              <a:gd name="p0y4" fmla="*/ 187 h 375"/>
              <a:gd name="p0x5" fmla="*/ 1335 w 1335"/>
              <a:gd name="p0y5" fmla="*/ 291 h 375"/>
              <a:gd name="p0x6" fmla="*/ 1251 w 1335"/>
              <a:gd name="p0y6" fmla="*/ 375 h 375"/>
              <a:gd name="p0x7" fmla="*/ 1147 w 1335"/>
              <a:gd name="p0y7" fmla="*/ 375 h 375"/>
              <a:gd name="p0x8" fmla="*/ 187 w 1335"/>
              <a:gd name="p0y8" fmla="*/ 375 h 375"/>
              <a:gd name="p0x9" fmla="*/ 83 w 1335"/>
              <a:gd name="p0y9" fmla="*/ 375 h 375"/>
              <a:gd name="p0x10" fmla="*/ 0 w 1335"/>
              <a:gd name="p0y10" fmla="*/ 291 h 375"/>
              <a:gd name="p0x11" fmla="*/ 0 w 1335"/>
              <a:gd name="p0y11" fmla="*/ 187 h 375"/>
              <a:gd name="p0x12" fmla="*/ 0 w 1335"/>
              <a:gd name="p0y12" fmla="*/ 83 h 375"/>
              <a:gd name="p0x13" fmla="*/ 83 w 1335"/>
              <a:gd name="p0y13" fmla="*/ 0 h 375"/>
              <a:gd name="p0x14" fmla="*/ 187 w 1335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8E0F5"/>
          </a:solidFill>
          <a:ln w="9525" cmpd="sng">
            <a:solidFill>
              <a:srgbClr val="F8E0F5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1790776" y="5044440"/>
            <a:ext cx="7620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sz="1200">
                <a:solidFill>
                  <a:srgbClr val="4A1545"/>
                </a:solidFill>
                <a:latin typeface="MiSans Normal" panose="00000500000000000000" charset="-122"/>
                <a:ea typeface="MiSans Normal" panose="00000500000000000000" charset="-122"/>
              </a:rPr>
              <a:t>心理动机</a:t>
            </a:r>
            <a:endParaRPr sz="1200">
              <a:solidFill>
                <a:srgbClr val="4A1545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5"/>
            </p:custDataLst>
          </p:nvPr>
        </p:nvSpPr>
        <p:spPr>
          <a:xfrm>
            <a:off x="3385820" y="2623820"/>
            <a:ext cx="2609850" cy="3848100"/>
          </a:xfrm>
          <a:custGeom>
            <a:avLst/>
            <a:gdLst>
              <a:gd name="sw" fmla="*/ 1 w 4110"/>
              <a:gd name="sh" fmla="*/ 1 h 6060"/>
              <a:gd name="mins" fmla="min sw sh"/>
              <a:gd name="dsw" fmla="+- 0 sw mins"/>
              <a:gd name="dsh" fmla="+- 0 sh mins"/>
              <a:gd name="p0x0" fmla="*/ 240 w 4110"/>
              <a:gd name="p0y0" fmla="*/ 0 h 6060"/>
              <a:gd name="p0x1" fmla="*/ 3870 w 4110"/>
              <a:gd name="p0y1" fmla="*/ 0 h 6060"/>
              <a:gd name="p0x2" fmla="*/ 4002 w 4110"/>
              <a:gd name="p0y2" fmla="*/ 0 h 6060"/>
              <a:gd name="p0x3" fmla="*/ 4110 w 4110"/>
              <a:gd name="p0y3" fmla="*/ 107 h 6060"/>
              <a:gd name="p0x4" fmla="*/ 4110 w 4110"/>
              <a:gd name="p0y4" fmla="*/ 240 h 6060"/>
              <a:gd name="p0x5" fmla="*/ 4110 w 4110"/>
              <a:gd name="p0y5" fmla="*/ 5820 h 6060"/>
              <a:gd name="p0x6" fmla="*/ 4110 w 4110"/>
              <a:gd name="p0y6" fmla="*/ 5952 h 6060"/>
              <a:gd name="p0x7" fmla="*/ 4002 w 4110"/>
              <a:gd name="p0y7" fmla="*/ 6060 h 6060"/>
              <a:gd name="p0x8" fmla="*/ 3870 w 4110"/>
              <a:gd name="p0y8" fmla="*/ 6060 h 6060"/>
              <a:gd name="p0x9" fmla="*/ 240 w 4110"/>
              <a:gd name="p0y9" fmla="*/ 6060 h 6060"/>
              <a:gd name="p0x10" fmla="*/ 107 w 4110"/>
              <a:gd name="p0y10" fmla="*/ 6060 h 6060"/>
              <a:gd name="p0x11" fmla="*/ 0 w 4110"/>
              <a:gd name="p0y11" fmla="*/ 5952 h 6060"/>
              <a:gd name="p0x12" fmla="*/ 0 w 4110"/>
              <a:gd name="p0y12" fmla="*/ 5820 h 6060"/>
              <a:gd name="p0x13" fmla="*/ 0 w 4110"/>
              <a:gd name="p0y13" fmla="*/ 240 h 6060"/>
              <a:gd name="p0x14" fmla="*/ 0 w 4110"/>
              <a:gd name="p0y14" fmla="*/ 107 h 6060"/>
              <a:gd name="p0x15" fmla="*/ 107 w 4110"/>
              <a:gd name="p0y15" fmla="*/ 0 h 6060"/>
              <a:gd name="p0x16" fmla="*/ 240 w 4110"/>
              <a:gd name="p0y16" fmla="*/ 0 h 60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7FF"/>
          </a:solidFill>
          <a:ln w="9525" cmpd="sng">
            <a:solidFill>
              <a:srgbClr val="E8DCF0"/>
            </a:solidFill>
            <a:prstDash val="solid"/>
          </a:ln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16"/>
            </p:custDataLst>
          </p:nvPr>
        </p:nvSpPr>
        <p:spPr>
          <a:xfrm>
            <a:off x="3581400" y="384302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40 w 540"/>
              <a:gd name="p0y0" fmla="*/ 0 h 540"/>
              <a:gd name="p0x1" fmla="*/ 300 w 540"/>
              <a:gd name="p0y1" fmla="*/ 0 h 540"/>
              <a:gd name="p0x2" fmla="*/ 432 w 540"/>
              <a:gd name="p0y2" fmla="*/ 0 h 540"/>
              <a:gd name="p0x3" fmla="*/ 540 w 540"/>
              <a:gd name="p0y3" fmla="*/ 107 h 540"/>
              <a:gd name="p0x4" fmla="*/ 540 w 540"/>
              <a:gd name="p0y4" fmla="*/ 240 h 540"/>
              <a:gd name="p0x5" fmla="*/ 540 w 540"/>
              <a:gd name="p0y5" fmla="*/ 300 h 540"/>
              <a:gd name="p0x6" fmla="*/ 540 w 540"/>
              <a:gd name="p0y6" fmla="*/ 432 h 540"/>
              <a:gd name="p0x7" fmla="*/ 432 w 540"/>
              <a:gd name="p0y7" fmla="*/ 540 h 540"/>
              <a:gd name="p0x8" fmla="*/ 300 w 540"/>
              <a:gd name="p0y8" fmla="*/ 540 h 540"/>
              <a:gd name="p0x9" fmla="*/ 240 w 540"/>
              <a:gd name="p0y9" fmla="*/ 540 h 540"/>
              <a:gd name="p0x10" fmla="*/ 107 w 540"/>
              <a:gd name="p0y10" fmla="*/ 540 h 540"/>
              <a:gd name="p0x11" fmla="*/ 0 w 540"/>
              <a:gd name="p0y11" fmla="*/ 432 h 540"/>
              <a:gd name="p0x12" fmla="*/ 0 w 540"/>
              <a:gd name="p0y12" fmla="*/ 300 h 540"/>
              <a:gd name="p0x13" fmla="*/ 0 w 540"/>
              <a:gd name="p0y13" fmla="*/ 240 h 540"/>
              <a:gd name="p0x14" fmla="*/ 0 w 540"/>
              <a:gd name="p0y14" fmla="*/ 107 h 540"/>
              <a:gd name="p0x15" fmla="*/ 107 w 540"/>
              <a:gd name="p0y15" fmla="*/ 0 h 540"/>
              <a:gd name="p0x16" fmla="*/ 24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0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9" name="图片 18" descr="e0fb31d5-8597-11f1-8853-aeec90f47d02"/>
          <p:cNvPicPr/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t="-151" b="151"/>
          <a:stretch>
            <a:fillRect/>
          </a:stretch>
        </p:blipFill>
        <p:spPr>
          <a:xfrm>
            <a:off x="3648075" y="3909695"/>
            <a:ext cx="209550" cy="20955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20"/>
            </p:custDataLst>
          </p:nvPr>
        </p:nvSpPr>
        <p:spPr>
          <a:xfrm>
            <a:off x="4000500" y="3831908"/>
            <a:ext cx="810816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月卡</a:t>
            </a:r>
            <a:endParaRPr sz="2100" b="1" spc="42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21"/>
            </p:custDataLst>
          </p:nvPr>
        </p:nvSpPr>
        <p:spPr>
          <a:xfrm>
            <a:off x="3581400" y="4323397"/>
            <a:ext cx="221932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</a:rPr>
              <a:t>提高长期留存，培养每日登录惯性</a:t>
            </a:r>
            <a:endParaRPr sz="1350">
              <a:solidFill>
                <a:srgbClr val="5A4A6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2"/>
            </p:custDataLst>
          </p:nvPr>
        </p:nvSpPr>
        <p:spPr>
          <a:xfrm>
            <a:off x="3585845" y="5010150"/>
            <a:ext cx="847725" cy="238125"/>
          </a:xfrm>
          <a:custGeom>
            <a:avLst/>
            <a:gdLst>
              <a:gd name="sw" fmla="*/ 1 w 1335"/>
              <a:gd name="sh" fmla="*/ 1 h 375"/>
              <a:gd name="mins" fmla="min sw sh"/>
              <a:gd name="dsw" fmla="+- 0 sw mins"/>
              <a:gd name="dsh" fmla="+- 0 sh mins"/>
              <a:gd name="p0x0" fmla="*/ 187 w 1335"/>
              <a:gd name="p0y0" fmla="*/ 0 h 375"/>
              <a:gd name="p0x1" fmla="*/ 1147 w 1335"/>
              <a:gd name="p0y1" fmla="*/ 0 h 375"/>
              <a:gd name="p0x2" fmla="*/ 1251 w 1335"/>
              <a:gd name="p0y2" fmla="*/ 0 h 375"/>
              <a:gd name="p0x3" fmla="*/ 1335 w 1335"/>
              <a:gd name="p0y3" fmla="*/ 83 h 375"/>
              <a:gd name="p0x4" fmla="*/ 1335 w 1335"/>
              <a:gd name="p0y4" fmla="*/ 187 h 375"/>
              <a:gd name="p0x5" fmla="*/ 1335 w 1335"/>
              <a:gd name="p0y5" fmla="*/ 291 h 375"/>
              <a:gd name="p0x6" fmla="*/ 1251 w 1335"/>
              <a:gd name="p0y6" fmla="*/ 375 h 375"/>
              <a:gd name="p0x7" fmla="*/ 1147 w 1335"/>
              <a:gd name="p0y7" fmla="*/ 375 h 375"/>
              <a:gd name="p0x8" fmla="*/ 187 w 1335"/>
              <a:gd name="p0y8" fmla="*/ 375 h 375"/>
              <a:gd name="p0x9" fmla="*/ 83 w 1335"/>
              <a:gd name="p0y9" fmla="*/ 375 h 375"/>
              <a:gd name="p0x10" fmla="*/ 0 w 1335"/>
              <a:gd name="p0y10" fmla="*/ 291 h 375"/>
              <a:gd name="p0x11" fmla="*/ 0 w 1335"/>
              <a:gd name="p0y11" fmla="*/ 187 h 375"/>
              <a:gd name="p0x12" fmla="*/ 0 w 1335"/>
              <a:gd name="p0y12" fmla="*/ 83 h 375"/>
              <a:gd name="p0x13" fmla="*/ 83 w 1335"/>
              <a:gd name="p0y13" fmla="*/ 0 h 375"/>
              <a:gd name="p0x14" fmla="*/ 187 w 1335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8E0F5"/>
          </a:solidFill>
          <a:ln w="9525" cmpd="sng">
            <a:solidFill>
              <a:srgbClr val="F8E0F5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3"/>
            </p:custDataLst>
          </p:nvPr>
        </p:nvSpPr>
        <p:spPr>
          <a:xfrm>
            <a:off x="3705225" y="5044440"/>
            <a:ext cx="7620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sz="1200">
                <a:solidFill>
                  <a:srgbClr val="4A1545"/>
                </a:solidFill>
                <a:latin typeface="MiSans Normal" panose="00000500000000000000" charset="-122"/>
                <a:ea typeface="MiSans Normal" panose="00000500000000000000" charset="-122"/>
              </a:rPr>
              <a:t>付费设计</a:t>
            </a:r>
            <a:endParaRPr sz="1200">
              <a:solidFill>
                <a:srgbClr val="4A1545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24"/>
            </p:custDataLst>
          </p:nvPr>
        </p:nvSpPr>
        <p:spPr>
          <a:xfrm>
            <a:off x="4481195" y="5010150"/>
            <a:ext cx="847725" cy="238125"/>
          </a:xfrm>
          <a:custGeom>
            <a:avLst/>
            <a:gdLst>
              <a:gd name="sw" fmla="*/ 1 w 1335"/>
              <a:gd name="sh" fmla="*/ 1 h 375"/>
              <a:gd name="mins" fmla="min sw sh"/>
              <a:gd name="dsw" fmla="+- 0 sw mins"/>
              <a:gd name="dsh" fmla="+- 0 sh mins"/>
              <a:gd name="p0x0" fmla="*/ 187 w 1335"/>
              <a:gd name="p0y0" fmla="*/ 0 h 375"/>
              <a:gd name="p0x1" fmla="*/ 1147 w 1335"/>
              <a:gd name="p0y1" fmla="*/ 0 h 375"/>
              <a:gd name="p0x2" fmla="*/ 1251 w 1335"/>
              <a:gd name="p0y2" fmla="*/ 0 h 375"/>
              <a:gd name="p0x3" fmla="*/ 1335 w 1335"/>
              <a:gd name="p0y3" fmla="*/ 83 h 375"/>
              <a:gd name="p0x4" fmla="*/ 1335 w 1335"/>
              <a:gd name="p0y4" fmla="*/ 187 h 375"/>
              <a:gd name="p0x5" fmla="*/ 1335 w 1335"/>
              <a:gd name="p0y5" fmla="*/ 291 h 375"/>
              <a:gd name="p0x6" fmla="*/ 1251 w 1335"/>
              <a:gd name="p0y6" fmla="*/ 375 h 375"/>
              <a:gd name="p0x7" fmla="*/ 1147 w 1335"/>
              <a:gd name="p0y7" fmla="*/ 375 h 375"/>
              <a:gd name="p0x8" fmla="*/ 187 w 1335"/>
              <a:gd name="p0y8" fmla="*/ 375 h 375"/>
              <a:gd name="p0x9" fmla="*/ 83 w 1335"/>
              <a:gd name="p0y9" fmla="*/ 375 h 375"/>
              <a:gd name="p0x10" fmla="*/ 0 w 1335"/>
              <a:gd name="p0y10" fmla="*/ 291 h 375"/>
              <a:gd name="p0x11" fmla="*/ 0 w 1335"/>
              <a:gd name="p0y11" fmla="*/ 187 h 375"/>
              <a:gd name="p0x12" fmla="*/ 0 w 1335"/>
              <a:gd name="p0y12" fmla="*/ 83 h 375"/>
              <a:gd name="p0x13" fmla="*/ 83 w 1335"/>
              <a:gd name="p0y13" fmla="*/ 0 h 375"/>
              <a:gd name="p0x14" fmla="*/ 187 w 1335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8E0F5"/>
          </a:solidFill>
          <a:ln w="9525" cmpd="sng">
            <a:solidFill>
              <a:srgbClr val="F8E0F5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25"/>
            </p:custDataLst>
          </p:nvPr>
        </p:nvSpPr>
        <p:spPr>
          <a:xfrm>
            <a:off x="4600651" y="5044440"/>
            <a:ext cx="7620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sz="1200">
                <a:solidFill>
                  <a:srgbClr val="4A1545"/>
                </a:solidFill>
                <a:latin typeface="MiSans Normal" panose="00000500000000000000" charset="-122"/>
                <a:ea typeface="MiSans Normal" panose="00000500000000000000" charset="-122"/>
              </a:rPr>
              <a:t>心理动机</a:t>
            </a:r>
            <a:endParaRPr sz="1200">
              <a:solidFill>
                <a:srgbClr val="4A1545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26"/>
            </p:custDataLst>
          </p:nvPr>
        </p:nvSpPr>
        <p:spPr>
          <a:xfrm>
            <a:off x="6195695" y="2623820"/>
            <a:ext cx="2609850" cy="3848100"/>
          </a:xfrm>
          <a:custGeom>
            <a:avLst/>
            <a:gdLst>
              <a:gd name="sw" fmla="*/ 1 w 4110"/>
              <a:gd name="sh" fmla="*/ 1 h 6060"/>
              <a:gd name="mins" fmla="min sw sh"/>
              <a:gd name="dsw" fmla="+- 0 sw mins"/>
              <a:gd name="dsh" fmla="+- 0 sh mins"/>
              <a:gd name="p0x0" fmla="*/ 240 w 4110"/>
              <a:gd name="p0y0" fmla="*/ 0 h 6060"/>
              <a:gd name="p0x1" fmla="*/ 3870 w 4110"/>
              <a:gd name="p0y1" fmla="*/ 0 h 6060"/>
              <a:gd name="p0x2" fmla="*/ 4002 w 4110"/>
              <a:gd name="p0y2" fmla="*/ 0 h 6060"/>
              <a:gd name="p0x3" fmla="*/ 4110 w 4110"/>
              <a:gd name="p0y3" fmla="*/ 107 h 6060"/>
              <a:gd name="p0x4" fmla="*/ 4110 w 4110"/>
              <a:gd name="p0y4" fmla="*/ 240 h 6060"/>
              <a:gd name="p0x5" fmla="*/ 4110 w 4110"/>
              <a:gd name="p0y5" fmla="*/ 5820 h 6060"/>
              <a:gd name="p0x6" fmla="*/ 4110 w 4110"/>
              <a:gd name="p0y6" fmla="*/ 5952 h 6060"/>
              <a:gd name="p0x7" fmla="*/ 4002 w 4110"/>
              <a:gd name="p0y7" fmla="*/ 6060 h 6060"/>
              <a:gd name="p0x8" fmla="*/ 3870 w 4110"/>
              <a:gd name="p0y8" fmla="*/ 6060 h 6060"/>
              <a:gd name="p0x9" fmla="*/ 240 w 4110"/>
              <a:gd name="p0y9" fmla="*/ 6060 h 6060"/>
              <a:gd name="p0x10" fmla="*/ 107 w 4110"/>
              <a:gd name="p0y10" fmla="*/ 6060 h 6060"/>
              <a:gd name="p0x11" fmla="*/ 0 w 4110"/>
              <a:gd name="p0y11" fmla="*/ 5952 h 6060"/>
              <a:gd name="p0x12" fmla="*/ 0 w 4110"/>
              <a:gd name="p0y12" fmla="*/ 5820 h 6060"/>
              <a:gd name="p0x13" fmla="*/ 0 w 4110"/>
              <a:gd name="p0y13" fmla="*/ 240 h 6060"/>
              <a:gd name="p0x14" fmla="*/ 0 w 4110"/>
              <a:gd name="p0y14" fmla="*/ 107 h 6060"/>
              <a:gd name="p0x15" fmla="*/ 107 w 4110"/>
              <a:gd name="p0y15" fmla="*/ 0 h 6060"/>
              <a:gd name="p0x16" fmla="*/ 240 w 4110"/>
              <a:gd name="p0y16" fmla="*/ 0 h 60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7FF"/>
          </a:solidFill>
          <a:ln w="9525" cmpd="sng">
            <a:solidFill>
              <a:srgbClr val="E8DCF0"/>
            </a:solidFill>
            <a:prstDash val="solid"/>
          </a:ln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>
            <p:custDataLst>
              <p:tags r:id="rId27"/>
            </p:custDataLst>
          </p:nvPr>
        </p:nvSpPr>
        <p:spPr>
          <a:xfrm>
            <a:off x="6391275" y="384302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40 w 540"/>
              <a:gd name="p0y0" fmla="*/ 0 h 540"/>
              <a:gd name="p0x1" fmla="*/ 300 w 540"/>
              <a:gd name="p0y1" fmla="*/ 0 h 540"/>
              <a:gd name="p0x2" fmla="*/ 432 w 540"/>
              <a:gd name="p0y2" fmla="*/ 0 h 540"/>
              <a:gd name="p0x3" fmla="*/ 540 w 540"/>
              <a:gd name="p0y3" fmla="*/ 107 h 540"/>
              <a:gd name="p0x4" fmla="*/ 540 w 540"/>
              <a:gd name="p0y4" fmla="*/ 240 h 540"/>
              <a:gd name="p0x5" fmla="*/ 540 w 540"/>
              <a:gd name="p0y5" fmla="*/ 300 h 540"/>
              <a:gd name="p0x6" fmla="*/ 540 w 540"/>
              <a:gd name="p0y6" fmla="*/ 432 h 540"/>
              <a:gd name="p0x7" fmla="*/ 432 w 540"/>
              <a:gd name="p0y7" fmla="*/ 540 h 540"/>
              <a:gd name="p0x8" fmla="*/ 300 w 540"/>
              <a:gd name="p0y8" fmla="*/ 540 h 540"/>
              <a:gd name="p0x9" fmla="*/ 240 w 540"/>
              <a:gd name="p0y9" fmla="*/ 540 h 540"/>
              <a:gd name="p0x10" fmla="*/ 107 w 540"/>
              <a:gd name="p0y10" fmla="*/ 540 h 540"/>
              <a:gd name="p0x11" fmla="*/ 0 w 540"/>
              <a:gd name="p0y11" fmla="*/ 432 h 540"/>
              <a:gd name="p0x12" fmla="*/ 0 w 540"/>
              <a:gd name="p0y12" fmla="*/ 300 h 540"/>
              <a:gd name="p0x13" fmla="*/ 0 w 540"/>
              <a:gd name="p0y13" fmla="*/ 240 h 540"/>
              <a:gd name="p0x14" fmla="*/ 0 w 540"/>
              <a:gd name="p0y14" fmla="*/ 107 h 540"/>
              <a:gd name="p0x15" fmla="*/ 107 w 540"/>
              <a:gd name="p0y15" fmla="*/ 0 h 540"/>
              <a:gd name="p0x16" fmla="*/ 24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0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9" name="图片 28" descr="e0fb31e6-8597-11f1-8853-aeec90f47d02"/>
          <p:cNvPicPr/>
          <p:nvPr>
            <p:custDataLst>
              <p:tags r:id="rId28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 t="-151" b="151"/>
          <a:stretch>
            <a:fillRect/>
          </a:stretch>
        </p:blipFill>
        <p:spPr>
          <a:xfrm>
            <a:off x="6457950" y="3909695"/>
            <a:ext cx="209550" cy="209550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31"/>
            </p:custDataLst>
          </p:nvPr>
        </p:nvSpPr>
        <p:spPr>
          <a:xfrm>
            <a:off x="6810375" y="3831908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成长基金</a:t>
            </a:r>
            <a:endParaRPr sz="2100" b="1" spc="42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32"/>
            </p:custDataLst>
          </p:nvPr>
        </p:nvSpPr>
        <p:spPr>
          <a:xfrm>
            <a:off x="6391275" y="4323397"/>
            <a:ext cx="221932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</a:rPr>
              <a:t>刺激中期消费，绑定成长进度</a:t>
            </a:r>
            <a:endParaRPr sz="1350">
              <a:solidFill>
                <a:srgbClr val="5A4A6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33"/>
            </p:custDataLst>
          </p:nvPr>
        </p:nvSpPr>
        <p:spPr>
          <a:xfrm>
            <a:off x="6395720" y="5010150"/>
            <a:ext cx="847725" cy="238125"/>
          </a:xfrm>
          <a:custGeom>
            <a:avLst/>
            <a:gdLst>
              <a:gd name="sw" fmla="*/ 1 w 1335"/>
              <a:gd name="sh" fmla="*/ 1 h 375"/>
              <a:gd name="mins" fmla="min sw sh"/>
              <a:gd name="dsw" fmla="+- 0 sw mins"/>
              <a:gd name="dsh" fmla="+- 0 sh mins"/>
              <a:gd name="p0x0" fmla="*/ 187 w 1335"/>
              <a:gd name="p0y0" fmla="*/ 0 h 375"/>
              <a:gd name="p0x1" fmla="*/ 1147 w 1335"/>
              <a:gd name="p0y1" fmla="*/ 0 h 375"/>
              <a:gd name="p0x2" fmla="*/ 1251 w 1335"/>
              <a:gd name="p0y2" fmla="*/ 0 h 375"/>
              <a:gd name="p0x3" fmla="*/ 1335 w 1335"/>
              <a:gd name="p0y3" fmla="*/ 83 h 375"/>
              <a:gd name="p0x4" fmla="*/ 1335 w 1335"/>
              <a:gd name="p0y4" fmla="*/ 187 h 375"/>
              <a:gd name="p0x5" fmla="*/ 1335 w 1335"/>
              <a:gd name="p0y5" fmla="*/ 291 h 375"/>
              <a:gd name="p0x6" fmla="*/ 1251 w 1335"/>
              <a:gd name="p0y6" fmla="*/ 375 h 375"/>
              <a:gd name="p0x7" fmla="*/ 1147 w 1335"/>
              <a:gd name="p0y7" fmla="*/ 375 h 375"/>
              <a:gd name="p0x8" fmla="*/ 187 w 1335"/>
              <a:gd name="p0y8" fmla="*/ 375 h 375"/>
              <a:gd name="p0x9" fmla="*/ 83 w 1335"/>
              <a:gd name="p0y9" fmla="*/ 375 h 375"/>
              <a:gd name="p0x10" fmla="*/ 0 w 1335"/>
              <a:gd name="p0y10" fmla="*/ 291 h 375"/>
              <a:gd name="p0x11" fmla="*/ 0 w 1335"/>
              <a:gd name="p0y11" fmla="*/ 187 h 375"/>
              <a:gd name="p0x12" fmla="*/ 0 w 1335"/>
              <a:gd name="p0y12" fmla="*/ 83 h 375"/>
              <a:gd name="p0x13" fmla="*/ 83 w 1335"/>
              <a:gd name="p0y13" fmla="*/ 0 h 375"/>
              <a:gd name="p0x14" fmla="*/ 187 w 1335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8E0F5"/>
          </a:solidFill>
          <a:ln w="9525" cmpd="sng">
            <a:solidFill>
              <a:srgbClr val="F8E0F5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34"/>
            </p:custDataLst>
          </p:nvPr>
        </p:nvSpPr>
        <p:spPr>
          <a:xfrm>
            <a:off x="6515100" y="5044440"/>
            <a:ext cx="7620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sz="1200">
                <a:solidFill>
                  <a:srgbClr val="4A1545"/>
                </a:solidFill>
                <a:latin typeface="MiSans Normal" panose="00000500000000000000" charset="-122"/>
                <a:ea typeface="MiSans Normal" panose="00000500000000000000" charset="-122"/>
              </a:rPr>
              <a:t>付费设计</a:t>
            </a:r>
            <a:endParaRPr sz="1200">
              <a:solidFill>
                <a:srgbClr val="4A1545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35"/>
            </p:custDataLst>
          </p:nvPr>
        </p:nvSpPr>
        <p:spPr>
          <a:xfrm>
            <a:off x="7291070" y="5010150"/>
            <a:ext cx="847725" cy="238125"/>
          </a:xfrm>
          <a:custGeom>
            <a:avLst/>
            <a:gdLst>
              <a:gd name="sw" fmla="*/ 1 w 1335"/>
              <a:gd name="sh" fmla="*/ 1 h 375"/>
              <a:gd name="mins" fmla="min sw sh"/>
              <a:gd name="dsw" fmla="+- 0 sw mins"/>
              <a:gd name="dsh" fmla="+- 0 sh mins"/>
              <a:gd name="p0x0" fmla="*/ 187 w 1335"/>
              <a:gd name="p0y0" fmla="*/ 0 h 375"/>
              <a:gd name="p0x1" fmla="*/ 1147 w 1335"/>
              <a:gd name="p0y1" fmla="*/ 0 h 375"/>
              <a:gd name="p0x2" fmla="*/ 1251 w 1335"/>
              <a:gd name="p0y2" fmla="*/ 0 h 375"/>
              <a:gd name="p0x3" fmla="*/ 1335 w 1335"/>
              <a:gd name="p0y3" fmla="*/ 83 h 375"/>
              <a:gd name="p0x4" fmla="*/ 1335 w 1335"/>
              <a:gd name="p0y4" fmla="*/ 187 h 375"/>
              <a:gd name="p0x5" fmla="*/ 1335 w 1335"/>
              <a:gd name="p0y5" fmla="*/ 291 h 375"/>
              <a:gd name="p0x6" fmla="*/ 1251 w 1335"/>
              <a:gd name="p0y6" fmla="*/ 375 h 375"/>
              <a:gd name="p0x7" fmla="*/ 1147 w 1335"/>
              <a:gd name="p0y7" fmla="*/ 375 h 375"/>
              <a:gd name="p0x8" fmla="*/ 187 w 1335"/>
              <a:gd name="p0y8" fmla="*/ 375 h 375"/>
              <a:gd name="p0x9" fmla="*/ 83 w 1335"/>
              <a:gd name="p0y9" fmla="*/ 375 h 375"/>
              <a:gd name="p0x10" fmla="*/ 0 w 1335"/>
              <a:gd name="p0y10" fmla="*/ 291 h 375"/>
              <a:gd name="p0x11" fmla="*/ 0 w 1335"/>
              <a:gd name="p0y11" fmla="*/ 187 h 375"/>
              <a:gd name="p0x12" fmla="*/ 0 w 1335"/>
              <a:gd name="p0y12" fmla="*/ 83 h 375"/>
              <a:gd name="p0x13" fmla="*/ 83 w 1335"/>
              <a:gd name="p0y13" fmla="*/ 0 h 375"/>
              <a:gd name="p0x14" fmla="*/ 187 w 1335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8E0F5"/>
          </a:solidFill>
          <a:ln w="9525" cmpd="sng">
            <a:solidFill>
              <a:srgbClr val="F8E0F5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36"/>
            </p:custDataLst>
          </p:nvPr>
        </p:nvSpPr>
        <p:spPr>
          <a:xfrm>
            <a:off x="7410526" y="5044440"/>
            <a:ext cx="7620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sz="1200">
                <a:solidFill>
                  <a:srgbClr val="4A1545"/>
                </a:solidFill>
                <a:latin typeface="MiSans Normal" panose="00000500000000000000" charset="-122"/>
                <a:ea typeface="MiSans Normal" panose="00000500000000000000" charset="-122"/>
              </a:rPr>
              <a:t>心理动机</a:t>
            </a:r>
            <a:endParaRPr sz="1200">
              <a:solidFill>
                <a:srgbClr val="4A1545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7" name="任意多边形 36"/>
          <p:cNvSpPr/>
          <p:nvPr>
            <p:custDataLst>
              <p:tags r:id="rId37"/>
            </p:custDataLst>
          </p:nvPr>
        </p:nvSpPr>
        <p:spPr>
          <a:xfrm>
            <a:off x="9005570" y="2623820"/>
            <a:ext cx="2609850" cy="3848100"/>
          </a:xfrm>
          <a:custGeom>
            <a:avLst/>
            <a:gdLst>
              <a:gd name="sw" fmla="*/ 1 w 4110"/>
              <a:gd name="sh" fmla="*/ 1 h 6060"/>
              <a:gd name="mins" fmla="min sw sh"/>
              <a:gd name="dsw" fmla="+- 0 sw mins"/>
              <a:gd name="dsh" fmla="+- 0 sh mins"/>
              <a:gd name="p0x0" fmla="*/ 240 w 4110"/>
              <a:gd name="p0y0" fmla="*/ 0 h 6060"/>
              <a:gd name="p0x1" fmla="*/ 3870 w 4110"/>
              <a:gd name="p0y1" fmla="*/ 0 h 6060"/>
              <a:gd name="p0x2" fmla="*/ 4002 w 4110"/>
              <a:gd name="p0y2" fmla="*/ 0 h 6060"/>
              <a:gd name="p0x3" fmla="*/ 4110 w 4110"/>
              <a:gd name="p0y3" fmla="*/ 107 h 6060"/>
              <a:gd name="p0x4" fmla="*/ 4110 w 4110"/>
              <a:gd name="p0y4" fmla="*/ 240 h 6060"/>
              <a:gd name="p0x5" fmla="*/ 4110 w 4110"/>
              <a:gd name="p0y5" fmla="*/ 5820 h 6060"/>
              <a:gd name="p0x6" fmla="*/ 4110 w 4110"/>
              <a:gd name="p0y6" fmla="*/ 5952 h 6060"/>
              <a:gd name="p0x7" fmla="*/ 4002 w 4110"/>
              <a:gd name="p0y7" fmla="*/ 6060 h 6060"/>
              <a:gd name="p0x8" fmla="*/ 3870 w 4110"/>
              <a:gd name="p0y8" fmla="*/ 6060 h 6060"/>
              <a:gd name="p0x9" fmla="*/ 240 w 4110"/>
              <a:gd name="p0y9" fmla="*/ 6060 h 6060"/>
              <a:gd name="p0x10" fmla="*/ 107 w 4110"/>
              <a:gd name="p0y10" fmla="*/ 6060 h 6060"/>
              <a:gd name="p0x11" fmla="*/ 0 w 4110"/>
              <a:gd name="p0y11" fmla="*/ 5952 h 6060"/>
              <a:gd name="p0x12" fmla="*/ 0 w 4110"/>
              <a:gd name="p0y12" fmla="*/ 5820 h 6060"/>
              <a:gd name="p0x13" fmla="*/ 0 w 4110"/>
              <a:gd name="p0y13" fmla="*/ 240 h 6060"/>
              <a:gd name="p0x14" fmla="*/ 0 w 4110"/>
              <a:gd name="p0y14" fmla="*/ 107 h 6060"/>
              <a:gd name="p0x15" fmla="*/ 107 w 4110"/>
              <a:gd name="p0y15" fmla="*/ 0 h 6060"/>
              <a:gd name="p0x16" fmla="*/ 240 w 4110"/>
              <a:gd name="p0y16" fmla="*/ 0 h 60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7FF"/>
          </a:solidFill>
          <a:ln w="9525" cmpd="sng">
            <a:solidFill>
              <a:srgbClr val="E8DCF0"/>
            </a:solidFill>
            <a:prstDash val="solid"/>
          </a:ln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任意多边形 37"/>
          <p:cNvSpPr/>
          <p:nvPr>
            <p:custDataLst>
              <p:tags r:id="rId38"/>
            </p:custDataLst>
          </p:nvPr>
        </p:nvSpPr>
        <p:spPr>
          <a:xfrm>
            <a:off x="9201150" y="384302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40 w 540"/>
              <a:gd name="p0y0" fmla="*/ 0 h 540"/>
              <a:gd name="p0x1" fmla="*/ 300 w 540"/>
              <a:gd name="p0y1" fmla="*/ 0 h 540"/>
              <a:gd name="p0x2" fmla="*/ 432 w 540"/>
              <a:gd name="p0y2" fmla="*/ 0 h 540"/>
              <a:gd name="p0x3" fmla="*/ 540 w 540"/>
              <a:gd name="p0y3" fmla="*/ 107 h 540"/>
              <a:gd name="p0x4" fmla="*/ 540 w 540"/>
              <a:gd name="p0y4" fmla="*/ 240 h 540"/>
              <a:gd name="p0x5" fmla="*/ 540 w 540"/>
              <a:gd name="p0y5" fmla="*/ 300 h 540"/>
              <a:gd name="p0x6" fmla="*/ 540 w 540"/>
              <a:gd name="p0y6" fmla="*/ 432 h 540"/>
              <a:gd name="p0x7" fmla="*/ 432 w 540"/>
              <a:gd name="p0y7" fmla="*/ 540 h 540"/>
              <a:gd name="p0x8" fmla="*/ 300 w 540"/>
              <a:gd name="p0y8" fmla="*/ 540 h 540"/>
              <a:gd name="p0x9" fmla="*/ 240 w 540"/>
              <a:gd name="p0y9" fmla="*/ 540 h 540"/>
              <a:gd name="p0x10" fmla="*/ 107 w 540"/>
              <a:gd name="p0y10" fmla="*/ 540 h 540"/>
              <a:gd name="p0x11" fmla="*/ 0 w 540"/>
              <a:gd name="p0y11" fmla="*/ 432 h 540"/>
              <a:gd name="p0x12" fmla="*/ 0 w 540"/>
              <a:gd name="p0y12" fmla="*/ 300 h 540"/>
              <a:gd name="p0x13" fmla="*/ 0 w 540"/>
              <a:gd name="p0y13" fmla="*/ 240 h 540"/>
              <a:gd name="p0x14" fmla="*/ 0 w 540"/>
              <a:gd name="p0y14" fmla="*/ 107 h 540"/>
              <a:gd name="p0x15" fmla="*/ 107 w 540"/>
              <a:gd name="p0y15" fmla="*/ 0 h 540"/>
              <a:gd name="p0x16" fmla="*/ 24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0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9" name="图片 38" descr="e0fb3270-8597-11f1-8853-aeec90f47d02"/>
          <p:cNvPicPr/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t="-151" b="151"/>
          <a:stretch>
            <a:fillRect/>
          </a:stretch>
        </p:blipFill>
        <p:spPr>
          <a:xfrm>
            <a:off x="9267825" y="3909695"/>
            <a:ext cx="209550" cy="209550"/>
          </a:xfrm>
          <a:prstGeom prst="rect">
            <a:avLst/>
          </a:prstGeom>
        </p:spPr>
      </p:pic>
      <p:sp>
        <p:nvSpPr>
          <p:cNvPr id="41" name="文本框 40"/>
          <p:cNvSpPr txBox="1"/>
          <p:nvPr>
            <p:custDataLst>
              <p:tags r:id="rId42"/>
            </p:custDataLst>
          </p:nvPr>
        </p:nvSpPr>
        <p:spPr>
          <a:xfrm>
            <a:off x="9620250" y="3831908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限时礼包</a:t>
            </a:r>
            <a:endParaRPr sz="2100" b="1" spc="42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43"/>
            </p:custDataLst>
          </p:nvPr>
        </p:nvSpPr>
        <p:spPr>
          <a:xfrm>
            <a:off x="9201150" y="4323397"/>
            <a:ext cx="22289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</a:rPr>
              <a:t>制造紧迫感，触发冲动消费</a:t>
            </a:r>
            <a:endParaRPr sz="1350">
              <a:solidFill>
                <a:srgbClr val="5A4A6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43" name="任意多边形 42"/>
          <p:cNvSpPr/>
          <p:nvPr>
            <p:custDataLst>
              <p:tags r:id="rId44"/>
            </p:custDataLst>
          </p:nvPr>
        </p:nvSpPr>
        <p:spPr>
          <a:xfrm>
            <a:off x="9205595" y="5010150"/>
            <a:ext cx="847725" cy="238125"/>
          </a:xfrm>
          <a:custGeom>
            <a:avLst/>
            <a:gdLst>
              <a:gd name="sw" fmla="*/ 1 w 1335"/>
              <a:gd name="sh" fmla="*/ 1 h 375"/>
              <a:gd name="mins" fmla="min sw sh"/>
              <a:gd name="dsw" fmla="+- 0 sw mins"/>
              <a:gd name="dsh" fmla="+- 0 sh mins"/>
              <a:gd name="p0x0" fmla="*/ 187 w 1335"/>
              <a:gd name="p0y0" fmla="*/ 0 h 375"/>
              <a:gd name="p0x1" fmla="*/ 1147 w 1335"/>
              <a:gd name="p0y1" fmla="*/ 0 h 375"/>
              <a:gd name="p0x2" fmla="*/ 1251 w 1335"/>
              <a:gd name="p0y2" fmla="*/ 0 h 375"/>
              <a:gd name="p0x3" fmla="*/ 1335 w 1335"/>
              <a:gd name="p0y3" fmla="*/ 83 h 375"/>
              <a:gd name="p0x4" fmla="*/ 1335 w 1335"/>
              <a:gd name="p0y4" fmla="*/ 187 h 375"/>
              <a:gd name="p0x5" fmla="*/ 1335 w 1335"/>
              <a:gd name="p0y5" fmla="*/ 291 h 375"/>
              <a:gd name="p0x6" fmla="*/ 1251 w 1335"/>
              <a:gd name="p0y6" fmla="*/ 375 h 375"/>
              <a:gd name="p0x7" fmla="*/ 1147 w 1335"/>
              <a:gd name="p0y7" fmla="*/ 375 h 375"/>
              <a:gd name="p0x8" fmla="*/ 187 w 1335"/>
              <a:gd name="p0y8" fmla="*/ 375 h 375"/>
              <a:gd name="p0x9" fmla="*/ 83 w 1335"/>
              <a:gd name="p0y9" fmla="*/ 375 h 375"/>
              <a:gd name="p0x10" fmla="*/ 0 w 1335"/>
              <a:gd name="p0y10" fmla="*/ 291 h 375"/>
              <a:gd name="p0x11" fmla="*/ 0 w 1335"/>
              <a:gd name="p0y11" fmla="*/ 187 h 375"/>
              <a:gd name="p0x12" fmla="*/ 0 w 1335"/>
              <a:gd name="p0y12" fmla="*/ 83 h 375"/>
              <a:gd name="p0x13" fmla="*/ 83 w 1335"/>
              <a:gd name="p0y13" fmla="*/ 0 h 375"/>
              <a:gd name="p0x14" fmla="*/ 187 w 1335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8E0F5"/>
          </a:solidFill>
          <a:ln w="9525" cmpd="sng">
            <a:solidFill>
              <a:srgbClr val="F8E0F5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>
            <p:custDataLst>
              <p:tags r:id="rId45"/>
            </p:custDataLst>
          </p:nvPr>
        </p:nvSpPr>
        <p:spPr>
          <a:xfrm>
            <a:off x="9324975" y="5044440"/>
            <a:ext cx="7620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sz="1200">
                <a:solidFill>
                  <a:srgbClr val="4A1545"/>
                </a:solidFill>
                <a:latin typeface="MiSans Normal" panose="00000500000000000000" charset="-122"/>
                <a:ea typeface="MiSans Normal" panose="00000500000000000000" charset="-122"/>
              </a:rPr>
              <a:t>付费设计</a:t>
            </a:r>
            <a:endParaRPr sz="1200">
              <a:solidFill>
                <a:srgbClr val="4A1545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45" name="任意多边形 44"/>
          <p:cNvSpPr/>
          <p:nvPr>
            <p:custDataLst>
              <p:tags r:id="rId46"/>
            </p:custDataLst>
          </p:nvPr>
        </p:nvSpPr>
        <p:spPr>
          <a:xfrm>
            <a:off x="10100945" y="5010150"/>
            <a:ext cx="847725" cy="238125"/>
          </a:xfrm>
          <a:custGeom>
            <a:avLst/>
            <a:gdLst>
              <a:gd name="sw" fmla="*/ 1 w 1335"/>
              <a:gd name="sh" fmla="*/ 1 h 375"/>
              <a:gd name="mins" fmla="min sw sh"/>
              <a:gd name="dsw" fmla="+- 0 sw mins"/>
              <a:gd name="dsh" fmla="+- 0 sh mins"/>
              <a:gd name="p0x0" fmla="*/ 187 w 1335"/>
              <a:gd name="p0y0" fmla="*/ 0 h 375"/>
              <a:gd name="p0x1" fmla="*/ 1147 w 1335"/>
              <a:gd name="p0y1" fmla="*/ 0 h 375"/>
              <a:gd name="p0x2" fmla="*/ 1251 w 1335"/>
              <a:gd name="p0y2" fmla="*/ 0 h 375"/>
              <a:gd name="p0x3" fmla="*/ 1335 w 1335"/>
              <a:gd name="p0y3" fmla="*/ 83 h 375"/>
              <a:gd name="p0x4" fmla="*/ 1335 w 1335"/>
              <a:gd name="p0y4" fmla="*/ 187 h 375"/>
              <a:gd name="p0x5" fmla="*/ 1335 w 1335"/>
              <a:gd name="p0y5" fmla="*/ 291 h 375"/>
              <a:gd name="p0x6" fmla="*/ 1251 w 1335"/>
              <a:gd name="p0y6" fmla="*/ 375 h 375"/>
              <a:gd name="p0x7" fmla="*/ 1147 w 1335"/>
              <a:gd name="p0y7" fmla="*/ 375 h 375"/>
              <a:gd name="p0x8" fmla="*/ 187 w 1335"/>
              <a:gd name="p0y8" fmla="*/ 375 h 375"/>
              <a:gd name="p0x9" fmla="*/ 83 w 1335"/>
              <a:gd name="p0y9" fmla="*/ 375 h 375"/>
              <a:gd name="p0x10" fmla="*/ 0 w 1335"/>
              <a:gd name="p0y10" fmla="*/ 291 h 375"/>
              <a:gd name="p0x11" fmla="*/ 0 w 1335"/>
              <a:gd name="p0y11" fmla="*/ 187 h 375"/>
              <a:gd name="p0x12" fmla="*/ 0 w 1335"/>
              <a:gd name="p0y12" fmla="*/ 83 h 375"/>
              <a:gd name="p0x13" fmla="*/ 83 w 1335"/>
              <a:gd name="p0y13" fmla="*/ 0 h 375"/>
              <a:gd name="p0x14" fmla="*/ 187 w 1335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8E0F5"/>
          </a:solidFill>
          <a:ln w="9525" cmpd="sng">
            <a:solidFill>
              <a:srgbClr val="F8E0F5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>
            <p:custDataLst>
              <p:tags r:id="rId47"/>
            </p:custDataLst>
          </p:nvPr>
        </p:nvSpPr>
        <p:spPr>
          <a:xfrm>
            <a:off x="10220401" y="5044440"/>
            <a:ext cx="7620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sz="1200">
                <a:solidFill>
                  <a:srgbClr val="4A1545"/>
                </a:solidFill>
                <a:latin typeface="MiSans Normal" panose="00000500000000000000" charset="-122"/>
                <a:ea typeface="MiSans Normal" panose="00000500000000000000" charset="-122"/>
              </a:rPr>
              <a:t>心理动机</a:t>
            </a:r>
            <a:endParaRPr sz="1200">
              <a:solidFill>
                <a:srgbClr val="4A1545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sz="3000" b="1">
                <a:solidFill>
                  <a:srgbClr val="2C1B3D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SWOT </a:t>
            </a:r>
            <a:r>
              <a:rPr lang="zh-CN" sz="3000" b="1">
                <a:solidFill>
                  <a:srgbClr val="2C1B3D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分析</a:t>
            </a:r>
            <a:endParaRPr lang="zh-CN" sz="3000" b="1">
              <a:solidFill>
                <a:srgbClr val="2C1B3D"/>
              </a:solidFill>
              <a:latin typeface="MiSans Demibold" panose="00000700000000000000" charset="-122"/>
              <a:ea typeface="MiSans Demibold" panose="00000700000000000000" charset="-122"/>
              <a:cs typeface="MiSans Demibold" panose="000007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2581275" cy="5362575"/>
          </a:xfrm>
          <a:custGeom>
            <a:avLst/>
            <a:gdLst>
              <a:gd name="sw" fmla="*/ 1 w 4065"/>
              <a:gd name="sh" fmla="*/ 1 h 8445"/>
              <a:gd name="mins" fmla="min sw sh"/>
              <a:gd name="dsw" fmla="+- 0 sw mins"/>
              <a:gd name="dsh" fmla="+- 0 sh mins"/>
              <a:gd name="p0x0" fmla="*/ 240 w 4065"/>
              <a:gd name="p0y0" fmla="*/ 0 h 8445"/>
              <a:gd name="p0x1" fmla="*/ 3825 w 4065"/>
              <a:gd name="p0y1" fmla="*/ 0 h 8445"/>
              <a:gd name="p0x2" fmla="*/ 3957 w 4065"/>
              <a:gd name="p0y2" fmla="*/ 0 h 8445"/>
              <a:gd name="p0x3" fmla="*/ 4065 w 4065"/>
              <a:gd name="p0y3" fmla="*/ 107 h 8445"/>
              <a:gd name="p0x4" fmla="*/ 4065 w 4065"/>
              <a:gd name="p0y4" fmla="*/ 240 h 8445"/>
              <a:gd name="p0x5" fmla="*/ 4065 w 4065"/>
              <a:gd name="p0y5" fmla="*/ 8205 h 8445"/>
              <a:gd name="p0x6" fmla="*/ 4065 w 4065"/>
              <a:gd name="p0y6" fmla="*/ 8337 h 8445"/>
              <a:gd name="p0x7" fmla="*/ 3957 w 4065"/>
              <a:gd name="p0y7" fmla="*/ 8445 h 8445"/>
              <a:gd name="p0x8" fmla="*/ 3825 w 4065"/>
              <a:gd name="p0y8" fmla="*/ 8445 h 8445"/>
              <a:gd name="p0x9" fmla="*/ 240 w 4065"/>
              <a:gd name="p0y9" fmla="*/ 8445 h 8445"/>
              <a:gd name="p0x10" fmla="*/ 107 w 4065"/>
              <a:gd name="p0y10" fmla="*/ 8445 h 8445"/>
              <a:gd name="p0x11" fmla="*/ 0 w 4065"/>
              <a:gd name="p0y11" fmla="*/ 8337 h 8445"/>
              <a:gd name="p0x12" fmla="*/ 0 w 4065"/>
              <a:gd name="p0y12" fmla="*/ 8205 h 8445"/>
              <a:gd name="p0x13" fmla="*/ 0 w 4065"/>
              <a:gd name="p0y13" fmla="*/ 240 h 8445"/>
              <a:gd name="p0x14" fmla="*/ 0 w 4065"/>
              <a:gd name="p0y14" fmla="*/ 107 h 8445"/>
              <a:gd name="p0x15" fmla="*/ 107 w 4065"/>
              <a:gd name="p0y15" fmla="*/ 0 h 8445"/>
              <a:gd name="p0x16" fmla="*/ 240 w 406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7FF"/>
          </a:solidFill>
          <a:ln w="9525" cmpd="sng">
            <a:solidFill>
              <a:srgbClr val="E8DCF0"/>
            </a:solidFill>
            <a:prstDash val="solid"/>
          </a:ln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853526" y="2674620"/>
            <a:ext cx="2026663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zh-CN" altLang="en-US" sz="2100" b="1" spc="42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优势</a:t>
            </a:r>
            <a:r>
              <a:rPr lang="en-US" altLang="zh-CN" sz="2100" b="1" spc="42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Strength</a:t>
            </a:r>
            <a:endParaRPr lang="en-US" altLang="zh-CN" sz="2100" b="1" spc="42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771525" y="332867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40 w 660"/>
              <a:gd name="p0y0" fmla="*/ 0 h 660"/>
              <a:gd name="p0x1" fmla="*/ 420 w 660"/>
              <a:gd name="p0y1" fmla="*/ 0 h 660"/>
              <a:gd name="p0x2" fmla="*/ 552 w 660"/>
              <a:gd name="p0y2" fmla="*/ 0 h 660"/>
              <a:gd name="p0x3" fmla="*/ 660 w 660"/>
              <a:gd name="p0y3" fmla="*/ 107 h 660"/>
              <a:gd name="p0x4" fmla="*/ 660 w 660"/>
              <a:gd name="p0y4" fmla="*/ 240 h 660"/>
              <a:gd name="p0x5" fmla="*/ 660 w 660"/>
              <a:gd name="p0y5" fmla="*/ 420 h 660"/>
              <a:gd name="p0x6" fmla="*/ 660 w 660"/>
              <a:gd name="p0y6" fmla="*/ 552 h 660"/>
              <a:gd name="p0x7" fmla="*/ 552 w 660"/>
              <a:gd name="p0y7" fmla="*/ 660 h 660"/>
              <a:gd name="p0x8" fmla="*/ 420 w 660"/>
              <a:gd name="p0y8" fmla="*/ 660 h 660"/>
              <a:gd name="p0x9" fmla="*/ 240 w 660"/>
              <a:gd name="p0y9" fmla="*/ 660 h 660"/>
              <a:gd name="p0x10" fmla="*/ 107 w 660"/>
              <a:gd name="p0y10" fmla="*/ 660 h 660"/>
              <a:gd name="p0x11" fmla="*/ 0 w 660"/>
              <a:gd name="p0y11" fmla="*/ 552 h 660"/>
              <a:gd name="p0x12" fmla="*/ 0 w 660"/>
              <a:gd name="p0y12" fmla="*/ 420 h 660"/>
              <a:gd name="p0x13" fmla="*/ 0 w 660"/>
              <a:gd name="p0y13" fmla="*/ 240 h 660"/>
              <a:gd name="p0x14" fmla="*/ 0 w 660"/>
              <a:gd name="p0y14" fmla="*/ 107 h 660"/>
              <a:gd name="p0x15" fmla="*/ 107 w 660"/>
              <a:gd name="p0y15" fmla="*/ 0 h 660"/>
              <a:gd name="p0x16" fmla="*/ 24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0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2273" t="-897" r="-2273" b="-897"/>
          <a:stretch>
            <a:fillRect/>
          </a:stretch>
        </p:blipFill>
        <p:spPr>
          <a:xfrm>
            <a:off x="871220" y="3409950"/>
            <a:ext cx="219075" cy="252095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1304925" y="3380422"/>
            <a:ext cx="1394517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成长反馈快</a:t>
            </a:r>
            <a:endParaRPr b="1" spc="36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771525" y="393827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40 w 660"/>
              <a:gd name="p0y0" fmla="*/ 0 h 660"/>
              <a:gd name="p0x1" fmla="*/ 420 w 660"/>
              <a:gd name="p0y1" fmla="*/ 0 h 660"/>
              <a:gd name="p0x2" fmla="*/ 552 w 660"/>
              <a:gd name="p0y2" fmla="*/ 0 h 660"/>
              <a:gd name="p0x3" fmla="*/ 660 w 660"/>
              <a:gd name="p0y3" fmla="*/ 107 h 660"/>
              <a:gd name="p0x4" fmla="*/ 660 w 660"/>
              <a:gd name="p0y4" fmla="*/ 240 h 660"/>
              <a:gd name="p0x5" fmla="*/ 660 w 660"/>
              <a:gd name="p0y5" fmla="*/ 420 h 660"/>
              <a:gd name="p0x6" fmla="*/ 660 w 660"/>
              <a:gd name="p0y6" fmla="*/ 552 h 660"/>
              <a:gd name="p0x7" fmla="*/ 552 w 660"/>
              <a:gd name="p0y7" fmla="*/ 660 h 660"/>
              <a:gd name="p0x8" fmla="*/ 420 w 660"/>
              <a:gd name="p0y8" fmla="*/ 660 h 660"/>
              <a:gd name="p0x9" fmla="*/ 240 w 660"/>
              <a:gd name="p0y9" fmla="*/ 660 h 660"/>
              <a:gd name="p0x10" fmla="*/ 107 w 660"/>
              <a:gd name="p0y10" fmla="*/ 660 h 660"/>
              <a:gd name="p0x11" fmla="*/ 0 w 660"/>
              <a:gd name="p0y11" fmla="*/ 552 h 660"/>
              <a:gd name="p0x12" fmla="*/ 0 w 660"/>
              <a:gd name="p0y12" fmla="*/ 420 h 660"/>
              <a:gd name="p0x13" fmla="*/ 0 w 660"/>
              <a:gd name="p0y13" fmla="*/ 240 h 660"/>
              <a:gd name="p0x14" fmla="*/ 0 w 660"/>
              <a:gd name="p0y14" fmla="*/ 107 h 660"/>
              <a:gd name="p0x15" fmla="*/ 107 w 660"/>
              <a:gd name="p0y15" fmla="*/ 0 h 660"/>
              <a:gd name="p0x16" fmla="*/ 24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0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-2273" t="-2933" r="-2273" b="-2933"/>
          <a:stretch>
            <a:fillRect/>
          </a:stretch>
        </p:blipFill>
        <p:spPr>
          <a:xfrm>
            <a:off x="871220" y="4019550"/>
            <a:ext cx="219075" cy="25209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13"/>
            </p:custDataLst>
          </p:nvPr>
        </p:nvSpPr>
        <p:spPr>
          <a:xfrm>
            <a:off x="1304925" y="3990022"/>
            <a:ext cx="928164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门槛低</a:t>
            </a:r>
            <a:endParaRPr b="1" spc="36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4"/>
            </p:custDataLst>
          </p:nvPr>
        </p:nvSpPr>
        <p:spPr>
          <a:xfrm>
            <a:off x="771525" y="447167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40 w 660"/>
              <a:gd name="p0y0" fmla="*/ 0 h 660"/>
              <a:gd name="p0x1" fmla="*/ 420 w 660"/>
              <a:gd name="p0y1" fmla="*/ 0 h 660"/>
              <a:gd name="p0x2" fmla="*/ 552 w 660"/>
              <a:gd name="p0y2" fmla="*/ 0 h 660"/>
              <a:gd name="p0x3" fmla="*/ 660 w 660"/>
              <a:gd name="p0y3" fmla="*/ 107 h 660"/>
              <a:gd name="p0x4" fmla="*/ 660 w 660"/>
              <a:gd name="p0y4" fmla="*/ 240 h 660"/>
              <a:gd name="p0x5" fmla="*/ 660 w 660"/>
              <a:gd name="p0y5" fmla="*/ 420 h 660"/>
              <a:gd name="p0x6" fmla="*/ 660 w 660"/>
              <a:gd name="p0y6" fmla="*/ 552 h 660"/>
              <a:gd name="p0x7" fmla="*/ 552 w 660"/>
              <a:gd name="p0y7" fmla="*/ 660 h 660"/>
              <a:gd name="p0x8" fmla="*/ 420 w 660"/>
              <a:gd name="p0y8" fmla="*/ 660 h 660"/>
              <a:gd name="p0x9" fmla="*/ 240 w 660"/>
              <a:gd name="p0y9" fmla="*/ 660 h 660"/>
              <a:gd name="p0x10" fmla="*/ 107 w 660"/>
              <a:gd name="p0y10" fmla="*/ 660 h 660"/>
              <a:gd name="p0x11" fmla="*/ 0 w 660"/>
              <a:gd name="p0y11" fmla="*/ 552 h 660"/>
              <a:gd name="p0x12" fmla="*/ 0 w 660"/>
              <a:gd name="p0y12" fmla="*/ 420 h 660"/>
              <a:gd name="p0x13" fmla="*/ 0 w 660"/>
              <a:gd name="p0y13" fmla="*/ 240 h 660"/>
              <a:gd name="p0x14" fmla="*/ 0 w 660"/>
              <a:gd name="p0y14" fmla="*/ 107 h 660"/>
              <a:gd name="p0x15" fmla="*/ 107 w 660"/>
              <a:gd name="p0y15" fmla="*/ 0 h 660"/>
              <a:gd name="p0x16" fmla="*/ 24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0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857250" y="4552950"/>
            <a:ext cx="247650" cy="252095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8"/>
            </p:custDataLst>
          </p:nvPr>
        </p:nvSpPr>
        <p:spPr>
          <a:xfrm>
            <a:off x="1304925" y="4523422"/>
            <a:ext cx="1627661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碎片时间友好</a:t>
            </a:r>
            <a:endParaRPr b="1" spc="36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19"/>
            </p:custDataLst>
          </p:nvPr>
        </p:nvSpPr>
        <p:spPr>
          <a:xfrm>
            <a:off x="3395345" y="1109345"/>
            <a:ext cx="2581275" cy="5362575"/>
          </a:xfrm>
          <a:custGeom>
            <a:avLst/>
            <a:gdLst>
              <a:gd name="sw" fmla="*/ 1 w 4065"/>
              <a:gd name="sh" fmla="*/ 1 h 8445"/>
              <a:gd name="mins" fmla="min sw sh"/>
              <a:gd name="dsw" fmla="+- 0 sw mins"/>
              <a:gd name="dsh" fmla="+- 0 sh mins"/>
              <a:gd name="p0x0" fmla="*/ 240 w 4065"/>
              <a:gd name="p0y0" fmla="*/ 0 h 8445"/>
              <a:gd name="p0x1" fmla="*/ 3825 w 4065"/>
              <a:gd name="p0y1" fmla="*/ 0 h 8445"/>
              <a:gd name="p0x2" fmla="*/ 3957 w 4065"/>
              <a:gd name="p0y2" fmla="*/ 0 h 8445"/>
              <a:gd name="p0x3" fmla="*/ 4065 w 4065"/>
              <a:gd name="p0y3" fmla="*/ 107 h 8445"/>
              <a:gd name="p0x4" fmla="*/ 4065 w 4065"/>
              <a:gd name="p0y4" fmla="*/ 240 h 8445"/>
              <a:gd name="p0x5" fmla="*/ 4065 w 4065"/>
              <a:gd name="p0y5" fmla="*/ 8205 h 8445"/>
              <a:gd name="p0x6" fmla="*/ 4065 w 4065"/>
              <a:gd name="p0y6" fmla="*/ 8337 h 8445"/>
              <a:gd name="p0x7" fmla="*/ 3957 w 4065"/>
              <a:gd name="p0y7" fmla="*/ 8445 h 8445"/>
              <a:gd name="p0x8" fmla="*/ 3825 w 4065"/>
              <a:gd name="p0y8" fmla="*/ 8445 h 8445"/>
              <a:gd name="p0x9" fmla="*/ 240 w 4065"/>
              <a:gd name="p0y9" fmla="*/ 8445 h 8445"/>
              <a:gd name="p0x10" fmla="*/ 107 w 4065"/>
              <a:gd name="p0y10" fmla="*/ 8445 h 8445"/>
              <a:gd name="p0x11" fmla="*/ 0 w 4065"/>
              <a:gd name="p0y11" fmla="*/ 8337 h 8445"/>
              <a:gd name="p0x12" fmla="*/ 0 w 4065"/>
              <a:gd name="p0y12" fmla="*/ 8205 h 8445"/>
              <a:gd name="p0x13" fmla="*/ 0 w 4065"/>
              <a:gd name="p0y13" fmla="*/ 240 h 8445"/>
              <a:gd name="p0x14" fmla="*/ 0 w 4065"/>
              <a:gd name="p0y14" fmla="*/ 107 h 8445"/>
              <a:gd name="p0x15" fmla="*/ 107 w 4065"/>
              <a:gd name="p0y15" fmla="*/ 0 h 8445"/>
              <a:gd name="p0x16" fmla="*/ 240 w 406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7FF"/>
          </a:solidFill>
          <a:ln w="9525" cmpd="sng">
            <a:solidFill>
              <a:srgbClr val="E8DCF0"/>
            </a:solidFill>
            <a:prstDash val="solid"/>
          </a:ln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20"/>
            </p:custDataLst>
          </p:nvPr>
        </p:nvSpPr>
        <p:spPr>
          <a:xfrm>
            <a:off x="3549177" y="2674620"/>
            <a:ext cx="227417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zh-CN" altLang="en-US" sz="2100" b="1" spc="42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劣势</a:t>
            </a:r>
            <a:r>
              <a:rPr lang="en-US" altLang="zh-CN" sz="2100" b="1" spc="42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Weakness</a:t>
            </a:r>
            <a:endParaRPr lang="en-US" altLang="zh-CN" sz="2100" b="1" spc="42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21"/>
            </p:custDataLst>
          </p:nvPr>
        </p:nvSpPr>
        <p:spPr>
          <a:xfrm>
            <a:off x="3590925" y="332867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40 w 660"/>
              <a:gd name="p0y0" fmla="*/ 0 h 660"/>
              <a:gd name="p0x1" fmla="*/ 420 w 660"/>
              <a:gd name="p0y1" fmla="*/ 0 h 660"/>
              <a:gd name="p0x2" fmla="*/ 552 w 660"/>
              <a:gd name="p0y2" fmla="*/ 0 h 660"/>
              <a:gd name="p0x3" fmla="*/ 660 w 660"/>
              <a:gd name="p0y3" fmla="*/ 107 h 660"/>
              <a:gd name="p0x4" fmla="*/ 660 w 660"/>
              <a:gd name="p0y4" fmla="*/ 240 h 660"/>
              <a:gd name="p0x5" fmla="*/ 660 w 660"/>
              <a:gd name="p0y5" fmla="*/ 420 h 660"/>
              <a:gd name="p0x6" fmla="*/ 660 w 660"/>
              <a:gd name="p0y6" fmla="*/ 552 h 660"/>
              <a:gd name="p0x7" fmla="*/ 552 w 660"/>
              <a:gd name="p0y7" fmla="*/ 660 h 660"/>
              <a:gd name="p0x8" fmla="*/ 420 w 660"/>
              <a:gd name="p0y8" fmla="*/ 660 h 660"/>
              <a:gd name="p0x9" fmla="*/ 240 w 660"/>
              <a:gd name="p0y9" fmla="*/ 660 h 660"/>
              <a:gd name="p0x10" fmla="*/ 107 w 660"/>
              <a:gd name="p0y10" fmla="*/ 660 h 660"/>
              <a:gd name="p0x11" fmla="*/ 0 w 660"/>
              <a:gd name="p0y11" fmla="*/ 552 h 660"/>
              <a:gd name="p0x12" fmla="*/ 0 w 660"/>
              <a:gd name="p0y12" fmla="*/ 420 h 660"/>
              <a:gd name="p0x13" fmla="*/ 0 w 660"/>
              <a:gd name="p0y13" fmla="*/ 240 h 660"/>
              <a:gd name="p0x14" fmla="*/ 0 w 660"/>
              <a:gd name="p0y14" fmla="*/ 107 h 660"/>
              <a:gd name="p0x15" fmla="*/ 107 w 660"/>
              <a:gd name="p0y15" fmla="*/ 0 h 660"/>
              <a:gd name="p0x16" fmla="*/ 24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0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3676650" y="3409950"/>
            <a:ext cx="247650" cy="252095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5"/>
            </p:custDataLst>
          </p:nvPr>
        </p:nvSpPr>
        <p:spPr>
          <a:xfrm>
            <a:off x="4124325" y="3380422"/>
            <a:ext cx="1627661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后期玩法重复</a:t>
            </a:r>
            <a:endParaRPr b="1" spc="36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6"/>
            </p:custDataLst>
          </p:nvPr>
        </p:nvSpPr>
        <p:spPr>
          <a:xfrm>
            <a:off x="3590925" y="393827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40 w 660"/>
              <a:gd name="p0y0" fmla="*/ 0 h 660"/>
              <a:gd name="p0x1" fmla="*/ 420 w 660"/>
              <a:gd name="p0y1" fmla="*/ 0 h 660"/>
              <a:gd name="p0x2" fmla="*/ 552 w 660"/>
              <a:gd name="p0y2" fmla="*/ 0 h 660"/>
              <a:gd name="p0x3" fmla="*/ 660 w 660"/>
              <a:gd name="p0y3" fmla="*/ 107 h 660"/>
              <a:gd name="p0x4" fmla="*/ 660 w 660"/>
              <a:gd name="p0y4" fmla="*/ 240 h 660"/>
              <a:gd name="p0x5" fmla="*/ 660 w 660"/>
              <a:gd name="p0y5" fmla="*/ 420 h 660"/>
              <a:gd name="p0x6" fmla="*/ 660 w 660"/>
              <a:gd name="p0y6" fmla="*/ 552 h 660"/>
              <a:gd name="p0x7" fmla="*/ 552 w 660"/>
              <a:gd name="p0y7" fmla="*/ 660 h 660"/>
              <a:gd name="p0x8" fmla="*/ 420 w 660"/>
              <a:gd name="p0y8" fmla="*/ 660 h 660"/>
              <a:gd name="p0x9" fmla="*/ 240 w 660"/>
              <a:gd name="p0y9" fmla="*/ 660 h 660"/>
              <a:gd name="p0x10" fmla="*/ 107 w 660"/>
              <a:gd name="p0y10" fmla="*/ 660 h 660"/>
              <a:gd name="p0x11" fmla="*/ 0 w 660"/>
              <a:gd name="p0y11" fmla="*/ 552 h 660"/>
              <a:gd name="p0x12" fmla="*/ 0 w 660"/>
              <a:gd name="p0y12" fmla="*/ 420 h 660"/>
              <a:gd name="p0x13" fmla="*/ 0 w 660"/>
              <a:gd name="p0y13" fmla="*/ 240 h 660"/>
              <a:gd name="p0x14" fmla="*/ 0 w 660"/>
              <a:gd name="p0y14" fmla="*/ 107 h 660"/>
              <a:gd name="p0x15" fmla="*/ 107 w 660"/>
              <a:gd name="p0y15" fmla="*/ 0 h 660"/>
              <a:gd name="p0x16" fmla="*/ 24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0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3676650" y="4019550"/>
            <a:ext cx="247650" cy="252095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30"/>
            </p:custDataLst>
          </p:nvPr>
        </p:nvSpPr>
        <p:spPr>
          <a:xfrm>
            <a:off x="4124325" y="3990022"/>
            <a:ext cx="1794567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 spc="36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Build </a:t>
            </a:r>
            <a:r>
              <a:rPr lang="zh-CN" b="1" spc="36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深度有限</a:t>
            </a:r>
            <a:endParaRPr lang="zh-CN" b="1" spc="36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31"/>
            </p:custDataLst>
          </p:nvPr>
        </p:nvSpPr>
        <p:spPr>
          <a:xfrm>
            <a:off x="3590925" y="447167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40 w 660"/>
              <a:gd name="p0y0" fmla="*/ 0 h 660"/>
              <a:gd name="p0x1" fmla="*/ 420 w 660"/>
              <a:gd name="p0y1" fmla="*/ 0 h 660"/>
              <a:gd name="p0x2" fmla="*/ 552 w 660"/>
              <a:gd name="p0y2" fmla="*/ 0 h 660"/>
              <a:gd name="p0x3" fmla="*/ 660 w 660"/>
              <a:gd name="p0y3" fmla="*/ 107 h 660"/>
              <a:gd name="p0x4" fmla="*/ 660 w 660"/>
              <a:gd name="p0y4" fmla="*/ 240 h 660"/>
              <a:gd name="p0x5" fmla="*/ 660 w 660"/>
              <a:gd name="p0y5" fmla="*/ 420 h 660"/>
              <a:gd name="p0x6" fmla="*/ 660 w 660"/>
              <a:gd name="p0y6" fmla="*/ 552 h 660"/>
              <a:gd name="p0x7" fmla="*/ 552 w 660"/>
              <a:gd name="p0y7" fmla="*/ 660 h 660"/>
              <a:gd name="p0x8" fmla="*/ 420 w 660"/>
              <a:gd name="p0y8" fmla="*/ 660 h 660"/>
              <a:gd name="p0x9" fmla="*/ 240 w 660"/>
              <a:gd name="p0y9" fmla="*/ 660 h 660"/>
              <a:gd name="p0x10" fmla="*/ 107 w 660"/>
              <a:gd name="p0y10" fmla="*/ 660 h 660"/>
              <a:gd name="p0x11" fmla="*/ 0 w 660"/>
              <a:gd name="p0y11" fmla="*/ 552 h 660"/>
              <a:gd name="p0x12" fmla="*/ 0 w 660"/>
              <a:gd name="p0y12" fmla="*/ 420 h 660"/>
              <a:gd name="p0x13" fmla="*/ 0 w 660"/>
              <a:gd name="p0y13" fmla="*/ 240 h 660"/>
              <a:gd name="p0x14" fmla="*/ 0 w 660"/>
              <a:gd name="p0y14" fmla="*/ 107 h 660"/>
              <a:gd name="p0x15" fmla="*/ 107 w 660"/>
              <a:gd name="p0y15" fmla="*/ 0 h 660"/>
              <a:gd name="p0x16" fmla="*/ 24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0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l="-5793" r="-5793"/>
          <a:stretch>
            <a:fillRect/>
          </a:stretch>
        </p:blipFill>
        <p:spPr>
          <a:xfrm>
            <a:off x="3659505" y="4552950"/>
            <a:ext cx="281305" cy="252095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35"/>
            </p:custDataLst>
          </p:nvPr>
        </p:nvSpPr>
        <p:spPr>
          <a:xfrm>
            <a:off x="4124325" y="4523422"/>
            <a:ext cx="1161307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社交偏弱</a:t>
            </a:r>
            <a:endParaRPr b="1" spc="36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36"/>
            </p:custDataLst>
          </p:nvPr>
        </p:nvSpPr>
        <p:spPr>
          <a:xfrm>
            <a:off x="6214745" y="1109345"/>
            <a:ext cx="2581275" cy="5362575"/>
          </a:xfrm>
          <a:custGeom>
            <a:avLst/>
            <a:gdLst>
              <a:gd name="sw" fmla="*/ 1 w 4065"/>
              <a:gd name="sh" fmla="*/ 1 h 8445"/>
              <a:gd name="mins" fmla="min sw sh"/>
              <a:gd name="dsw" fmla="+- 0 sw mins"/>
              <a:gd name="dsh" fmla="+- 0 sh mins"/>
              <a:gd name="p0x0" fmla="*/ 240 w 4065"/>
              <a:gd name="p0y0" fmla="*/ 0 h 8445"/>
              <a:gd name="p0x1" fmla="*/ 3825 w 4065"/>
              <a:gd name="p0y1" fmla="*/ 0 h 8445"/>
              <a:gd name="p0x2" fmla="*/ 3957 w 4065"/>
              <a:gd name="p0y2" fmla="*/ 0 h 8445"/>
              <a:gd name="p0x3" fmla="*/ 4065 w 4065"/>
              <a:gd name="p0y3" fmla="*/ 107 h 8445"/>
              <a:gd name="p0x4" fmla="*/ 4065 w 4065"/>
              <a:gd name="p0y4" fmla="*/ 240 h 8445"/>
              <a:gd name="p0x5" fmla="*/ 4065 w 4065"/>
              <a:gd name="p0y5" fmla="*/ 8205 h 8445"/>
              <a:gd name="p0x6" fmla="*/ 4065 w 4065"/>
              <a:gd name="p0y6" fmla="*/ 8337 h 8445"/>
              <a:gd name="p0x7" fmla="*/ 3957 w 4065"/>
              <a:gd name="p0y7" fmla="*/ 8445 h 8445"/>
              <a:gd name="p0x8" fmla="*/ 3825 w 4065"/>
              <a:gd name="p0y8" fmla="*/ 8445 h 8445"/>
              <a:gd name="p0x9" fmla="*/ 240 w 4065"/>
              <a:gd name="p0y9" fmla="*/ 8445 h 8445"/>
              <a:gd name="p0x10" fmla="*/ 107 w 4065"/>
              <a:gd name="p0y10" fmla="*/ 8445 h 8445"/>
              <a:gd name="p0x11" fmla="*/ 0 w 4065"/>
              <a:gd name="p0y11" fmla="*/ 8337 h 8445"/>
              <a:gd name="p0x12" fmla="*/ 0 w 4065"/>
              <a:gd name="p0y12" fmla="*/ 8205 h 8445"/>
              <a:gd name="p0x13" fmla="*/ 0 w 4065"/>
              <a:gd name="p0y13" fmla="*/ 240 h 8445"/>
              <a:gd name="p0x14" fmla="*/ 0 w 4065"/>
              <a:gd name="p0y14" fmla="*/ 107 h 8445"/>
              <a:gd name="p0x15" fmla="*/ 107 w 4065"/>
              <a:gd name="p0y15" fmla="*/ 0 h 8445"/>
              <a:gd name="p0x16" fmla="*/ 240 w 406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7FF"/>
          </a:solidFill>
          <a:ln w="9525" cmpd="sng">
            <a:solidFill>
              <a:srgbClr val="E8DCF0"/>
            </a:solidFill>
            <a:prstDash val="solid"/>
          </a:ln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37"/>
            </p:custDataLst>
          </p:nvPr>
        </p:nvSpPr>
        <p:spPr>
          <a:xfrm>
            <a:off x="6284042" y="2674620"/>
            <a:ext cx="244331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zh-CN" altLang="en-US" sz="2100" b="1" spc="42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机会</a:t>
            </a:r>
            <a:r>
              <a:rPr lang="en-US" altLang="zh-CN" sz="2100" b="1" spc="42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Opportunity</a:t>
            </a:r>
            <a:endParaRPr lang="en-US" altLang="zh-CN" sz="2100" b="1" spc="42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38"/>
            </p:custDataLst>
          </p:nvPr>
        </p:nvSpPr>
        <p:spPr>
          <a:xfrm>
            <a:off x="6410325" y="332867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40 w 660"/>
              <a:gd name="p0y0" fmla="*/ 0 h 660"/>
              <a:gd name="p0x1" fmla="*/ 420 w 660"/>
              <a:gd name="p0y1" fmla="*/ 0 h 660"/>
              <a:gd name="p0x2" fmla="*/ 552 w 660"/>
              <a:gd name="p0y2" fmla="*/ 0 h 660"/>
              <a:gd name="p0x3" fmla="*/ 660 w 660"/>
              <a:gd name="p0y3" fmla="*/ 107 h 660"/>
              <a:gd name="p0x4" fmla="*/ 660 w 660"/>
              <a:gd name="p0y4" fmla="*/ 240 h 660"/>
              <a:gd name="p0x5" fmla="*/ 660 w 660"/>
              <a:gd name="p0y5" fmla="*/ 420 h 660"/>
              <a:gd name="p0x6" fmla="*/ 660 w 660"/>
              <a:gd name="p0y6" fmla="*/ 552 h 660"/>
              <a:gd name="p0x7" fmla="*/ 552 w 660"/>
              <a:gd name="p0y7" fmla="*/ 660 h 660"/>
              <a:gd name="p0x8" fmla="*/ 420 w 660"/>
              <a:gd name="p0y8" fmla="*/ 660 h 660"/>
              <a:gd name="p0x9" fmla="*/ 240 w 660"/>
              <a:gd name="p0y9" fmla="*/ 660 h 660"/>
              <a:gd name="p0x10" fmla="*/ 107 w 660"/>
              <a:gd name="p0y10" fmla="*/ 660 h 660"/>
              <a:gd name="p0x11" fmla="*/ 0 w 660"/>
              <a:gd name="p0y11" fmla="*/ 552 h 660"/>
              <a:gd name="p0x12" fmla="*/ 0 w 660"/>
              <a:gd name="p0y12" fmla="*/ 420 h 660"/>
              <a:gd name="p0x13" fmla="*/ 0 w 660"/>
              <a:gd name="p0y13" fmla="*/ 240 h 660"/>
              <a:gd name="p0x14" fmla="*/ 0 w 660"/>
              <a:gd name="p0y14" fmla="*/ 107 h 660"/>
              <a:gd name="p0x15" fmla="*/ 107 w 660"/>
              <a:gd name="p0y15" fmla="*/ 0 h 660"/>
              <a:gd name="p0x16" fmla="*/ 24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0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-2000" t="-10152" r="-2000" b="-10152"/>
          <a:stretch>
            <a:fillRect/>
          </a:stretch>
        </p:blipFill>
        <p:spPr>
          <a:xfrm>
            <a:off x="6496050" y="3409950"/>
            <a:ext cx="247650" cy="252095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42"/>
            </p:custDataLst>
          </p:nvPr>
        </p:nvSpPr>
        <p:spPr>
          <a:xfrm>
            <a:off x="6943725" y="3380422"/>
            <a:ext cx="1627661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放置赛道增长</a:t>
            </a:r>
            <a:endParaRPr b="1" spc="36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43"/>
            </p:custDataLst>
          </p:nvPr>
        </p:nvSpPr>
        <p:spPr>
          <a:xfrm>
            <a:off x="6410325" y="393827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40 w 660"/>
              <a:gd name="p0y0" fmla="*/ 0 h 660"/>
              <a:gd name="p0x1" fmla="*/ 420 w 660"/>
              <a:gd name="p0y1" fmla="*/ 0 h 660"/>
              <a:gd name="p0x2" fmla="*/ 552 w 660"/>
              <a:gd name="p0y2" fmla="*/ 0 h 660"/>
              <a:gd name="p0x3" fmla="*/ 660 w 660"/>
              <a:gd name="p0y3" fmla="*/ 107 h 660"/>
              <a:gd name="p0x4" fmla="*/ 660 w 660"/>
              <a:gd name="p0y4" fmla="*/ 240 h 660"/>
              <a:gd name="p0x5" fmla="*/ 660 w 660"/>
              <a:gd name="p0y5" fmla="*/ 420 h 660"/>
              <a:gd name="p0x6" fmla="*/ 660 w 660"/>
              <a:gd name="p0y6" fmla="*/ 552 h 660"/>
              <a:gd name="p0x7" fmla="*/ 552 w 660"/>
              <a:gd name="p0y7" fmla="*/ 660 h 660"/>
              <a:gd name="p0x8" fmla="*/ 420 w 660"/>
              <a:gd name="p0y8" fmla="*/ 660 h 660"/>
              <a:gd name="p0x9" fmla="*/ 240 w 660"/>
              <a:gd name="p0y9" fmla="*/ 660 h 660"/>
              <a:gd name="p0x10" fmla="*/ 107 w 660"/>
              <a:gd name="p0y10" fmla="*/ 660 h 660"/>
              <a:gd name="p0x11" fmla="*/ 0 w 660"/>
              <a:gd name="p0y11" fmla="*/ 552 h 660"/>
              <a:gd name="p0x12" fmla="*/ 0 w 660"/>
              <a:gd name="p0y12" fmla="*/ 420 h 660"/>
              <a:gd name="p0x13" fmla="*/ 0 w 660"/>
              <a:gd name="p0y13" fmla="*/ 240 h 660"/>
              <a:gd name="p0x14" fmla="*/ 0 w 660"/>
              <a:gd name="p0y14" fmla="*/ 107 h 660"/>
              <a:gd name="p0x15" fmla="*/ 107 w 660"/>
              <a:gd name="p0y15" fmla="*/ 0 h 660"/>
              <a:gd name="p0x16" fmla="*/ 24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0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 l="-2273" t="-7536" r="-2273" b="-7536"/>
          <a:stretch>
            <a:fillRect/>
          </a:stretch>
        </p:blipFill>
        <p:spPr>
          <a:xfrm>
            <a:off x="6510020" y="4019550"/>
            <a:ext cx="219075" cy="252095"/>
          </a:xfrm>
          <a:prstGeom prst="rect">
            <a:avLst/>
          </a:prstGeom>
        </p:spPr>
      </p:pic>
      <p:sp>
        <p:nvSpPr>
          <p:cNvPr id="33" name="文本框 32"/>
          <p:cNvSpPr txBox="1"/>
          <p:nvPr>
            <p:custDataLst>
              <p:tags r:id="rId47"/>
            </p:custDataLst>
          </p:nvPr>
        </p:nvSpPr>
        <p:spPr>
          <a:xfrm>
            <a:off x="6943725" y="3990022"/>
            <a:ext cx="1627661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长线活动运营</a:t>
            </a:r>
            <a:endParaRPr b="1" spc="36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48"/>
            </p:custDataLst>
          </p:nvPr>
        </p:nvSpPr>
        <p:spPr>
          <a:xfrm>
            <a:off x="9034145" y="1109345"/>
            <a:ext cx="2581275" cy="5362575"/>
          </a:xfrm>
          <a:custGeom>
            <a:avLst/>
            <a:gdLst>
              <a:gd name="sw" fmla="*/ 1 w 4065"/>
              <a:gd name="sh" fmla="*/ 1 h 8445"/>
              <a:gd name="mins" fmla="min sw sh"/>
              <a:gd name="dsw" fmla="+- 0 sw mins"/>
              <a:gd name="dsh" fmla="+- 0 sh mins"/>
              <a:gd name="p0x0" fmla="*/ 240 w 4065"/>
              <a:gd name="p0y0" fmla="*/ 0 h 8445"/>
              <a:gd name="p0x1" fmla="*/ 3825 w 4065"/>
              <a:gd name="p0y1" fmla="*/ 0 h 8445"/>
              <a:gd name="p0x2" fmla="*/ 3957 w 4065"/>
              <a:gd name="p0y2" fmla="*/ 0 h 8445"/>
              <a:gd name="p0x3" fmla="*/ 4065 w 4065"/>
              <a:gd name="p0y3" fmla="*/ 107 h 8445"/>
              <a:gd name="p0x4" fmla="*/ 4065 w 4065"/>
              <a:gd name="p0y4" fmla="*/ 240 h 8445"/>
              <a:gd name="p0x5" fmla="*/ 4065 w 4065"/>
              <a:gd name="p0y5" fmla="*/ 8205 h 8445"/>
              <a:gd name="p0x6" fmla="*/ 4065 w 4065"/>
              <a:gd name="p0y6" fmla="*/ 8337 h 8445"/>
              <a:gd name="p0x7" fmla="*/ 3957 w 4065"/>
              <a:gd name="p0y7" fmla="*/ 8445 h 8445"/>
              <a:gd name="p0x8" fmla="*/ 3825 w 4065"/>
              <a:gd name="p0y8" fmla="*/ 8445 h 8445"/>
              <a:gd name="p0x9" fmla="*/ 240 w 4065"/>
              <a:gd name="p0y9" fmla="*/ 8445 h 8445"/>
              <a:gd name="p0x10" fmla="*/ 107 w 4065"/>
              <a:gd name="p0y10" fmla="*/ 8445 h 8445"/>
              <a:gd name="p0x11" fmla="*/ 0 w 4065"/>
              <a:gd name="p0y11" fmla="*/ 8337 h 8445"/>
              <a:gd name="p0x12" fmla="*/ 0 w 4065"/>
              <a:gd name="p0y12" fmla="*/ 8205 h 8445"/>
              <a:gd name="p0x13" fmla="*/ 0 w 4065"/>
              <a:gd name="p0y13" fmla="*/ 240 h 8445"/>
              <a:gd name="p0x14" fmla="*/ 0 w 4065"/>
              <a:gd name="p0y14" fmla="*/ 107 h 8445"/>
              <a:gd name="p0x15" fmla="*/ 107 w 4065"/>
              <a:gd name="p0y15" fmla="*/ 0 h 8445"/>
              <a:gd name="p0x16" fmla="*/ 240 w 406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7FF"/>
          </a:solidFill>
          <a:ln w="9525" cmpd="sng">
            <a:solidFill>
              <a:srgbClr val="E8DCF0"/>
            </a:solidFill>
            <a:prstDash val="solid"/>
          </a:ln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49"/>
            </p:custDataLst>
          </p:nvPr>
        </p:nvSpPr>
        <p:spPr>
          <a:xfrm>
            <a:off x="9454829" y="2674620"/>
            <a:ext cx="1740541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zh-CN" altLang="en-US" sz="2100" b="1" spc="42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威胁</a:t>
            </a:r>
            <a:r>
              <a:rPr lang="en-US" altLang="zh-CN" sz="2100" b="1" spc="42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 Threat</a:t>
            </a:r>
            <a:endParaRPr lang="en-US" altLang="zh-CN" sz="2100" b="1" spc="42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50"/>
            </p:custDataLst>
          </p:nvPr>
        </p:nvSpPr>
        <p:spPr>
          <a:xfrm>
            <a:off x="9229725" y="332867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40 w 660"/>
              <a:gd name="p0y0" fmla="*/ 0 h 660"/>
              <a:gd name="p0x1" fmla="*/ 420 w 660"/>
              <a:gd name="p0y1" fmla="*/ 0 h 660"/>
              <a:gd name="p0x2" fmla="*/ 552 w 660"/>
              <a:gd name="p0y2" fmla="*/ 0 h 660"/>
              <a:gd name="p0x3" fmla="*/ 660 w 660"/>
              <a:gd name="p0y3" fmla="*/ 107 h 660"/>
              <a:gd name="p0x4" fmla="*/ 660 w 660"/>
              <a:gd name="p0y4" fmla="*/ 240 h 660"/>
              <a:gd name="p0x5" fmla="*/ 660 w 660"/>
              <a:gd name="p0y5" fmla="*/ 420 h 660"/>
              <a:gd name="p0x6" fmla="*/ 660 w 660"/>
              <a:gd name="p0y6" fmla="*/ 552 h 660"/>
              <a:gd name="p0x7" fmla="*/ 552 w 660"/>
              <a:gd name="p0y7" fmla="*/ 660 h 660"/>
              <a:gd name="p0x8" fmla="*/ 420 w 660"/>
              <a:gd name="p0y8" fmla="*/ 660 h 660"/>
              <a:gd name="p0x9" fmla="*/ 240 w 660"/>
              <a:gd name="p0y9" fmla="*/ 660 h 660"/>
              <a:gd name="p0x10" fmla="*/ 107 w 660"/>
              <a:gd name="p0y10" fmla="*/ 660 h 660"/>
              <a:gd name="p0x11" fmla="*/ 0 w 660"/>
              <a:gd name="p0y11" fmla="*/ 552 h 660"/>
              <a:gd name="p0x12" fmla="*/ 0 w 660"/>
              <a:gd name="p0y12" fmla="*/ 420 h 660"/>
              <a:gd name="p0x13" fmla="*/ 0 w 660"/>
              <a:gd name="p0y13" fmla="*/ 240 h 660"/>
              <a:gd name="p0x14" fmla="*/ 0 w 660"/>
              <a:gd name="p0y14" fmla="*/ 107 h 660"/>
              <a:gd name="p0x15" fmla="*/ 107 w 660"/>
              <a:gd name="p0y15" fmla="*/ 0 h 660"/>
              <a:gd name="p0x16" fmla="*/ 24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0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/>
          <p:cNvPicPr>
            <a:picLocks noChangeAspect="1"/>
          </p:cNvPicPr>
          <p:nvPr>
            <p:custDataLst>
              <p:tags r:id="rId51"/>
            </p:custDataLst>
          </p:nvPr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 l="-5399" r="-5399"/>
          <a:stretch>
            <a:fillRect/>
          </a:stretch>
        </p:blipFill>
        <p:spPr>
          <a:xfrm>
            <a:off x="9284335" y="3409950"/>
            <a:ext cx="309245" cy="252095"/>
          </a:xfrm>
          <a:prstGeom prst="rect">
            <a:avLst/>
          </a:prstGeom>
        </p:spPr>
      </p:pic>
      <p:sp>
        <p:nvSpPr>
          <p:cNvPr id="38" name="文本框 37"/>
          <p:cNvSpPr txBox="1"/>
          <p:nvPr>
            <p:custDataLst>
              <p:tags r:id="rId54"/>
            </p:custDataLst>
          </p:nvPr>
        </p:nvSpPr>
        <p:spPr>
          <a:xfrm>
            <a:off x="9763125" y="3237548"/>
            <a:ext cx="1657350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同类产品竞争激烈</a:t>
            </a:r>
            <a:endParaRPr b="1" spc="36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55"/>
            </p:custDataLst>
          </p:nvPr>
        </p:nvSpPr>
        <p:spPr>
          <a:xfrm>
            <a:off x="9229725" y="393827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40 w 660"/>
              <a:gd name="p0y0" fmla="*/ 0 h 660"/>
              <a:gd name="p0x1" fmla="*/ 420 w 660"/>
              <a:gd name="p0y1" fmla="*/ 0 h 660"/>
              <a:gd name="p0x2" fmla="*/ 552 w 660"/>
              <a:gd name="p0y2" fmla="*/ 0 h 660"/>
              <a:gd name="p0x3" fmla="*/ 660 w 660"/>
              <a:gd name="p0y3" fmla="*/ 107 h 660"/>
              <a:gd name="p0x4" fmla="*/ 660 w 660"/>
              <a:gd name="p0y4" fmla="*/ 240 h 660"/>
              <a:gd name="p0x5" fmla="*/ 660 w 660"/>
              <a:gd name="p0y5" fmla="*/ 420 h 660"/>
              <a:gd name="p0x6" fmla="*/ 660 w 660"/>
              <a:gd name="p0y6" fmla="*/ 552 h 660"/>
              <a:gd name="p0x7" fmla="*/ 552 w 660"/>
              <a:gd name="p0y7" fmla="*/ 660 h 660"/>
              <a:gd name="p0x8" fmla="*/ 420 w 660"/>
              <a:gd name="p0y8" fmla="*/ 660 h 660"/>
              <a:gd name="p0x9" fmla="*/ 240 w 660"/>
              <a:gd name="p0y9" fmla="*/ 660 h 660"/>
              <a:gd name="p0x10" fmla="*/ 107 w 660"/>
              <a:gd name="p0y10" fmla="*/ 660 h 660"/>
              <a:gd name="p0x11" fmla="*/ 0 w 660"/>
              <a:gd name="p0y11" fmla="*/ 552 h 660"/>
              <a:gd name="p0x12" fmla="*/ 0 w 660"/>
              <a:gd name="p0y12" fmla="*/ 420 h 660"/>
              <a:gd name="p0x13" fmla="*/ 0 w 660"/>
              <a:gd name="p0y13" fmla="*/ 240 h 660"/>
              <a:gd name="p0x14" fmla="*/ 0 w 660"/>
              <a:gd name="p0y14" fmla="*/ 107 h 660"/>
              <a:gd name="p0x15" fmla="*/ 107 w 660"/>
              <a:gd name="p0y15" fmla="*/ 0 h 660"/>
              <a:gd name="p0x16" fmla="*/ 24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8E0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0" name="图片 39"/>
          <p:cNvPicPr>
            <a:picLocks noChangeAspect="1"/>
          </p:cNvPicPr>
          <p:nvPr>
            <p:custDataLst>
              <p:tags r:id="rId56"/>
            </p:custDataLst>
          </p:nvPr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 l="-5793" r="-5793"/>
          <a:stretch>
            <a:fillRect/>
          </a:stretch>
        </p:blipFill>
        <p:spPr>
          <a:xfrm>
            <a:off x="9298305" y="4019550"/>
            <a:ext cx="281305" cy="252095"/>
          </a:xfrm>
          <a:prstGeom prst="rect">
            <a:avLst/>
          </a:prstGeom>
        </p:spPr>
      </p:pic>
      <p:sp>
        <p:nvSpPr>
          <p:cNvPr id="41" name="文本框 40"/>
          <p:cNvSpPr txBox="1"/>
          <p:nvPr>
            <p:custDataLst>
              <p:tags r:id="rId59"/>
            </p:custDataLst>
          </p:nvPr>
        </p:nvSpPr>
        <p:spPr>
          <a:xfrm>
            <a:off x="9763125" y="3990022"/>
            <a:ext cx="1394517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用户流失快</a:t>
            </a:r>
            <a:endParaRPr b="1" spc="36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C1B3D"/>
                </a:solidFill>
                <a:latin typeface="MiSans Demibold" panose="00000700000000000000" charset="-122"/>
                <a:ea typeface="MiSans Demibold" panose="00000700000000000000" charset="-122"/>
              </a:rPr>
              <a:t>运营优化建议</a:t>
            </a:r>
            <a:endParaRPr sz="3000" b="1">
              <a:solidFill>
                <a:srgbClr val="2C1B3D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2581275" cy="5362575"/>
          </a:xfrm>
          <a:custGeom>
            <a:avLst/>
            <a:gdLst>
              <a:gd name="sw" fmla="*/ 1 w 4065"/>
              <a:gd name="sh" fmla="*/ 1 h 8445"/>
              <a:gd name="mins" fmla="min sw sh"/>
              <a:gd name="dsw" fmla="+- 0 sw mins"/>
              <a:gd name="dsh" fmla="+- 0 sh mins"/>
              <a:gd name="p0x0" fmla="*/ 240 w 4065"/>
              <a:gd name="p0y0" fmla="*/ 0 h 8445"/>
              <a:gd name="p0x1" fmla="*/ 3825 w 4065"/>
              <a:gd name="p0y1" fmla="*/ 0 h 8445"/>
              <a:gd name="p0x2" fmla="*/ 3957 w 4065"/>
              <a:gd name="p0y2" fmla="*/ 0 h 8445"/>
              <a:gd name="p0x3" fmla="*/ 4065 w 4065"/>
              <a:gd name="p0y3" fmla="*/ 107 h 8445"/>
              <a:gd name="p0x4" fmla="*/ 4065 w 4065"/>
              <a:gd name="p0y4" fmla="*/ 240 h 8445"/>
              <a:gd name="p0x5" fmla="*/ 4065 w 4065"/>
              <a:gd name="p0y5" fmla="*/ 8205 h 8445"/>
              <a:gd name="p0x6" fmla="*/ 4065 w 4065"/>
              <a:gd name="p0y6" fmla="*/ 8337 h 8445"/>
              <a:gd name="p0x7" fmla="*/ 3957 w 4065"/>
              <a:gd name="p0y7" fmla="*/ 8445 h 8445"/>
              <a:gd name="p0x8" fmla="*/ 3825 w 4065"/>
              <a:gd name="p0y8" fmla="*/ 8445 h 8445"/>
              <a:gd name="p0x9" fmla="*/ 240 w 4065"/>
              <a:gd name="p0y9" fmla="*/ 8445 h 8445"/>
              <a:gd name="p0x10" fmla="*/ 107 w 4065"/>
              <a:gd name="p0y10" fmla="*/ 8445 h 8445"/>
              <a:gd name="p0x11" fmla="*/ 0 w 4065"/>
              <a:gd name="p0y11" fmla="*/ 8337 h 8445"/>
              <a:gd name="p0x12" fmla="*/ 0 w 4065"/>
              <a:gd name="p0y12" fmla="*/ 8205 h 8445"/>
              <a:gd name="p0x13" fmla="*/ 0 w 4065"/>
              <a:gd name="p0y13" fmla="*/ 240 h 8445"/>
              <a:gd name="p0x14" fmla="*/ 0 w 4065"/>
              <a:gd name="p0y14" fmla="*/ 107 h 8445"/>
              <a:gd name="p0x15" fmla="*/ 107 w 4065"/>
              <a:gd name="p0y15" fmla="*/ 0 h 8445"/>
              <a:gd name="p0x16" fmla="*/ 240 w 406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7FF"/>
          </a:solidFill>
          <a:ln w="9525" cmpd="sng">
            <a:solidFill>
              <a:srgbClr val="E8DCF0"/>
            </a:solidFill>
            <a:prstDash val="solid"/>
          </a:ln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513562" y="1036320"/>
            <a:ext cx="982113" cy="5133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600" b="1" spc="-180">
                <a:solidFill>
                  <a:srgbClr val="D650C7">
                    <a:alpha val="50001"/>
                  </a:srgbClr>
                </a:solidFill>
                <a:latin typeface="MiSans Normal" panose="00000500000000000000" charset="-122"/>
                <a:ea typeface="MiSans Normal" panose="00000500000000000000" charset="-122"/>
              </a:rPr>
              <a:t>01</a:t>
            </a:r>
            <a:endParaRPr sz="3600" b="1" spc="-180">
              <a:solidFill>
                <a:srgbClr val="D650C7">
                  <a:alpha val="50001"/>
                </a:srgb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4"/>
            </p:custDataLst>
          </p:nvPr>
        </p:nvSpPr>
        <p:spPr>
          <a:xfrm>
            <a:off x="3395345" y="1109345"/>
            <a:ext cx="2581275" cy="5362575"/>
          </a:xfrm>
          <a:custGeom>
            <a:avLst/>
            <a:gdLst>
              <a:gd name="sw" fmla="*/ 1 w 4065"/>
              <a:gd name="sh" fmla="*/ 1 h 8445"/>
              <a:gd name="mins" fmla="min sw sh"/>
              <a:gd name="dsw" fmla="+- 0 sw mins"/>
              <a:gd name="dsh" fmla="+- 0 sh mins"/>
              <a:gd name="p0x0" fmla="*/ 240 w 4065"/>
              <a:gd name="p0y0" fmla="*/ 0 h 8445"/>
              <a:gd name="p0x1" fmla="*/ 3825 w 4065"/>
              <a:gd name="p0y1" fmla="*/ 0 h 8445"/>
              <a:gd name="p0x2" fmla="*/ 3957 w 4065"/>
              <a:gd name="p0y2" fmla="*/ 0 h 8445"/>
              <a:gd name="p0x3" fmla="*/ 4065 w 4065"/>
              <a:gd name="p0y3" fmla="*/ 107 h 8445"/>
              <a:gd name="p0x4" fmla="*/ 4065 w 4065"/>
              <a:gd name="p0y4" fmla="*/ 240 h 8445"/>
              <a:gd name="p0x5" fmla="*/ 4065 w 4065"/>
              <a:gd name="p0y5" fmla="*/ 8205 h 8445"/>
              <a:gd name="p0x6" fmla="*/ 4065 w 4065"/>
              <a:gd name="p0y6" fmla="*/ 8337 h 8445"/>
              <a:gd name="p0x7" fmla="*/ 3957 w 4065"/>
              <a:gd name="p0y7" fmla="*/ 8445 h 8445"/>
              <a:gd name="p0x8" fmla="*/ 3825 w 4065"/>
              <a:gd name="p0y8" fmla="*/ 8445 h 8445"/>
              <a:gd name="p0x9" fmla="*/ 240 w 4065"/>
              <a:gd name="p0y9" fmla="*/ 8445 h 8445"/>
              <a:gd name="p0x10" fmla="*/ 107 w 4065"/>
              <a:gd name="p0y10" fmla="*/ 8445 h 8445"/>
              <a:gd name="p0x11" fmla="*/ 0 w 4065"/>
              <a:gd name="p0y11" fmla="*/ 8337 h 8445"/>
              <a:gd name="p0x12" fmla="*/ 0 w 4065"/>
              <a:gd name="p0y12" fmla="*/ 8205 h 8445"/>
              <a:gd name="p0x13" fmla="*/ 0 w 4065"/>
              <a:gd name="p0y13" fmla="*/ 240 h 8445"/>
              <a:gd name="p0x14" fmla="*/ 0 w 4065"/>
              <a:gd name="p0y14" fmla="*/ 107 h 8445"/>
              <a:gd name="p0x15" fmla="*/ 107 w 4065"/>
              <a:gd name="p0y15" fmla="*/ 0 h 8445"/>
              <a:gd name="p0x16" fmla="*/ 240 w 406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7FF"/>
          </a:solidFill>
          <a:ln w="9525" cmpd="sng">
            <a:solidFill>
              <a:srgbClr val="E8DCF0"/>
            </a:solidFill>
            <a:prstDash val="solid"/>
          </a:ln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5332962" y="1036320"/>
            <a:ext cx="982113" cy="5133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600" b="1" spc="-180">
                <a:solidFill>
                  <a:srgbClr val="D650C7">
                    <a:alpha val="50001"/>
                  </a:srgbClr>
                </a:solidFill>
                <a:latin typeface="MiSans Normal" panose="00000500000000000000" charset="-122"/>
                <a:ea typeface="MiSans Normal" panose="00000500000000000000" charset="-122"/>
              </a:rPr>
              <a:t>02</a:t>
            </a:r>
            <a:endParaRPr sz="3600" b="1" spc="-180">
              <a:solidFill>
                <a:srgbClr val="D650C7">
                  <a:alpha val="50001"/>
                </a:srgb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6"/>
            </p:custDataLst>
          </p:nvPr>
        </p:nvSpPr>
        <p:spPr>
          <a:xfrm>
            <a:off x="6214745" y="1109345"/>
            <a:ext cx="2581275" cy="5362575"/>
          </a:xfrm>
          <a:custGeom>
            <a:avLst/>
            <a:gdLst>
              <a:gd name="sw" fmla="*/ 1 w 4065"/>
              <a:gd name="sh" fmla="*/ 1 h 8445"/>
              <a:gd name="mins" fmla="min sw sh"/>
              <a:gd name="dsw" fmla="+- 0 sw mins"/>
              <a:gd name="dsh" fmla="+- 0 sh mins"/>
              <a:gd name="p0x0" fmla="*/ 240 w 4065"/>
              <a:gd name="p0y0" fmla="*/ 0 h 8445"/>
              <a:gd name="p0x1" fmla="*/ 3825 w 4065"/>
              <a:gd name="p0y1" fmla="*/ 0 h 8445"/>
              <a:gd name="p0x2" fmla="*/ 3957 w 4065"/>
              <a:gd name="p0y2" fmla="*/ 0 h 8445"/>
              <a:gd name="p0x3" fmla="*/ 4065 w 4065"/>
              <a:gd name="p0y3" fmla="*/ 107 h 8445"/>
              <a:gd name="p0x4" fmla="*/ 4065 w 4065"/>
              <a:gd name="p0y4" fmla="*/ 240 h 8445"/>
              <a:gd name="p0x5" fmla="*/ 4065 w 4065"/>
              <a:gd name="p0y5" fmla="*/ 8205 h 8445"/>
              <a:gd name="p0x6" fmla="*/ 4065 w 4065"/>
              <a:gd name="p0y6" fmla="*/ 8337 h 8445"/>
              <a:gd name="p0x7" fmla="*/ 3957 w 4065"/>
              <a:gd name="p0y7" fmla="*/ 8445 h 8445"/>
              <a:gd name="p0x8" fmla="*/ 3825 w 4065"/>
              <a:gd name="p0y8" fmla="*/ 8445 h 8445"/>
              <a:gd name="p0x9" fmla="*/ 240 w 4065"/>
              <a:gd name="p0y9" fmla="*/ 8445 h 8445"/>
              <a:gd name="p0x10" fmla="*/ 107 w 4065"/>
              <a:gd name="p0y10" fmla="*/ 8445 h 8445"/>
              <a:gd name="p0x11" fmla="*/ 0 w 4065"/>
              <a:gd name="p0y11" fmla="*/ 8337 h 8445"/>
              <a:gd name="p0x12" fmla="*/ 0 w 4065"/>
              <a:gd name="p0y12" fmla="*/ 8205 h 8445"/>
              <a:gd name="p0x13" fmla="*/ 0 w 4065"/>
              <a:gd name="p0y13" fmla="*/ 240 h 8445"/>
              <a:gd name="p0x14" fmla="*/ 0 w 4065"/>
              <a:gd name="p0y14" fmla="*/ 107 h 8445"/>
              <a:gd name="p0x15" fmla="*/ 107 w 4065"/>
              <a:gd name="p0y15" fmla="*/ 0 h 8445"/>
              <a:gd name="p0x16" fmla="*/ 240 w 406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7FF"/>
          </a:solidFill>
          <a:ln w="9525" cmpd="sng">
            <a:solidFill>
              <a:srgbClr val="E8DCF0"/>
            </a:solidFill>
            <a:prstDash val="solid"/>
          </a:ln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8152362" y="1036320"/>
            <a:ext cx="982113" cy="5133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600" b="1" spc="-180">
                <a:solidFill>
                  <a:srgbClr val="D650C7">
                    <a:alpha val="50001"/>
                  </a:srgbClr>
                </a:solidFill>
                <a:latin typeface="MiSans Normal" panose="00000500000000000000" charset="-122"/>
                <a:ea typeface="MiSans Normal" panose="00000500000000000000" charset="-122"/>
              </a:rPr>
              <a:t>03</a:t>
            </a:r>
            <a:endParaRPr sz="3600" b="1" spc="-180">
              <a:solidFill>
                <a:srgbClr val="D650C7">
                  <a:alpha val="50001"/>
                </a:srgb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8"/>
            </p:custDataLst>
          </p:nvPr>
        </p:nvSpPr>
        <p:spPr>
          <a:xfrm>
            <a:off x="9034145" y="1109345"/>
            <a:ext cx="2581275" cy="5362575"/>
          </a:xfrm>
          <a:custGeom>
            <a:avLst/>
            <a:gdLst>
              <a:gd name="sw" fmla="*/ 1 w 4065"/>
              <a:gd name="sh" fmla="*/ 1 h 8445"/>
              <a:gd name="mins" fmla="min sw sh"/>
              <a:gd name="dsw" fmla="+- 0 sw mins"/>
              <a:gd name="dsh" fmla="+- 0 sh mins"/>
              <a:gd name="p0x0" fmla="*/ 240 w 4065"/>
              <a:gd name="p0y0" fmla="*/ 0 h 8445"/>
              <a:gd name="p0x1" fmla="*/ 3825 w 4065"/>
              <a:gd name="p0y1" fmla="*/ 0 h 8445"/>
              <a:gd name="p0x2" fmla="*/ 3957 w 4065"/>
              <a:gd name="p0y2" fmla="*/ 0 h 8445"/>
              <a:gd name="p0x3" fmla="*/ 4065 w 4065"/>
              <a:gd name="p0y3" fmla="*/ 107 h 8445"/>
              <a:gd name="p0x4" fmla="*/ 4065 w 4065"/>
              <a:gd name="p0y4" fmla="*/ 240 h 8445"/>
              <a:gd name="p0x5" fmla="*/ 4065 w 4065"/>
              <a:gd name="p0y5" fmla="*/ 8205 h 8445"/>
              <a:gd name="p0x6" fmla="*/ 4065 w 4065"/>
              <a:gd name="p0y6" fmla="*/ 8337 h 8445"/>
              <a:gd name="p0x7" fmla="*/ 3957 w 4065"/>
              <a:gd name="p0y7" fmla="*/ 8445 h 8445"/>
              <a:gd name="p0x8" fmla="*/ 3825 w 4065"/>
              <a:gd name="p0y8" fmla="*/ 8445 h 8445"/>
              <a:gd name="p0x9" fmla="*/ 240 w 4065"/>
              <a:gd name="p0y9" fmla="*/ 8445 h 8445"/>
              <a:gd name="p0x10" fmla="*/ 107 w 4065"/>
              <a:gd name="p0y10" fmla="*/ 8445 h 8445"/>
              <a:gd name="p0x11" fmla="*/ 0 w 4065"/>
              <a:gd name="p0y11" fmla="*/ 8337 h 8445"/>
              <a:gd name="p0x12" fmla="*/ 0 w 4065"/>
              <a:gd name="p0y12" fmla="*/ 8205 h 8445"/>
              <a:gd name="p0x13" fmla="*/ 0 w 4065"/>
              <a:gd name="p0y13" fmla="*/ 240 h 8445"/>
              <a:gd name="p0x14" fmla="*/ 0 w 4065"/>
              <a:gd name="p0y14" fmla="*/ 107 h 8445"/>
              <a:gd name="p0x15" fmla="*/ 107 w 4065"/>
              <a:gd name="p0y15" fmla="*/ 0 h 8445"/>
              <a:gd name="p0x16" fmla="*/ 240 w 406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9F7FF"/>
          </a:solidFill>
          <a:ln w="9525" cmpd="sng">
            <a:solidFill>
              <a:srgbClr val="E8DCF0"/>
            </a:solidFill>
            <a:prstDash val="solid"/>
          </a:ln>
          <a:effectLst>
            <a:outerShdw blurRad="114300" dist="19050" dir="5399999" algn="ctr" rotWithShape="0">
              <a:srgbClr val="7A5C99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9"/>
            </p:custDataLst>
          </p:nvPr>
        </p:nvSpPr>
        <p:spPr>
          <a:xfrm>
            <a:off x="10971762" y="1036320"/>
            <a:ext cx="982113" cy="5133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600" b="1" spc="-180">
                <a:solidFill>
                  <a:srgbClr val="D650C7">
                    <a:alpha val="50001"/>
                  </a:srgbClr>
                </a:solidFill>
                <a:latin typeface="MiSans Normal" panose="00000500000000000000" charset="-122"/>
                <a:ea typeface="MiSans Normal" panose="00000500000000000000" charset="-122"/>
              </a:rPr>
              <a:t>04</a:t>
            </a:r>
            <a:endParaRPr sz="3600" b="1" spc="-180">
              <a:solidFill>
                <a:srgbClr val="D650C7">
                  <a:alpha val="50001"/>
                </a:srgbClr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10"/>
            </p:custDataLst>
          </p:nvPr>
        </p:nvSpPr>
        <p:spPr>
          <a:xfrm>
            <a:off x="771525" y="2998470"/>
            <a:ext cx="18859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赛季玩法</a:t>
            </a:r>
            <a:endParaRPr sz="2100" b="1" spc="42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11"/>
            </p:custDataLst>
          </p:nvPr>
        </p:nvSpPr>
        <p:spPr>
          <a:xfrm>
            <a:off x="771525" y="3447097"/>
            <a:ext cx="1886026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</a:rPr>
              <a:t>周期性内容更新</a:t>
            </a:r>
            <a:endParaRPr sz="1350">
              <a:solidFill>
                <a:srgbClr val="5A4A6D"/>
              </a:solidFill>
              <a:latin typeface="MiSans Normal" panose="00000500000000000000" charset="-122"/>
              <a:ea typeface="MiSans Normal" panose="00000500000000000000" charset="-122"/>
            </a:endParaRPr>
          </a:p>
          <a:p>
            <a:pPr algn="l">
              <a:lnSpc>
                <a:spcPct val="133000"/>
              </a:lnSpc>
            </a:pPr>
            <a:r>
              <a:rPr sz="135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</a:rPr>
              <a:t>提高长期目标，缓解后期重复感</a:t>
            </a:r>
            <a:endParaRPr sz="1350">
              <a:solidFill>
                <a:srgbClr val="5A4A6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2"/>
            </p:custDataLst>
          </p:nvPr>
        </p:nvSpPr>
        <p:spPr>
          <a:xfrm>
            <a:off x="3590925" y="2998470"/>
            <a:ext cx="18859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</a:rPr>
              <a:t>回归活动</a:t>
            </a:r>
            <a:endParaRPr sz="2100" b="1" spc="42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3"/>
            </p:custDataLst>
          </p:nvPr>
        </p:nvSpPr>
        <p:spPr>
          <a:xfrm>
            <a:off x="3590925" y="3447097"/>
            <a:ext cx="1886026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</a:rPr>
              <a:t>沉默用户专属激励</a:t>
            </a:r>
            <a:endParaRPr sz="1350">
              <a:solidFill>
                <a:srgbClr val="5A4A6D"/>
              </a:solidFill>
              <a:latin typeface="MiSans Normal" panose="00000500000000000000" charset="-122"/>
              <a:ea typeface="MiSans Normal" panose="00000500000000000000" charset="-122"/>
            </a:endParaRPr>
          </a:p>
          <a:p>
            <a:pPr algn="l">
              <a:lnSpc>
                <a:spcPct val="133000"/>
              </a:lnSpc>
            </a:pPr>
            <a:r>
              <a:rPr sz="135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</a:rPr>
              <a:t>降低流失率，激活回流转化</a:t>
            </a:r>
            <a:endParaRPr sz="1350">
              <a:solidFill>
                <a:srgbClr val="5A4A6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6410325" y="2998470"/>
            <a:ext cx="18859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 spc="42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Build</a:t>
            </a:r>
            <a:r>
              <a:rPr lang="zh-CN" sz="2100" b="1" spc="42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推荐</a:t>
            </a:r>
            <a:endParaRPr lang="zh-CN" sz="2100" b="1" spc="42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6410325" y="3447097"/>
            <a:ext cx="1886026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</a:rPr>
              <a:t>新手配装智能引导</a:t>
            </a:r>
            <a:endParaRPr sz="1350">
              <a:solidFill>
                <a:srgbClr val="5A4A6D"/>
              </a:solidFill>
              <a:latin typeface="MiSans Normal" panose="00000500000000000000" charset="-122"/>
              <a:ea typeface="MiSans Normal" panose="00000500000000000000" charset="-122"/>
            </a:endParaRPr>
          </a:p>
          <a:p>
            <a:pPr algn="l">
              <a:lnSpc>
                <a:spcPct val="133000"/>
              </a:lnSpc>
            </a:pPr>
            <a:r>
              <a:rPr sz="135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</a:rPr>
              <a:t>降低理解成本，提升前期留存</a:t>
            </a:r>
            <a:endParaRPr sz="1350">
              <a:solidFill>
                <a:srgbClr val="5A4A6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6"/>
            </p:custDataLst>
          </p:nvPr>
        </p:nvSpPr>
        <p:spPr>
          <a:xfrm>
            <a:off x="9229725" y="2998470"/>
            <a:ext cx="18859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 spc="42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UGC</a:t>
            </a:r>
            <a:r>
              <a:rPr lang="zh-CN" sz="2100" b="1" spc="42">
                <a:solidFill>
                  <a:srgbClr val="2C1B3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社区</a:t>
            </a:r>
            <a:endParaRPr lang="zh-CN" sz="2100" b="1" spc="42">
              <a:solidFill>
                <a:srgbClr val="2C1B3D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7"/>
            </p:custDataLst>
          </p:nvPr>
        </p:nvSpPr>
        <p:spPr>
          <a:xfrm>
            <a:off x="9229725" y="3447097"/>
            <a:ext cx="1886026" cy="112005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攻略征集</a:t>
            </a:r>
            <a:r>
              <a:rPr lang="en-US" altLang="zh-CN" sz="135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/</a:t>
            </a:r>
            <a:r>
              <a:rPr lang="zh-CN" altLang="en-US" sz="135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速通挑战</a:t>
            </a:r>
            <a:r>
              <a:rPr lang="en-US" altLang="zh-CN" sz="135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/Build</a:t>
            </a:r>
            <a:r>
              <a:rPr lang="zh-CN" altLang="en-US" sz="135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分享</a:t>
            </a:r>
            <a:endParaRPr lang="zh-CN" altLang="en-US" sz="1350">
              <a:solidFill>
                <a:srgbClr val="5A4A6D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  <a:p>
            <a:pPr algn="l">
              <a:lnSpc>
                <a:spcPct val="133000"/>
              </a:lnSpc>
            </a:pPr>
            <a:r>
              <a:rPr sz="135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</a:rPr>
              <a:t>提高社区活跃度，形成内容自循环</a:t>
            </a:r>
            <a:endParaRPr sz="1350">
              <a:solidFill>
                <a:srgbClr val="5A4A6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809625" y="1412081"/>
            <a:ext cx="480117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315">
                <a:solidFill>
                  <a:srgbClr val="D650C7"/>
                </a:solidFill>
                <a:latin typeface="MiSans Demibold" panose="00000700000000000000" charset="-122"/>
                <a:ea typeface="MiSans Demibold" panose="00000700000000000000" charset="-122"/>
              </a:rPr>
              <a:t>总结</a:t>
            </a:r>
            <a:endParaRPr sz="1050" b="1" spc="315">
              <a:solidFill>
                <a:srgbClr val="D650C7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66750" y="1784509"/>
            <a:ext cx="5132937" cy="13982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4200" b="1">
                <a:solidFill>
                  <a:srgbClr val="2C1B3D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成长反馈是放置</a:t>
            </a:r>
            <a:r>
              <a:rPr lang="en-US" altLang="zh-CN" sz="4200" b="1">
                <a:solidFill>
                  <a:srgbClr val="2C1B3D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RPG</a:t>
            </a:r>
            <a:endParaRPr lang="en-US" altLang="zh-CN" sz="4200" b="1">
              <a:solidFill>
                <a:srgbClr val="2C1B3D"/>
              </a:solidFill>
              <a:latin typeface="MiSans Demibold" panose="00000700000000000000" charset="-122"/>
              <a:ea typeface="MiSans Demibold" panose="00000700000000000000" charset="-122"/>
              <a:cs typeface="MiSans Demibold" panose="00000700000000000000" charset="-122"/>
            </a:endParaRPr>
          </a:p>
          <a:p>
            <a:pPr algn="l">
              <a:lnSpc>
                <a:spcPct val="104000"/>
              </a:lnSpc>
            </a:pPr>
            <a:r>
              <a:rPr sz="4200" b="1">
                <a:solidFill>
                  <a:srgbClr val="2C1B3D"/>
                </a:solidFill>
                <a:latin typeface="MiSans Demibold" panose="00000700000000000000" charset="-122"/>
                <a:ea typeface="MiSans Demibold" panose="00000700000000000000" charset="-122"/>
              </a:rPr>
              <a:t>最长情的告白</a:t>
            </a:r>
            <a:endParaRPr sz="4200" b="1">
              <a:solidFill>
                <a:srgbClr val="2C1B3D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666750" y="3455035"/>
            <a:ext cx="5705475" cy="9525"/>
          </a:xfrm>
          <a:prstGeom prst="rect">
            <a:avLst/>
          </a:prstGeom>
          <a:solidFill>
            <a:srgbClr val="D6C8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666750" y="3755231"/>
            <a:ext cx="3787159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</a:rPr>
              <a:t>《杖剑传说》成功的关键并非玩法创新，</a:t>
            </a:r>
            <a:endParaRPr sz="1500" spc="30">
              <a:solidFill>
                <a:srgbClr val="5A4A6D"/>
              </a:solidFill>
              <a:latin typeface="MiSans Normal" panose="00000500000000000000" charset="-122"/>
              <a:ea typeface="MiSans Normal" panose="00000500000000000000" charset="-122"/>
            </a:endParaRPr>
          </a:p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</a:rPr>
              <a:t>而是围绕成长反馈构建了完整的玩法循环。</a:t>
            </a:r>
            <a:endParaRPr sz="1500" spc="30">
              <a:solidFill>
                <a:srgbClr val="5A4A6D"/>
              </a:solidFill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666750" y="4593431"/>
            <a:ext cx="900403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spc="3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产品通过挂机、养成、</a:t>
            </a:r>
            <a:r>
              <a:rPr lang="en-US" altLang="zh-CN" sz="1500" spc="3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Build</a:t>
            </a:r>
            <a:r>
              <a:rPr lang="zh-CN" altLang="en-US" sz="1500" spc="3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、挑战等系统不断给予玩家明确目标和即时反馈，实现较高的用户留存。</a:t>
            </a:r>
            <a:endParaRPr lang="zh-CN" altLang="en-US" sz="1500" spc="30">
              <a:solidFill>
                <a:srgbClr val="5A4A6D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666750" y="5126831"/>
            <a:ext cx="10063762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spc="3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如果未来进一步强化长线内容、社交互动和社区运营，有望进一步提升用户生命周期价值（</a:t>
            </a:r>
            <a:r>
              <a:rPr lang="en-US" altLang="zh-CN" sz="1500" spc="3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LTV</a:t>
            </a:r>
            <a:r>
              <a:rPr lang="zh-CN" altLang="en-US" sz="1500" spc="30">
                <a:solidFill>
                  <a:srgbClr val="5A4A6D"/>
                </a:solidFill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  <a:t>）和产品竞争力。</a:t>
            </a:r>
            <a:endParaRPr lang="zh-CN" altLang="en-US" sz="1500" spc="30">
              <a:solidFill>
                <a:srgbClr val="5A4A6D"/>
              </a:solidFill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3" name="矩形 2"/>
          <p:cNvSpPr/>
          <p:nvPr>
            <p:custDataLst>
              <p:tags r:id="rId7"/>
            </p:custDataLst>
          </p:nvPr>
        </p:nvSpPr>
        <p:spPr>
          <a:xfrm rot="2700000">
            <a:off x="666115" y="1476375"/>
            <a:ext cx="48260" cy="47625"/>
          </a:xfrm>
          <a:prstGeom prst="rect">
            <a:avLst/>
          </a:prstGeom>
          <a:solidFill>
            <a:srgbClr val="D650C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8"/>
            </p:custDataLst>
          </p:nvPr>
        </p:nvSpPr>
        <p:spPr>
          <a:xfrm>
            <a:off x="1251585" y="1495425"/>
            <a:ext cx="228600" cy="9525"/>
          </a:xfrm>
          <a:prstGeom prst="rect">
            <a:avLst/>
          </a:prstGeom>
          <a:solidFill>
            <a:srgbClr val="D650C7">
              <a:alpha val="50001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tags/tag1.xml><?xml version="1.0" encoding="utf-8"?>
<p:tagLst xmlns:p="http://schemas.openxmlformats.org/presentationml/2006/main">
  <p:tag name="KSO_WM_TEMPLATE_SUBCATEGORY" val="31"/>
  <p:tag name="KSO_WM_BEAUTIFY_FLAG" val="#wm#"/>
  <p:tag name="KSO_WM_TAG_VERSION" val="3.0"/>
</p:tagLst>
</file>

<file path=ppt/tags/tag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3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1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8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1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3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7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1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8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3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2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4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6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4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2.xml><?xml version="1.0" encoding="utf-8"?>
<p:tagLst xmlns:p="http://schemas.openxmlformats.org/presentationml/2006/main">
  <p:tag name="KSO_WM_UNIT_TYPE" val="d"/>
  <p:tag name="KSO_WM_UNIT_INDEX" val="4"/>
  <p:tag name="KSO_WM_BEAUTIFY_FLAG" val="#wm#"/>
  <p:tag name="KSO_WM_TAG_VERSION" val="3.0"/>
</p:tagLst>
</file>

<file path=ppt/tags/tag5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4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56.xml><?xml version="1.0" encoding="utf-8"?>
<p:tagLst xmlns:p="http://schemas.openxmlformats.org/presentationml/2006/main">
  <p:tag name="KSO_WM_UNIT_TYPE" val="d"/>
  <p:tag name="KSO_WM_UNIT_INDEX" val="5"/>
  <p:tag name="KSO_WM_BEAUTIFY_FLAG" val="#wm#"/>
  <p:tag name="KSO_WM_TAG_VERSION" val="3.0"/>
</p:tagLst>
</file>

<file path=ppt/tags/tag5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8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5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60.xml><?xml version="1.0" encoding="utf-8"?>
<p:tagLst xmlns:p="http://schemas.openxmlformats.org/presentationml/2006/main">
  <p:tag name="KSO_WM_UNIT_TYPE" val="d"/>
  <p:tag name="KSO_WM_UNIT_INDEX" val="6"/>
  <p:tag name="KSO_WM_BEAUTIFY_FLAG" val="#wm#"/>
  <p:tag name="KSO_WM_TAG_VERSION" val="3.0"/>
</p:tagLst>
</file>

<file path=ppt/tags/tag61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62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63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64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6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6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8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</p:tagLst>
</file>

<file path=ppt/tags/tag6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70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7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72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</p:tagLst>
</file>

<file path=ppt/tags/tag7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7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7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76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</p:tagLst>
</file>

<file path=ppt/tags/tag7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78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7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8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8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82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</p:tagLst>
</file>

<file path=ppt/tags/tag83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84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</p:tagLst>
</file>

<file path=ppt/tags/tag85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86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</p:tagLst>
</file>

<file path=ppt/tags/tag8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8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89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</p:tagLst>
</file>

<file path=ppt/tags/tag9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9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92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93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</p:tagLst>
</file>

<file path=ppt/tags/tag94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95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</p:tagLst>
</file>

<file path=ppt/tags/tag96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9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9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99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</p:tagLst>
</file>

<file path=ppt/tags/tag100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101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</p:tagLst>
</file>

<file path=ppt/tags/tag102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103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</p:tagLst>
</file>

<file path=ppt/tags/tag104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05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06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107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</p:tagLst>
</file>

<file path=ppt/tags/tag108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109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</p:tagLst>
</file>

<file path=ppt/tags/tag110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11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12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13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</p:tagLst>
</file>

<file path=ppt/tags/tag114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115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</p:tagLst>
</file>

<file path=ppt/tags/tag116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117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</p:tagLst>
</file>

<file path=ppt/tags/tag118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19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20.xml><?xml version="1.0" encoding="utf-8"?>
<p:tagLst xmlns:p="http://schemas.openxmlformats.org/presentationml/2006/main">
  <p:tag name="KSO_WM_UNIT_TYPE" val="i"/>
  <p:tag name="KSO_WM_UNIT_INDEX" val="59"/>
  <p:tag name="KSO_WM_BEAUTIFY_FLAG" val="#wm#"/>
  <p:tag name="KSO_WM_TAG_VERSION" val="3.0"/>
</p:tagLst>
</file>

<file path=ppt/tags/tag121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22.xml><?xml version="1.0" encoding="utf-8"?>
<p:tagLst xmlns:p="http://schemas.openxmlformats.org/presentationml/2006/main">
  <p:tag name="KSO_WM_UNIT_TYPE" val="i"/>
  <p:tag name="KSO_WM_UNIT_INDEX" val="57"/>
  <p:tag name="KSO_WM_BEAUTIFY_FLAG" val="#wm#"/>
  <p:tag name="KSO_WM_TAG_VERSION" val="3.0"/>
</p:tagLst>
</file>

<file path=ppt/tags/tag123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2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2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2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2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2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29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13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3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3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3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34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13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3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3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3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39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140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4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4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43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44.xml><?xml version="1.0" encoding="utf-8"?>
<p:tagLst xmlns:p="http://schemas.openxmlformats.org/presentationml/2006/main">
  <p:tag name="KSO_WM_UNIT_TYPE" val="d"/>
  <p:tag name="KSO_WM_UNIT_INDEX" val="4"/>
  <p:tag name="KSO_WM_BEAUTIFY_FLAG" val="#wm#"/>
  <p:tag name="KSO_WM_TAG_VERSION" val="3.0"/>
</p:tagLst>
</file>

<file path=ppt/tags/tag14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4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4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4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49.xml><?xml version="1.0" encoding="utf-8"?>
<p:tagLst xmlns:p="http://schemas.openxmlformats.org/presentationml/2006/main">
  <p:tag name="KSO_WM_UNIT_TYPE" val="d"/>
  <p:tag name="KSO_WM_UNIT_INDEX" val="5"/>
  <p:tag name="KSO_WM_BEAUTIFY_FLAG" val="#wm#"/>
  <p:tag name="KSO_WM_TAG_VERSION" val="3.0"/>
</p:tagLst>
</file>

<file path=ppt/tags/tag15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5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5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53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54.xml><?xml version="1.0" encoding="utf-8"?>
<p:tagLst xmlns:p="http://schemas.openxmlformats.org/presentationml/2006/main">
  <p:tag name="KSO_WM_UNIT_TYPE" val="d"/>
  <p:tag name="KSO_WM_UNIT_INDEX" val="6"/>
  <p:tag name="KSO_WM_BEAUTIFY_FLAG" val="#wm#"/>
  <p:tag name="KSO_WM_TAG_VERSION" val="3.0"/>
</p:tagLst>
</file>

<file path=ppt/tags/tag15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5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5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5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5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6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6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6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6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6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6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6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6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6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6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7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7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7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7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7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7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7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7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7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7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8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81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18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8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8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8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8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8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8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8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90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19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9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9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9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95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9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9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9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99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20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0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0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03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04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05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06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207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208.xml><?xml version="1.0" encoding="utf-8"?>
<p:tagLst xmlns:p="http://schemas.openxmlformats.org/presentationml/2006/main">
  <p:tag name="KSO_WM_UNIT_TYPE" val="d"/>
  <p:tag name="KSO_WM_UNIT_INDEX" val="4"/>
  <p:tag name="KSO_WM_BEAUTIFY_FLAG" val="#wm#"/>
  <p:tag name="KSO_WM_TAG_VERSION" val="3.0"/>
</p:tagLst>
</file>

<file path=ppt/tags/tag209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10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11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212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13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214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21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1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1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1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19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2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2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2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2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2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25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2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2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2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2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30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23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3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33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23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3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36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23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38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39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4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41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242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4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44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24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4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4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4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49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25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51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252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253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5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5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5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5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5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5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6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6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62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6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6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6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6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6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6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69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70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7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7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27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7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7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7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7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7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heme/theme1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">
      <a:majorFont>
        <a:latin typeface="MiSans Demibold"/>
        <a:ea typeface="MiSans Demibold"/>
        <a:cs typeface=""/>
      </a:majorFont>
      <a:minorFont>
        <a:latin typeface="MiSans Normal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1359</Words>
  <Application>WPS Office WWO_wpscloud_20260708170905-59d7d5dabd</Application>
  <PresentationFormat>宽屏</PresentationFormat>
  <Paragraphs>287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宋体</vt:lpstr>
      <vt:lpstr>Wingdings</vt:lpstr>
      <vt:lpstr>MiSans Demibold</vt:lpstr>
      <vt:lpstr>MiSans Normal</vt:lpstr>
      <vt:lpstr>微软雅黑</vt:lpstr>
      <vt:lpstr>汉仪旗黑KW 55S</vt:lpstr>
      <vt:lpstr>汉仪书宋二KW</vt:lpstr>
      <vt:lpstr>Kingsoft Confetti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 </cp:lastModifiedBy>
  <dcterms:created xsi:type="dcterms:W3CDTF">2026-07-22T06:51:49Z</dcterms:created>
  <dcterms:modified xsi:type="dcterms:W3CDTF">2026-07-22T06:51:49Z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2052-12.9.0.27576</vt:lpwstr>
  </property>
  <property fmtid="{D5CDD505-2E9C-101B-9397-08002B2CF9AE}" pid="3" name="ICV">
    <vt:lpwstr>CB583FADBA72257CE465606A80829603_41</vt:lpwstr>
  </property>
  <property fmtid="{D5CDD505-2E9C-101B-9397-08002B2CF9AE}" pid="4" name="KSOAIPPTCode">
    <vt:lpwstr>CF/c/kakCZiyaiuqmC6iSD26dMqMwtUGE3mKWPZahof5yaYFfBB98xhLhIbgvsgZqsqfBStadeGAj4MyaVFs6tJ75g2V43ytwonYluFIwXMsy/MMjv3o73jKoUqHzq/mZpXRJHUfxJyBTaantU6hqMrlpBP+PUVpgvKbWzqkzvwpGFKq2YnnnjTg9QhCi4h2oSr/65wySBstnSNaECfl+i3w7o7J52Ywb629uvY4ingY1IvjyU6qdTQ8BnAqtmT7kyowp5rNZHClPBApDsgkqeEzEIE10u0rsfHyruv11A1kSto9YBzvDBy13Td+D1EiVkzCTa24Hn+lLVan5S+MUg==</vt:lpwstr>
  </property>
</Properties>
</file>