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  <p:sldId id="277" r:id="rId13"/>
    <p:sldId id="268" r:id="rId14"/>
    <p:sldId id="270" r:id="rId15"/>
    <p:sldId id="272" r:id="rId16"/>
    <p:sldId id="273" r:id="rId17"/>
    <p:sldId id="274" r:id="rId18"/>
    <p:sldId id="275" r:id="rId19"/>
    <p:sldId id="276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57.xml"/><Relationship Id="rId2" Type="http://schemas.openxmlformats.org/officeDocument/2006/relationships/tags" Target="../tags/tag39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78.xml"/><Relationship Id="rId26" Type="http://schemas.openxmlformats.org/officeDocument/2006/relationships/tags" Target="../tags/tag77.xml"/><Relationship Id="rId25" Type="http://schemas.openxmlformats.org/officeDocument/2006/relationships/tags" Target="../tags/tag76.xml"/><Relationship Id="rId24" Type="http://schemas.openxmlformats.org/officeDocument/2006/relationships/image" Target="../media/image10.svg"/><Relationship Id="rId23" Type="http://schemas.openxmlformats.org/officeDocument/2006/relationships/image" Target="../media/image9.png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9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7.png"/><Relationship Id="rId23" Type="http://schemas.openxmlformats.org/officeDocument/2006/relationships/tags" Target="../tags/tag102.xml"/><Relationship Id="rId22" Type="http://schemas.openxmlformats.org/officeDocument/2006/relationships/image" Target="../media/image16.svg"/><Relationship Id="rId21" Type="http://schemas.openxmlformats.org/officeDocument/2006/relationships/image" Target="../media/image15.png"/><Relationship Id="rId20" Type="http://schemas.openxmlformats.org/officeDocument/2006/relationships/tags" Target="../tags/tag101.xml"/><Relationship Id="rId2" Type="http://schemas.openxmlformats.org/officeDocument/2006/relationships/tags" Target="../tags/tag87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image" Target="../media/image14.svg"/><Relationship Id="rId14" Type="http://schemas.openxmlformats.org/officeDocument/2006/relationships/image" Target="../media/image13.png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24.png"/><Relationship Id="rId25" Type="http://schemas.openxmlformats.org/officeDocument/2006/relationships/tags" Target="../tags/tag121.xml"/><Relationship Id="rId24" Type="http://schemas.openxmlformats.org/officeDocument/2006/relationships/tags" Target="../tags/tag120.xml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tags" Target="../tags/tag119.xml"/><Relationship Id="rId20" Type="http://schemas.openxmlformats.org/officeDocument/2006/relationships/tags" Target="../tags/tag118.xml"/><Relationship Id="rId2" Type="http://schemas.openxmlformats.org/officeDocument/2006/relationships/tags" Target="../tags/tag104.xml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image" Target="../media/image21.svg"/><Relationship Id="rId16" Type="http://schemas.openxmlformats.org/officeDocument/2006/relationships/image" Target="../media/image20.png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image" Target="../media/image19.svg"/><Relationship Id="rId10" Type="http://schemas.openxmlformats.org/officeDocument/2006/relationships/image" Target="../media/image18.png"/><Relationship Id="rId1" Type="http://schemas.openxmlformats.org/officeDocument/2006/relationships/tags" Target="../tags/tag10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40.xml"/><Relationship Id="rId2" Type="http://schemas.openxmlformats.org/officeDocument/2006/relationships/tags" Target="../tags/tag123.xml"/><Relationship Id="rId19" Type="http://schemas.openxmlformats.org/officeDocument/2006/relationships/image" Target="../media/image25.png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57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image" Target="../media/image26.png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image" Target="../media/image27.png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201.xml"/><Relationship Id="rId36" Type="http://schemas.openxmlformats.org/officeDocument/2006/relationships/tags" Target="../tags/tag200.xml"/><Relationship Id="rId35" Type="http://schemas.openxmlformats.org/officeDocument/2006/relationships/tags" Target="../tags/tag199.xml"/><Relationship Id="rId34" Type="http://schemas.openxmlformats.org/officeDocument/2006/relationships/tags" Target="../tags/tag198.xml"/><Relationship Id="rId33" Type="http://schemas.openxmlformats.org/officeDocument/2006/relationships/image" Target="../media/image37.svg"/><Relationship Id="rId32" Type="http://schemas.openxmlformats.org/officeDocument/2006/relationships/image" Target="../media/image36.png"/><Relationship Id="rId31" Type="http://schemas.openxmlformats.org/officeDocument/2006/relationships/tags" Target="../tags/tag197.xml"/><Relationship Id="rId30" Type="http://schemas.openxmlformats.org/officeDocument/2006/relationships/tags" Target="../tags/tag196.xml"/><Relationship Id="rId3" Type="http://schemas.openxmlformats.org/officeDocument/2006/relationships/tags" Target="../tags/tag177.xml"/><Relationship Id="rId29" Type="http://schemas.openxmlformats.org/officeDocument/2006/relationships/tags" Target="../tags/tag195.xml"/><Relationship Id="rId28" Type="http://schemas.openxmlformats.org/officeDocument/2006/relationships/tags" Target="../tags/tag194.xml"/><Relationship Id="rId27" Type="http://schemas.openxmlformats.org/officeDocument/2006/relationships/image" Target="../media/image35.svg"/><Relationship Id="rId26" Type="http://schemas.openxmlformats.org/officeDocument/2006/relationships/image" Target="../media/image34.png"/><Relationship Id="rId25" Type="http://schemas.openxmlformats.org/officeDocument/2006/relationships/tags" Target="../tags/tag193.xml"/><Relationship Id="rId24" Type="http://schemas.openxmlformats.org/officeDocument/2006/relationships/tags" Target="../tags/tag192.xml"/><Relationship Id="rId23" Type="http://schemas.openxmlformats.org/officeDocument/2006/relationships/tags" Target="../tags/tag191.xml"/><Relationship Id="rId22" Type="http://schemas.openxmlformats.org/officeDocument/2006/relationships/tags" Target="../tags/tag190.xml"/><Relationship Id="rId21" Type="http://schemas.openxmlformats.org/officeDocument/2006/relationships/image" Target="../media/image33.svg"/><Relationship Id="rId20" Type="http://schemas.openxmlformats.org/officeDocument/2006/relationships/image" Target="../media/image32.png"/><Relationship Id="rId2" Type="http://schemas.openxmlformats.org/officeDocument/2006/relationships/tags" Target="../tags/tag176.xml"/><Relationship Id="rId19" Type="http://schemas.openxmlformats.org/officeDocument/2006/relationships/tags" Target="../tags/tag189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211.xml"/><Relationship Id="rId29" Type="http://schemas.openxmlformats.org/officeDocument/2006/relationships/tags" Target="../tags/tag229.xml"/><Relationship Id="rId28" Type="http://schemas.openxmlformats.org/officeDocument/2006/relationships/tags" Target="../tags/tag228.xml"/><Relationship Id="rId27" Type="http://schemas.openxmlformats.org/officeDocument/2006/relationships/image" Target="../media/image45.svg"/><Relationship Id="rId26" Type="http://schemas.openxmlformats.org/officeDocument/2006/relationships/image" Target="../media/image44.png"/><Relationship Id="rId25" Type="http://schemas.openxmlformats.org/officeDocument/2006/relationships/tags" Target="../tags/tag227.xml"/><Relationship Id="rId24" Type="http://schemas.openxmlformats.org/officeDocument/2006/relationships/tags" Target="../tags/tag226.xml"/><Relationship Id="rId23" Type="http://schemas.openxmlformats.org/officeDocument/2006/relationships/tags" Target="../tags/tag225.xml"/><Relationship Id="rId22" Type="http://schemas.openxmlformats.org/officeDocument/2006/relationships/tags" Target="../tags/tag224.xml"/><Relationship Id="rId21" Type="http://schemas.openxmlformats.org/officeDocument/2006/relationships/image" Target="../media/image43.svg"/><Relationship Id="rId20" Type="http://schemas.openxmlformats.org/officeDocument/2006/relationships/image" Target="../media/image42.png"/><Relationship Id="rId2" Type="http://schemas.openxmlformats.org/officeDocument/2006/relationships/tags" Target="../tags/tag210.xml"/><Relationship Id="rId19" Type="http://schemas.openxmlformats.org/officeDocument/2006/relationships/tags" Target="../tags/tag223.xml"/><Relationship Id="rId18" Type="http://schemas.openxmlformats.org/officeDocument/2006/relationships/tags" Target="../tags/tag222.xml"/><Relationship Id="rId17" Type="http://schemas.openxmlformats.org/officeDocument/2006/relationships/tags" Target="../tags/tag221.xml"/><Relationship Id="rId16" Type="http://schemas.openxmlformats.org/officeDocument/2006/relationships/tags" Target="../tags/tag220.xml"/><Relationship Id="rId15" Type="http://schemas.openxmlformats.org/officeDocument/2006/relationships/image" Target="../media/image41.svg"/><Relationship Id="rId14" Type="http://schemas.openxmlformats.org/officeDocument/2006/relationships/image" Target="../media/image40.png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tags" Target="../tags/tag20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1" Type="http://schemas.openxmlformats.org/officeDocument/2006/relationships/slideLayout" Target="../slideLayouts/slideLayout7.xml"/><Relationship Id="rId40" Type="http://schemas.openxmlformats.org/officeDocument/2006/relationships/tags" Target="../tags/tag263.xml"/><Relationship Id="rId4" Type="http://schemas.openxmlformats.org/officeDocument/2006/relationships/tags" Target="../tags/tag233.xml"/><Relationship Id="rId39" Type="http://schemas.openxmlformats.org/officeDocument/2006/relationships/image" Target="../media/image51.svg"/><Relationship Id="rId38" Type="http://schemas.openxmlformats.org/officeDocument/2006/relationships/image" Target="../media/image50.png"/><Relationship Id="rId37" Type="http://schemas.openxmlformats.org/officeDocument/2006/relationships/tags" Target="../tags/tag262.xml"/><Relationship Id="rId36" Type="http://schemas.openxmlformats.org/officeDocument/2006/relationships/tags" Target="../tags/tag261.xml"/><Relationship Id="rId35" Type="http://schemas.openxmlformats.org/officeDocument/2006/relationships/tags" Target="../tags/tag260.xml"/><Relationship Id="rId34" Type="http://schemas.openxmlformats.org/officeDocument/2006/relationships/tags" Target="../tags/tag259.xml"/><Relationship Id="rId33" Type="http://schemas.openxmlformats.org/officeDocument/2006/relationships/tags" Target="../tags/tag258.xml"/><Relationship Id="rId32" Type="http://schemas.openxmlformats.org/officeDocument/2006/relationships/tags" Target="../tags/tag257.xml"/><Relationship Id="rId31" Type="http://schemas.openxmlformats.org/officeDocument/2006/relationships/tags" Target="../tags/tag256.xml"/><Relationship Id="rId30" Type="http://schemas.openxmlformats.org/officeDocument/2006/relationships/tags" Target="../tags/tag255.xml"/><Relationship Id="rId3" Type="http://schemas.openxmlformats.org/officeDocument/2006/relationships/tags" Target="../tags/tag232.xml"/><Relationship Id="rId29" Type="http://schemas.openxmlformats.org/officeDocument/2006/relationships/tags" Target="../tags/tag254.xml"/><Relationship Id="rId28" Type="http://schemas.openxmlformats.org/officeDocument/2006/relationships/tags" Target="../tags/tag253.xml"/><Relationship Id="rId27" Type="http://schemas.openxmlformats.org/officeDocument/2006/relationships/image" Target="../media/image49.svg"/><Relationship Id="rId26" Type="http://schemas.openxmlformats.org/officeDocument/2006/relationships/image" Target="../media/image48.png"/><Relationship Id="rId25" Type="http://schemas.openxmlformats.org/officeDocument/2006/relationships/tags" Target="../tags/tag252.xml"/><Relationship Id="rId24" Type="http://schemas.openxmlformats.org/officeDocument/2006/relationships/tags" Target="../tags/tag251.xml"/><Relationship Id="rId23" Type="http://schemas.openxmlformats.org/officeDocument/2006/relationships/tags" Target="../tags/tag250.xml"/><Relationship Id="rId22" Type="http://schemas.openxmlformats.org/officeDocument/2006/relationships/tags" Target="../tags/tag249.xml"/><Relationship Id="rId21" Type="http://schemas.openxmlformats.org/officeDocument/2006/relationships/tags" Target="../tags/tag248.xml"/><Relationship Id="rId20" Type="http://schemas.openxmlformats.org/officeDocument/2006/relationships/tags" Target="../tags/tag247.xml"/><Relationship Id="rId2" Type="http://schemas.openxmlformats.org/officeDocument/2006/relationships/tags" Target="../tags/tag231.xml"/><Relationship Id="rId19" Type="http://schemas.openxmlformats.org/officeDocument/2006/relationships/tags" Target="../tags/tag246.xml"/><Relationship Id="rId18" Type="http://schemas.openxmlformats.org/officeDocument/2006/relationships/tags" Target="../tags/tag245.xml"/><Relationship Id="rId17" Type="http://schemas.openxmlformats.org/officeDocument/2006/relationships/tags" Target="../tags/tag244.xml"/><Relationship Id="rId16" Type="http://schemas.openxmlformats.org/officeDocument/2006/relationships/tags" Target="../tags/tag243.xml"/><Relationship Id="rId15" Type="http://schemas.openxmlformats.org/officeDocument/2006/relationships/image" Target="../media/image47.svg"/><Relationship Id="rId14" Type="http://schemas.openxmlformats.org/officeDocument/2006/relationships/image" Target="../media/image46.png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tags" Target="../tags/tag23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72.xml"/><Relationship Id="rId8" Type="http://schemas.openxmlformats.org/officeDocument/2006/relationships/tags" Target="../tags/tag271.xml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65.xml"/><Relationship Id="rId19" Type="http://schemas.openxmlformats.org/officeDocument/2006/relationships/tags" Target="../tags/tag282.xml"/><Relationship Id="rId18" Type="http://schemas.openxmlformats.org/officeDocument/2006/relationships/tags" Target="../tags/tag281.xml"/><Relationship Id="rId17" Type="http://schemas.openxmlformats.org/officeDocument/2006/relationships/tags" Target="../tags/tag280.xml"/><Relationship Id="rId16" Type="http://schemas.openxmlformats.org/officeDocument/2006/relationships/tags" Target="../tags/tag279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tags" Target="../tags/tag273.xml"/><Relationship Id="rId1" Type="http://schemas.openxmlformats.org/officeDocument/2006/relationships/tags" Target="../tags/tag26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809625" y="1813103"/>
            <a:ext cx="1496911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63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ANALYSIS REPORT</a:t>
            </a:r>
            <a:endParaRPr sz="1050" b="1" spc="63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66750" y="2176958"/>
            <a:ext cx="5829376" cy="1796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《蔚蓝档案》</a:t>
            </a:r>
            <a:endParaRPr sz="54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sz="54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商店五图分析报告</a:t>
            </a:r>
            <a:endParaRPr sz="5400" b="1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666750" y="4146728"/>
            <a:ext cx="466159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玩法认知</a:t>
            </a:r>
            <a:r>
              <a:rPr lang="en-US" altLang="zh-CN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陪伴体验</a:t>
            </a:r>
            <a:r>
              <a:rPr lang="en-US" altLang="zh-CN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情感连接</a:t>
            </a:r>
            <a:r>
              <a:rPr lang="en-US" altLang="zh-CN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世界观建立</a:t>
            </a:r>
            <a:endParaRPr lang="zh-CN" altLang="en-US"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666750" y="4902835"/>
            <a:ext cx="304800" cy="9525"/>
          </a:xfrm>
          <a:prstGeom prst="rect">
            <a:avLst/>
          </a:prstGeom>
          <a:solidFill>
            <a:srgbClr val="F0D0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085850" y="4755375"/>
            <a:ext cx="1156316" cy="2971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8A9BA8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2026</a:t>
            </a:r>
            <a:r>
              <a:rPr lang="zh-CN" altLang="en-US" sz="1350">
                <a:solidFill>
                  <a:srgbClr val="8A9BA8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年</a:t>
            </a:r>
            <a:r>
              <a:rPr lang="en-US" altLang="zh-CN" sz="1350">
                <a:solidFill>
                  <a:srgbClr val="8A9BA8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07</a:t>
            </a:r>
            <a:r>
              <a:rPr lang="zh-CN" altLang="en-US" sz="1350">
                <a:solidFill>
                  <a:srgbClr val="8A9BA8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月</a:t>
            </a:r>
            <a:endParaRPr lang="zh-CN" altLang="en-US" sz="1350">
              <a:solidFill>
                <a:srgbClr val="8A9BA8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 rot="2700000">
            <a:off x="666115" y="1877060"/>
            <a:ext cx="47625" cy="47625"/>
          </a:xfrm>
          <a:prstGeom prst="rect">
            <a:avLst/>
          </a:pr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268220" y="1896110"/>
            <a:ext cx="228600" cy="9525"/>
          </a:xfrm>
          <a:prstGeom prst="rect">
            <a:avLst/>
          </a:prstGeom>
          <a:solidFill>
            <a:srgbClr val="FF8AB5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501015"/>
            <a:ext cx="37338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分析框架导览</a:t>
            </a:r>
            <a:endParaRPr sz="42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962400" y="857250"/>
            <a:ext cx="1905000" cy="19050"/>
          </a:xfrm>
          <a:prstGeom prst="rect">
            <a:avLst/>
          </a:pr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7845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240 w 4140"/>
              <a:gd name="p0y0" fmla="*/ 0 h 5085"/>
              <a:gd name="p0x1" fmla="*/ 3900 w 4140"/>
              <a:gd name="p0y1" fmla="*/ 0 h 5085"/>
              <a:gd name="p0x2" fmla="*/ 4032 w 4140"/>
              <a:gd name="p0y2" fmla="*/ 0 h 5085"/>
              <a:gd name="p0x3" fmla="*/ 4140 w 4140"/>
              <a:gd name="p0y3" fmla="*/ 107 h 5085"/>
              <a:gd name="p0x4" fmla="*/ 4140 w 4140"/>
              <a:gd name="p0y4" fmla="*/ 240 h 5085"/>
              <a:gd name="p0x5" fmla="*/ 4140 w 4140"/>
              <a:gd name="p0y5" fmla="*/ 4845 h 5085"/>
              <a:gd name="p0x6" fmla="*/ 4140 w 4140"/>
              <a:gd name="p0y6" fmla="*/ 4977 h 5085"/>
              <a:gd name="p0x7" fmla="*/ 4032 w 4140"/>
              <a:gd name="p0y7" fmla="*/ 5085 h 5085"/>
              <a:gd name="p0x8" fmla="*/ 3900 w 4140"/>
              <a:gd name="p0y8" fmla="*/ 5085 h 5085"/>
              <a:gd name="p0x9" fmla="*/ 240 w 4140"/>
              <a:gd name="p0y9" fmla="*/ 5085 h 5085"/>
              <a:gd name="p0x10" fmla="*/ 107 w 4140"/>
              <a:gd name="p0y10" fmla="*/ 5085 h 5085"/>
              <a:gd name="p0x11" fmla="*/ 0 w 4140"/>
              <a:gd name="p0y11" fmla="*/ 4977 h 5085"/>
              <a:gd name="p0x12" fmla="*/ 0 w 4140"/>
              <a:gd name="p0y12" fmla="*/ 4845 h 5085"/>
              <a:gd name="p0x13" fmla="*/ 0 w 4140"/>
              <a:gd name="p0y13" fmla="*/ 240 h 5085"/>
              <a:gd name="p0x14" fmla="*/ 0 w 4140"/>
              <a:gd name="p0y14" fmla="*/ 107 h 5085"/>
              <a:gd name="p0x15" fmla="*/ 107 w 4140"/>
              <a:gd name="p0y15" fmla="*/ 0 h 5085"/>
              <a:gd name="p0x16" fmla="*/ 24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D0E0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95325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3600" b="1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695325" y="3790950"/>
            <a:ext cx="2314575" cy="9525"/>
          </a:xfrm>
          <a:prstGeom prst="rect">
            <a:avLst/>
          </a:prstGeom>
          <a:solidFill>
            <a:srgbClr val="F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95325" y="3936683"/>
            <a:ext cx="23145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五图</a:t>
            </a:r>
            <a:r>
              <a:rPr sz="21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定位</a:t>
            </a:r>
            <a:endParaRPr sz="21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95325" y="4310539"/>
            <a:ext cx="231457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5A6B7A"/>
                </a:solidFill>
                <a:latin typeface="MiSans Demibold" panose="00000700000000000000" charset="-122"/>
                <a:ea typeface="MiSans Demibold" panose="00000700000000000000" charset="-122"/>
              </a:rPr>
              <a:t>分析目的、产品定位与五图角色</a:t>
            </a:r>
            <a:endParaRPr sz="1350">
              <a:solidFill>
                <a:srgbClr val="5A6B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3366770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240 w 4140"/>
              <a:gd name="p0y0" fmla="*/ 0 h 5085"/>
              <a:gd name="p0x1" fmla="*/ 3900 w 4140"/>
              <a:gd name="p0y1" fmla="*/ 0 h 5085"/>
              <a:gd name="p0x2" fmla="*/ 4032 w 4140"/>
              <a:gd name="p0y2" fmla="*/ 0 h 5085"/>
              <a:gd name="p0x3" fmla="*/ 4140 w 4140"/>
              <a:gd name="p0y3" fmla="*/ 107 h 5085"/>
              <a:gd name="p0x4" fmla="*/ 4140 w 4140"/>
              <a:gd name="p0y4" fmla="*/ 240 h 5085"/>
              <a:gd name="p0x5" fmla="*/ 4140 w 4140"/>
              <a:gd name="p0y5" fmla="*/ 4845 h 5085"/>
              <a:gd name="p0x6" fmla="*/ 4140 w 4140"/>
              <a:gd name="p0y6" fmla="*/ 4977 h 5085"/>
              <a:gd name="p0x7" fmla="*/ 4032 w 4140"/>
              <a:gd name="p0y7" fmla="*/ 5085 h 5085"/>
              <a:gd name="p0x8" fmla="*/ 3900 w 4140"/>
              <a:gd name="p0y8" fmla="*/ 5085 h 5085"/>
              <a:gd name="p0x9" fmla="*/ 240 w 4140"/>
              <a:gd name="p0y9" fmla="*/ 5085 h 5085"/>
              <a:gd name="p0x10" fmla="*/ 107 w 4140"/>
              <a:gd name="p0y10" fmla="*/ 5085 h 5085"/>
              <a:gd name="p0x11" fmla="*/ 0 w 4140"/>
              <a:gd name="p0y11" fmla="*/ 4977 h 5085"/>
              <a:gd name="p0x12" fmla="*/ 0 w 4140"/>
              <a:gd name="p0y12" fmla="*/ 4845 h 5085"/>
              <a:gd name="p0x13" fmla="*/ 0 w 4140"/>
              <a:gd name="p0y13" fmla="*/ 240 h 5085"/>
              <a:gd name="p0x14" fmla="*/ 0 w 4140"/>
              <a:gd name="p0y14" fmla="*/ 107 h 5085"/>
              <a:gd name="p0x15" fmla="*/ 107 w 4140"/>
              <a:gd name="p0y15" fmla="*/ 0 h 5085"/>
              <a:gd name="p0x16" fmla="*/ 24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D0E0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3524250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3600" b="1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3524250" y="3790950"/>
            <a:ext cx="2314575" cy="9525"/>
          </a:xfrm>
          <a:prstGeom prst="rect">
            <a:avLst/>
          </a:prstGeom>
          <a:solidFill>
            <a:srgbClr val="F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3524250" y="3936683"/>
            <a:ext cx="23145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逐图</a:t>
            </a:r>
            <a:r>
              <a:rPr sz="21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拆解</a:t>
            </a:r>
            <a:endParaRPr sz="21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3524250" y="4310539"/>
            <a:ext cx="231457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5A6B7A"/>
                </a:solidFill>
                <a:latin typeface="MiSans Demibold" panose="00000700000000000000" charset="-122"/>
                <a:ea typeface="MiSans Demibold" panose="00000700000000000000" charset="-122"/>
              </a:rPr>
              <a:t>四张图的信息设计、用户心理与卖点解析</a:t>
            </a:r>
            <a:endParaRPr sz="1350">
              <a:solidFill>
                <a:srgbClr val="5A6B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6195695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240 w 4140"/>
              <a:gd name="p0y0" fmla="*/ 0 h 5085"/>
              <a:gd name="p0x1" fmla="*/ 3900 w 4140"/>
              <a:gd name="p0y1" fmla="*/ 0 h 5085"/>
              <a:gd name="p0x2" fmla="*/ 4032 w 4140"/>
              <a:gd name="p0y2" fmla="*/ 0 h 5085"/>
              <a:gd name="p0x3" fmla="*/ 4140 w 4140"/>
              <a:gd name="p0y3" fmla="*/ 107 h 5085"/>
              <a:gd name="p0x4" fmla="*/ 4140 w 4140"/>
              <a:gd name="p0y4" fmla="*/ 240 h 5085"/>
              <a:gd name="p0x5" fmla="*/ 4140 w 4140"/>
              <a:gd name="p0y5" fmla="*/ 4845 h 5085"/>
              <a:gd name="p0x6" fmla="*/ 4140 w 4140"/>
              <a:gd name="p0y6" fmla="*/ 4977 h 5085"/>
              <a:gd name="p0x7" fmla="*/ 4032 w 4140"/>
              <a:gd name="p0y7" fmla="*/ 5085 h 5085"/>
              <a:gd name="p0x8" fmla="*/ 3900 w 4140"/>
              <a:gd name="p0y8" fmla="*/ 5085 h 5085"/>
              <a:gd name="p0x9" fmla="*/ 240 w 4140"/>
              <a:gd name="p0y9" fmla="*/ 5085 h 5085"/>
              <a:gd name="p0x10" fmla="*/ 107 w 4140"/>
              <a:gd name="p0y10" fmla="*/ 5085 h 5085"/>
              <a:gd name="p0x11" fmla="*/ 0 w 4140"/>
              <a:gd name="p0y11" fmla="*/ 4977 h 5085"/>
              <a:gd name="p0x12" fmla="*/ 0 w 4140"/>
              <a:gd name="p0y12" fmla="*/ 4845 h 5085"/>
              <a:gd name="p0x13" fmla="*/ 0 w 4140"/>
              <a:gd name="p0y13" fmla="*/ 240 h 5085"/>
              <a:gd name="p0x14" fmla="*/ 0 w 4140"/>
              <a:gd name="p0y14" fmla="*/ 107 h 5085"/>
              <a:gd name="p0x15" fmla="*/ 107 w 4140"/>
              <a:gd name="p0y15" fmla="*/ 0 h 5085"/>
              <a:gd name="p0x16" fmla="*/ 24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D0E0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6353175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3600" b="1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6353175" y="3790950"/>
            <a:ext cx="2314575" cy="9525"/>
          </a:xfrm>
          <a:prstGeom prst="rect">
            <a:avLst/>
          </a:prstGeom>
          <a:solidFill>
            <a:srgbClr val="F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6353175" y="3936683"/>
            <a:ext cx="23145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运营</a:t>
            </a:r>
            <a:r>
              <a:rPr sz="21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逻辑</a:t>
            </a:r>
            <a:endParaRPr sz="21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6353175" y="4310539"/>
            <a:ext cx="231457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5A6B7A"/>
                </a:solidFill>
                <a:latin typeface="MiSans Demibold" panose="00000700000000000000" charset="-122"/>
                <a:ea typeface="MiSans Demibold" panose="00000700000000000000" charset="-122"/>
              </a:rPr>
              <a:t>转化漏斗、设计哲学与整体策略</a:t>
            </a:r>
            <a:endParaRPr sz="1350">
              <a:solidFill>
                <a:srgbClr val="5A6B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8"/>
            </p:custDataLst>
          </p:nvPr>
        </p:nvSpPr>
        <p:spPr>
          <a:xfrm>
            <a:off x="9024620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240 w 4140"/>
              <a:gd name="p0y0" fmla="*/ 0 h 5085"/>
              <a:gd name="p0x1" fmla="*/ 3900 w 4140"/>
              <a:gd name="p0y1" fmla="*/ 0 h 5085"/>
              <a:gd name="p0x2" fmla="*/ 4032 w 4140"/>
              <a:gd name="p0y2" fmla="*/ 0 h 5085"/>
              <a:gd name="p0x3" fmla="*/ 4140 w 4140"/>
              <a:gd name="p0y3" fmla="*/ 107 h 5085"/>
              <a:gd name="p0x4" fmla="*/ 4140 w 4140"/>
              <a:gd name="p0y4" fmla="*/ 240 h 5085"/>
              <a:gd name="p0x5" fmla="*/ 4140 w 4140"/>
              <a:gd name="p0y5" fmla="*/ 4845 h 5085"/>
              <a:gd name="p0x6" fmla="*/ 4140 w 4140"/>
              <a:gd name="p0y6" fmla="*/ 4977 h 5085"/>
              <a:gd name="p0x7" fmla="*/ 4032 w 4140"/>
              <a:gd name="p0y7" fmla="*/ 5085 h 5085"/>
              <a:gd name="p0x8" fmla="*/ 3900 w 4140"/>
              <a:gd name="p0y8" fmla="*/ 5085 h 5085"/>
              <a:gd name="p0x9" fmla="*/ 240 w 4140"/>
              <a:gd name="p0y9" fmla="*/ 5085 h 5085"/>
              <a:gd name="p0x10" fmla="*/ 107 w 4140"/>
              <a:gd name="p0y10" fmla="*/ 5085 h 5085"/>
              <a:gd name="p0x11" fmla="*/ 0 w 4140"/>
              <a:gd name="p0y11" fmla="*/ 4977 h 5085"/>
              <a:gd name="p0x12" fmla="*/ 0 w 4140"/>
              <a:gd name="p0y12" fmla="*/ 4845 h 5085"/>
              <a:gd name="p0x13" fmla="*/ 0 w 4140"/>
              <a:gd name="p0y13" fmla="*/ 240 h 5085"/>
              <a:gd name="p0x14" fmla="*/ 0 w 4140"/>
              <a:gd name="p0y14" fmla="*/ 107 h 5085"/>
              <a:gd name="p0x15" fmla="*/ 107 w 4140"/>
              <a:gd name="p0y15" fmla="*/ 0 h 5085"/>
              <a:gd name="p0x16" fmla="*/ 24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D0E0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9182100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3600" b="1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5" name="矩形 24"/>
          <p:cNvSpPr/>
          <p:nvPr>
            <p:custDataLst>
              <p:tags r:id="rId20"/>
            </p:custDataLst>
          </p:nvPr>
        </p:nvSpPr>
        <p:spPr>
          <a:xfrm>
            <a:off x="9182100" y="3790950"/>
            <a:ext cx="2314575" cy="9525"/>
          </a:xfrm>
          <a:prstGeom prst="rect">
            <a:avLst/>
          </a:prstGeom>
          <a:solidFill>
            <a:srgbClr val="F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9182100" y="3936683"/>
            <a:ext cx="23145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优化</a:t>
            </a:r>
            <a:r>
              <a:rPr sz="21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启示</a:t>
            </a:r>
            <a:endParaRPr sz="21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9182100" y="4310539"/>
            <a:ext cx="231457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5A6B7A"/>
                </a:solidFill>
                <a:latin typeface="MiSans Demibold" panose="00000700000000000000" charset="-122"/>
                <a:ea typeface="MiSans Demibold" panose="00000700000000000000" charset="-122"/>
              </a:rPr>
              <a:t>优点总结、改进建议与行业借鉴</a:t>
            </a:r>
            <a:endParaRPr sz="1350">
              <a:solidFill>
                <a:srgbClr val="5A6B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809625" y="30980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66750" y="3470434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五图定位</a:t>
            </a:r>
            <a:endParaRPr sz="42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66750" y="5198110"/>
            <a:ext cx="3496945" cy="9525"/>
          </a:xfrm>
          <a:prstGeom prst="rect">
            <a:avLst/>
          </a:prstGeom>
          <a:solidFill>
            <a:srgbClr val="F0D0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666750" y="4383881"/>
            <a:ext cx="359285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分析框架先行，认知对齐再深入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明确商店五图的分析维度与产品核心定位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66750" y="1654969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FF8AB5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9000" b="1">
              <a:solidFill>
                <a:srgbClr val="FF8AB5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 rot="2700000">
            <a:off x="666115" y="3162300"/>
            <a:ext cx="48260" cy="47625"/>
          </a:xfrm>
          <a:prstGeom prst="rect">
            <a:avLst/>
          </a:pr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819910" y="3181350"/>
            <a:ext cx="228600" cy="9525"/>
          </a:xfrm>
          <a:prstGeom prst="rect">
            <a:avLst/>
          </a:prstGeom>
          <a:solidFill>
            <a:srgbClr val="FF8AB5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五图分析的三个核心问题</a:t>
            </a:r>
            <a:endParaRPr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884555"/>
          </a:xfrm>
          <a:custGeom>
            <a:avLst/>
            <a:gdLst>
              <a:gd name="sw" fmla="*/ 1 w 17400"/>
              <a:gd name="sh" fmla="*/ 1 h 1393"/>
              <a:gd name="mins" fmla="min sw sh"/>
              <a:gd name="dsw" fmla="+- 0 sw mins"/>
              <a:gd name="dsh" fmla="+- 0 sh mins"/>
              <a:gd name="p0x0" fmla="*/ 240 w 17400"/>
              <a:gd name="p0y0" fmla="*/ 0 h 1393"/>
              <a:gd name="p0x1" fmla="*/ 17160 w 17400"/>
              <a:gd name="p0y1" fmla="*/ 0 h 1393"/>
              <a:gd name="p0x2" fmla="*/ 17292 w 17400"/>
              <a:gd name="p0y2" fmla="*/ 0 h 1393"/>
              <a:gd name="p0x3" fmla="*/ 17400 w 17400"/>
              <a:gd name="p0y3" fmla="*/ 107 h 1393"/>
              <a:gd name="p0x4" fmla="*/ 17400 w 17400"/>
              <a:gd name="p0y4" fmla="*/ 240 h 1393"/>
              <a:gd name="p0x5" fmla="*/ 17400 w 17400"/>
              <a:gd name="p0y5" fmla="*/ 1153 h 1393"/>
              <a:gd name="p0x6" fmla="*/ 17400 w 17400"/>
              <a:gd name="p0y6" fmla="*/ 1285 h 1393"/>
              <a:gd name="p0x7" fmla="*/ 17292 w 17400"/>
              <a:gd name="p0y7" fmla="*/ 1393 h 1393"/>
              <a:gd name="p0x8" fmla="*/ 17160 w 17400"/>
              <a:gd name="p0y8" fmla="*/ 1393 h 1393"/>
              <a:gd name="p0x9" fmla="*/ 240 w 17400"/>
              <a:gd name="p0y9" fmla="*/ 1393 h 1393"/>
              <a:gd name="p0x10" fmla="*/ 107 w 17400"/>
              <a:gd name="p0y10" fmla="*/ 1393 h 1393"/>
              <a:gd name="p0x11" fmla="*/ 0 w 17400"/>
              <a:gd name="p0y11" fmla="*/ 1285 h 1393"/>
              <a:gd name="p0x12" fmla="*/ 0 w 17400"/>
              <a:gd name="p0y12" fmla="*/ 1153 h 1393"/>
              <a:gd name="p0x13" fmla="*/ 0 w 17400"/>
              <a:gd name="p0y13" fmla="*/ 240 h 1393"/>
              <a:gd name="p0x14" fmla="*/ 0 w 17400"/>
              <a:gd name="p0y14" fmla="*/ 107 h 1393"/>
              <a:gd name="p0x15" fmla="*/ 107 w 17400"/>
              <a:gd name="p0y15" fmla="*/ 0 h 1393"/>
              <a:gd name="p0x16" fmla="*/ 240 w 17400"/>
              <a:gd name="p0y16" fmla="*/ 0 h 1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389107"/>
            <a:ext cx="52579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商店五图的价值在于回答用户的</a:t>
            </a:r>
            <a:r>
              <a:rPr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三个递进式疑问</a:t>
            </a:r>
            <a:endParaRPr b="1">
              <a:solidFill>
                <a:srgbClr val="FF6B9E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240 w 5585"/>
              <a:gd name="p0y0" fmla="*/ 0 h 4938"/>
              <a:gd name="p0x1" fmla="*/ 5345 w 5585"/>
              <a:gd name="p0y1" fmla="*/ 0 h 4938"/>
              <a:gd name="p0x2" fmla="*/ 5477 w 5585"/>
              <a:gd name="p0y2" fmla="*/ 0 h 4938"/>
              <a:gd name="p0x3" fmla="*/ 5585 w 5585"/>
              <a:gd name="p0y3" fmla="*/ 107 h 4938"/>
              <a:gd name="p0x4" fmla="*/ 5585 w 5585"/>
              <a:gd name="p0y4" fmla="*/ 240 h 4938"/>
              <a:gd name="p0x5" fmla="*/ 5585 w 5585"/>
              <a:gd name="p0y5" fmla="*/ 4698 h 4938"/>
              <a:gd name="p0x6" fmla="*/ 5585 w 5585"/>
              <a:gd name="p0y6" fmla="*/ 4831 h 4938"/>
              <a:gd name="p0x7" fmla="*/ 5477 w 5585"/>
              <a:gd name="p0y7" fmla="*/ 4938 h 4938"/>
              <a:gd name="p0x8" fmla="*/ 5345 w 5585"/>
              <a:gd name="p0y8" fmla="*/ 4938 h 4938"/>
              <a:gd name="p0x9" fmla="*/ 240 w 5585"/>
              <a:gd name="p0y9" fmla="*/ 4938 h 4938"/>
              <a:gd name="p0x10" fmla="*/ 107 w 5585"/>
              <a:gd name="p0y10" fmla="*/ 4938 h 4938"/>
              <a:gd name="p0x11" fmla="*/ 0 w 5585"/>
              <a:gd name="p0y11" fmla="*/ 4831 h 4938"/>
              <a:gd name="p0x12" fmla="*/ 0 w 5585"/>
              <a:gd name="p0y12" fmla="*/ 4698 h 4938"/>
              <a:gd name="p0x13" fmla="*/ 0 w 5585"/>
              <a:gd name="p0y13" fmla="*/ 240 h 4938"/>
              <a:gd name="p0x14" fmla="*/ 0 w 5585"/>
              <a:gd name="p0y14" fmla="*/ 107 h 4938"/>
              <a:gd name="p0x15" fmla="*/ 107 w 5585"/>
              <a:gd name="p0y15" fmla="*/ 0 h 4938"/>
              <a:gd name="p0x16" fmla="*/ 24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71525" y="3046095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品类锚定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347154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71525" y="3600450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这是什么游戏？</a:t>
            </a:r>
            <a:endParaRPr sz="15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71525" y="3951922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第一张图必须在用户滑到的瞬间完成品类锚定，建立基础的玩法认知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43224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240 w 5585"/>
              <a:gd name="p0y0" fmla="*/ 0 h 4938"/>
              <a:gd name="p0x1" fmla="*/ 5345 w 5585"/>
              <a:gd name="p0y1" fmla="*/ 0 h 4938"/>
              <a:gd name="p0x2" fmla="*/ 5477 w 5585"/>
              <a:gd name="p0y2" fmla="*/ 0 h 4938"/>
              <a:gd name="p0x3" fmla="*/ 5585 w 5585"/>
              <a:gd name="p0y3" fmla="*/ 107 h 4938"/>
              <a:gd name="p0x4" fmla="*/ 5585 w 5585"/>
              <a:gd name="p0y4" fmla="*/ 240 h 4938"/>
              <a:gd name="p0x5" fmla="*/ 5585 w 5585"/>
              <a:gd name="p0y5" fmla="*/ 4698 h 4938"/>
              <a:gd name="p0x6" fmla="*/ 5585 w 5585"/>
              <a:gd name="p0y6" fmla="*/ 4831 h 4938"/>
              <a:gd name="p0x7" fmla="*/ 5477 w 5585"/>
              <a:gd name="p0y7" fmla="*/ 4938 h 4938"/>
              <a:gd name="p0x8" fmla="*/ 5345 w 5585"/>
              <a:gd name="p0y8" fmla="*/ 4938 h 4938"/>
              <a:gd name="p0x9" fmla="*/ 240 w 5585"/>
              <a:gd name="p0y9" fmla="*/ 4938 h 4938"/>
              <a:gd name="p0x10" fmla="*/ 107 w 5585"/>
              <a:gd name="p0y10" fmla="*/ 4938 h 4938"/>
              <a:gd name="p0x11" fmla="*/ 0 w 5585"/>
              <a:gd name="p0y11" fmla="*/ 4831 h 4938"/>
              <a:gd name="p0x12" fmla="*/ 0 w 5585"/>
              <a:gd name="p0y12" fmla="*/ 4698 h 4938"/>
              <a:gd name="p0x13" fmla="*/ 0 w 5585"/>
              <a:gd name="p0y13" fmla="*/ 240 h 4938"/>
              <a:gd name="p0x14" fmla="*/ 0 w 5585"/>
              <a:gd name="p0y14" fmla="*/ 107 h 4938"/>
              <a:gd name="p0x15" fmla="*/ 107 w 5585"/>
              <a:gd name="p0y15" fmla="*/ 0 h 4938"/>
              <a:gd name="p0x16" fmla="*/ 24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4518051" y="3046095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制造冲动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4518025" y="347154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4518051" y="3600450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为什么值得下载？</a:t>
            </a:r>
            <a:endParaRPr sz="15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4518051" y="3951922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中间图片需要提供差异化的情感卖点，制造下载冲动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80689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240 w 5585"/>
              <a:gd name="p0y0" fmla="*/ 0 h 4938"/>
              <a:gd name="p0x1" fmla="*/ 5345 w 5585"/>
              <a:gd name="p0y1" fmla="*/ 0 h 4938"/>
              <a:gd name="p0x2" fmla="*/ 5477 w 5585"/>
              <a:gd name="p0y2" fmla="*/ 0 h 4938"/>
              <a:gd name="p0x3" fmla="*/ 5585 w 5585"/>
              <a:gd name="p0y3" fmla="*/ 107 h 4938"/>
              <a:gd name="p0x4" fmla="*/ 5585 w 5585"/>
              <a:gd name="p0y4" fmla="*/ 240 h 4938"/>
              <a:gd name="p0x5" fmla="*/ 5585 w 5585"/>
              <a:gd name="p0y5" fmla="*/ 4698 h 4938"/>
              <a:gd name="p0x6" fmla="*/ 5585 w 5585"/>
              <a:gd name="p0y6" fmla="*/ 4831 h 4938"/>
              <a:gd name="p0x7" fmla="*/ 5477 w 5585"/>
              <a:gd name="p0y7" fmla="*/ 4938 h 4938"/>
              <a:gd name="p0x8" fmla="*/ 5345 w 5585"/>
              <a:gd name="p0y8" fmla="*/ 4938 h 4938"/>
              <a:gd name="p0x9" fmla="*/ 240 w 5585"/>
              <a:gd name="p0y9" fmla="*/ 4938 h 4938"/>
              <a:gd name="p0x10" fmla="*/ 107 w 5585"/>
              <a:gd name="p0y10" fmla="*/ 4938 h 4938"/>
              <a:gd name="p0x11" fmla="*/ 0 w 5585"/>
              <a:gd name="p0y11" fmla="*/ 4831 h 4938"/>
              <a:gd name="p0x12" fmla="*/ 0 w 5585"/>
              <a:gd name="p0y12" fmla="*/ 4698 h 4938"/>
              <a:gd name="p0x13" fmla="*/ 0 w 5585"/>
              <a:gd name="p0y13" fmla="*/ 240 h 4938"/>
              <a:gd name="p0x14" fmla="*/ 0 w 5585"/>
              <a:gd name="p0y14" fmla="*/ 107 h 4938"/>
              <a:gd name="p0x15" fmla="*/ 107 w 5585"/>
              <a:gd name="p0y15" fmla="*/ 0 h 4938"/>
              <a:gd name="p0x16" fmla="*/ 24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8264576" y="3046095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深层共鸣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8264525" y="347154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8264576" y="3600450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为什么值得长期体验？</a:t>
            </a:r>
            <a:endParaRPr sz="15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264576" y="3951922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后续图片应展示产品的深度内容与世界观厚度，降低流失预期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571500" y="5591810"/>
            <a:ext cx="11049000" cy="885190"/>
          </a:xfrm>
          <a:custGeom>
            <a:avLst/>
            <a:gdLst>
              <a:gd name="sw" fmla="*/ 1 w 17400"/>
              <a:gd name="sh" fmla="*/ 1 h 1393"/>
              <a:gd name="mins" fmla="min sw sh"/>
              <a:gd name="dsw" fmla="+- 0 sw mins"/>
              <a:gd name="dsh" fmla="+- 0 sh mins"/>
              <a:gd name="p0x0" fmla="*/ 240 w 17400"/>
              <a:gd name="p0y0" fmla="*/ 0 h 1393"/>
              <a:gd name="p0x1" fmla="*/ 17160 w 17400"/>
              <a:gd name="p0y1" fmla="*/ 0 h 1393"/>
              <a:gd name="p0x2" fmla="*/ 17292 w 17400"/>
              <a:gd name="p0y2" fmla="*/ 0 h 1393"/>
              <a:gd name="p0x3" fmla="*/ 17400 w 17400"/>
              <a:gd name="p0y3" fmla="*/ 107 h 1393"/>
              <a:gd name="p0x4" fmla="*/ 17400 w 17400"/>
              <a:gd name="p0y4" fmla="*/ 240 h 1393"/>
              <a:gd name="p0x5" fmla="*/ 17400 w 17400"/>
              <a:gd name="p0y5" fmla="*/ 1153 h 1393"/>
              <a:gd name="p0x6" fmla="*/ 17400 w 17400"/>
              <a:gd name="p0y6" fmla="*/ 1285 h 1393"/>
              <a:gd name="p0x7" fmla="*/ 17292 w 17400"/>
              <a:gd name="p0y7" fmla="*/ 1393 h 1393"/>
              <a:gd name="p0x8" fmla="*/ 17160 w 17400"/>
              <a:gd name="p0y8" fmla="*/ 1393 h 1393"/>
              <a:gd name="p0x9" fmla="*/ 240 w 17400"/>
              <a:gd name="p0y9" fmla="*/ 1393 h 1393"/>
              <a:gd name="p0x10" fmla="*/ 107 w 17400"/>
              <a:gd name="p0y10" fmla="*/ 1393 h 1393"/>
              <a:gd name="p0x11" fmla="*/ 0 w 17400"/>
              <a:gd name="p0y11" fmla="*/ 1285 h 1393"/>
              <a:gd name="p0x12" fmla="*/ 0 w 17400"/>
              <a:gd name="p0y12" fmla="*/ 1153 h 1393"/>
              <a:gd name="p0x13" fmla="*/ 0 w 17400"/>
              <a:gd name="p0y13" fmla="*/ 240 h 1393"/>
              <a:gd name="p0x14" fmla="*/ 0 w 17400"/>
              <a:gd name="p0y14" fmla="*/ 107 h 1393"/>
              <a:gd name="p0x15" fmla="*/ 107 w 17400"/>
              <a:gd name="p0y15" fmla="*/ 0 h 1393"/>
              <a:gd name="p0x16" fmla="*/ 240 w 17400"/>
              <a:gd name="p0y16" fmla="*/ 0 h 1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762000" y="5882297"/>
            <a:ext cx="99441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五张图并非各自为政，而是按照用户决策路径排列的信息序列</a:t>
            </a:r>
            <a:r>
              <a:rPr lang="en-US" altLang="zh-CN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每张图承担一个阶段的说服任务，共同推动用户走向下载按钮</a:t>
            </a:r>
            <a:endParaRPr lang="zh-CN" altLang="en-US" sz="135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产品定位：情感体验才是核心竞争力</a:t>
            </a:r>
            <a:endParaRPr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1800225"/>
          </a:xfrm>
          <a:custGeom>
            <a:avLst/>
            <a:gdLst>
              <a:gd name="sw" fmla="*/ 1 w 17400"/>
              <a:gd name="sh" fmla="*/ 1 h 2835"/>
              <a:gd name="mins" fmla="min sw sh"/>
              <a:gd name="dsw" fmla="+- 0 sw mins"/>
              <a:gd name="dsh" fmla="+- 0 sh mins"/>
              <a:gd name="p0x0" fmla="*/ 240 w 17400"/>
              <a:gd name="p0y0" fmla="*/ 0 h 2835"/>
              <a:gd name="p0x1" fmla="*/ 17160 w 17400"/>
              <a:gd name="p0y1" fmla="*/ 0 h 2835"/>
              <a:gd name="p0x2" fmla="*/ 17292 w 17400"/>
              <a:gd name="p0y2" fmla="*/ 0 h 2835"/>
              <a:gd name="p0x3" fmla="*/ 17400 w 17400"/>
              <a:gd name="p0y3" fmla="*/ 107 h 2835"/>
              <a:gd name="p0x4" fmla="*/ 17400 w 17400"/>
              <a:gd name="p0y4" fmla="*/ 240 h 2835"/>
              <a:gd name="p0x5" fmla="*/ 17400 w 17400"/>
              <a:gd name="p0y5" fmla="*/ 2595 h 2835"/>
              <a:gd name="p0x6" fmla="*/ 17400 w 17400"/>
              <a:gd name="p0y6" fmla="*/ 2727 h 2835"/>
              <a:gd name="p0x7" fmla="*/ 17292 w 17400"/>
              <a:gd name="p0y7" fmla="*/ 2835 h 2835"/>
              <a:gd name="p0x8" fmla="*/ 17160 w 17400"/>
              <a:gd name="p0y8" fmla="*/ 2835 h 2835"/>
              <a:gd name="p0x9" fmla="*/ 240 w 17400"/>
              <a:gd name="p0y9" fmla="*/ 2835 h 2835"/>
              <a:gd name="p0x10" fmla="*/ 107 w 17400"/>
              <a:gd name="p0y10" fmla="*/ 2835 h 2835"/>
              <a:gd name="p0x11" fmla="*/ 0 w 17400"/>
              <a:gd name="p0y11" fmla="*/ 2727 h 2835"/>
              <a:gd name="p0x12" fmla="*/ 0 w 17400"/>
              <a:gd name="p0y12" fmla="*/ 2595 h 2835"/>
              <a:gd name="p0x13" fmla="*/ 0 w 17400"/>
              <a:gd name="p0y13" fmla="*/ 240 h 2835"/>
              <a:gd name="p0x14" fmla="*/ 0 w 17400"/>
              <a:gd name="p0y14" fmla="*/ 107 h 2835"/>
              <a:gd name="p0x15" fmla="*/ 107 w 17400"/>
              <a:gd name="p0y15" fmla="*/ 0 h 2835"/>
              <a:gd name="p0x16" fmla="*/ 240 w 17400"/>
              <a:gd name="p0y16" fmla="*/ 0 h 28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846898"/>
            <a:ext cx="9558338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表面是战斗养成游戏，</a:t>
            </a:r>
            <a:r>
              <a:rPr lang="zh-CN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真正的核心竞争力并非战斗系统，而是</a:t>
            </a:r>
            <a:r>
              <a:rPr lang="en-US" altLang="zh-CN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与学生共同生活</a:t>
            </a:r>
            <a:r>
              <a:rPr lang="en-US" altLang="zh-CN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的情感体验</a:t>
            </a:r>
            <a:endParaRPr lang="zh-CN" altLang="en-US" b="1">
              <a:solidFill>
                <a:srgbClr val="FF6B9E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3138170"/>
            <a:ext cx="3546475" cy="3333750"/>
          </a:xfrm>
          <a:custGeom>
            <a:avLst/>
            <a:gdLst>
              <a:gd name="sw" fmla="*/ 1 w 5585"/>
              <a:gd name="sh" fmla="*/ 1 h 5249"/>
              <a:gd name="mins" fmla="min sw sh"/>
              <a:gd name="dsw" fmla="+- 0 sw mins"/>
              <a:gd name="dsh" fmla="+- 0 sh mins"/>
              <a:gd name="p0x0" fmla="*/ 240 w 5585"/>
              <a:gd name="p0y0" fmla="*/ 0 h 5249"/>
              <a:gd name="p0x1" fmla="*/ 5345 w 5585"/>
              <a:gd name="p0y1" fmla="*/ 0 h 5249"/>
              <a:gd name="p0x2" fmla="*/ 5477 w 5585"/>
              <a:gd name="p0y2" fmla="*/ 0 h 5249"/>
              <a:gd name="p0x3" fmla="*/ 5585 w 5585"/>
              <a:gd name="p0y3" fmla="*/ 107 h 5249"/>
              <a:gd name="p0x4" fmla="*/ 5585 w 5585"/>
              <a:gd name="p0y4" fmla="*/ 240 h 5249"/>
              <a:gd name="p0x5" fmla="*/ 5585 w 5585"/>
              <a:gd name="p0y5" fmla="*/ 5009 h 5249"/>
              <a:gd name="p0x6" fmla="*/ 5585 w 5585"/>
              <a:gd name="p0y6" fmla="*/ 5142 h 5249"/>
              <a:gd name="p0x7" fmla="*/ 5477 w 5585"/>
              <a:gd name="p0y7" fmla="*/ 5249 h 5249"/>
              <a:gd name="p0x8" fmla="*/ 5345 w 5585"/>
              <a:gd name="p0y8" fmla="*/ 5249 h 5249"/>
              <a:gd name="p0x9" fmla="*/ 240 w 5585"/>
              <a:gd name="p0y9" fmla="*/ 5249 h 5249"/>
              <a:gd name="p0x10" fmla="*/ 107 w 5585"/>
              <a:gd name="p0y10" fmla="*/ 5249 h 5249"/>
              <a:gd name="p0x11" fmla="*/ 0 w 5585"/>
              <a:gd name="p0y11" fmla="*/ 5142 h 5249"/>
              <a:gd name="p0x12" fmla="*/ 0 w 5585"/>
              <a:gd name="p0y12" fmla="*/ 5009 h 5249"/>
              <a:gd name="p0x13" fmla="*/ 0 w 5585"/>
              <a:gd name="p0y13" fmla="*/ 240 h 5249"/>
              <a:gd name="p0x14" fmla="*/ 0 w 5585"/>
              <a:gd name="p0y14" fmla="*/ 107 h 5249"/>
              <a:gd name="p0x15" fmla="*/ 107 w 5585"/>
              <a:gd name="p0y15" fmla="*/ 0 h 5249"/>
              <a:gd name="p0x16" fmla="*/ 240 w 5585"/>
              <a:gd name="p0y16" fmla="*/ 0 h 5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40284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06507846-858a-11f1-b58e-aaf5da2b6ef6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266" b="266"/>
          <a:stretch>
            <a:fillRect/>
          </a:stretch>
        </p:blipFill>
        <p:spPr>
          <a:xfrm>
            <a:off x="838200" y="4095115"/>
            <a:ext cx="209550" cy="2095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190625" y="4017569"/>
            <a:ext cx="189897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放弃卖点堆砌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771525" y="4523740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771525" y="4652886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不在一张图里塞入战斗、养成、剧情、社交等所有功能，避免信息过载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4322445" y="3138170"/>
            <a:ext cx="3546475" cy="3333750"/>
          </a:xfrm>
          <a:custGeom>
            <a:avLst/>
            <a:gdLst>
              <a:gd name="sw" fmla="*/ 1 w 5585"/>
              <a:gd name="sh" fmla="*/ 1 h 5249"/>
              <a:gd name="mins" fmla="min sw sh"/>
              <a:gd name="dsw" fmla="+- 0 sw mins"/>
              <a:gd name="dsh" fmla="+- 0 sh mins"/>
              <a:gd name="p0x0" fmla="*/ 240 w 5585"/>
              <a:gd name="p0y0" fmla="*/ 0 h 5249"/>
              <a:gd name="p0x1" fmla="*/ 5345 w 5585"/>
              <a:gd name="p0y1" fmla="*/ 0 h 5249"/>
              <a:gd name="p0x2" fmla="*/ 5477 w 5585"/>
              <a:gd name="p0y2" fmla="*/ 0 h 5249"/>
              <a:gd name="p0x3" fmla="*/ 5585 w 5585"/>
              <a:gd name="p0y3" fmla="*/ 107 h 5249"/>
              <a:gd name="p0x4" fmla="*/ 5585 w 5585"/>
              <a:gd name="p0y4" fmla="*/ 240 h 5249"/>
              <a:gd name="p0x5" fmla="*/ 5585 w 5585"/>
              <a:gd name="p0y5" fmla="*/ 5009 h 5249"/>
              <a:gd name="p0x6" fmla="*/ 5585 w 5585"/>
              <a:gd name="p0y6" fmla="*/ 5142 h 5249"/>
              <a:gd name="p0x7" fmla="*/ 5477 w 5585"/>
              <a:gd name="p0y7" fmla="*/ 5249 h 5249"/>
              <a:gd name="p0x8" fmla="*/ 5345 w 5585"/>
              <a:gd name="p0y8" fmla="*/ 5249 h 5249"/>
              <a:gd name="p0x9" fmla="*/ 240 w 5585"/>
              <a:gd name="p0y9" fmla="*/ 5249 h 5249"/>
              <a:gd name="p0x10" fmla="*/ 107 w 5585"/>
              <a:gd name="p0y10" fmla="*/ 5249 h 5249"/>
              <a:gd name="p0x11" fmla="*/ 0 w 5585"/>
              <a:gd name="p0y11" fmla="*/ 5142 h 5249"/>
              <a:gd name="p0x12" fmla="*/ 0 w 5585"/>
              <a:gd name="p0y12" fmla="*/ 5009 h 5249"/>
              <a:gd name="p0x13" fmla="*/ 0 w 5585"/>
              <a:gd name="p0y13" fmla="*/ 240 h 5249"/>
              <a:gd name="p0x14" fmla="*/ 0 w 5585"/>
              <a:gd name="p0y14" fmla="*/ 107 h 5249"/>
              <a:gd name="p0x15" fmla="*/ 107 w 5585"/>
              <a:gd name="p0y15" fmla="*/ 0 h 5249"/>
              <a:gd name="p0x16" fmla="*/ 240 w 5585"/>
              <a:gd name="p0y16" fmla="*/ 0 h 5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4518025" y="40284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06507902-858a-11f1-b58e-aaf5da2b6ef6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12" t="-266" r="12" b="266"/>
          <a:stretch>
            <a:fillRect/>
          </a:stretch>
        </p:blipFill>
        <p:spPr>
          <a:xfrm>
            <a:off x="4584700" y="4095115"/>
            <a:ext cx="209550" cy="20955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4937151" y="4017569"/>
            <a:ext cx="284202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玩法</a:t>
            </a:r>
            <a:r>
              <a:rPr lang="en-US" altLang="zh-CN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+</a:t>
            </a:r>
            <a:r>
              <a:rPr lang="zh-CN" altLang="en-US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陪伴</a:t>
            </a:r>
            <a:r>
              <a:rPr lang="en-US" altLang="zh-CN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双线展开</a:t>
            </a:r>
            <a:endParaRPr lang="zh-CN" altLang="en-US"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4518025" y="4523740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4518051" y="4652886"/>
            <a:ext cx="31559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第一张图建立品类认知，第二、三张图强化情感陪伴，第四张图补充世界观完整性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8068945" y="3138170"/>
            <a:ext cx="3546475" cy="3333750"/>
          </a:xfrm>
          <a:custGeom>
            <a:avLst/>
            <a:gdLst>
              <a:gd name="sw" fmla="*/ 1 w 5585"/>
              <a:gd name="sh" fmla="*/ 1 h 5249"/>
              <a:gd name="mins" fmla="min sw sh"/>
              <a:gd name="dsw" fmla="+- 0 sw mins"/>
              <a:gd name="dsh" fmla="+- 0 sh mins"/>
              <a:gd name="p0x0" fmla="*/ 240 w 5585"/>
              <a:gd name="p0y0" fmla="*/ 0 h 5249"/>
              <a:gd name="p0x1" fmla="*/ 5345 w 5585"/>
              <a:gd name="p0y1" fmla="*/ 0 h 5249"/>
              <a:gd name="p0x2" fmla="*/ 5477 w 5585"/>
              <a:gd name="p0y2" fmla="*/ 0 h 5249"/>
              <a:gd name="p0x3" fmla="*/ 5585 w 5585"/>
              <a:gd name="p0y3" fmla="*/ 107 h 5249"/>
              <a:gd name="p0x4" fmla="*/ 5585 w 5585"/>
              <a:gd name="p0y4" fmla="*/ 240 h 5249"/>
              <a:gd name="p0x5" fmla="*/ 5585 w 5585"/>
              <a:gd name="p0y5" fmla="*/ 5009 h 5249"/>
              <a:gd name="p0x6" fmla="*/ 5585 w 5585"/>
              <a:gd name="p0y6" fmla="*/ 5142 h 5249"/>
              <a:gd name="p0x7" fmla="*/ 5477 w 5585"/>
              <a:gd name="p0y7" fmla="*/ 5249 h 5249"/>
              <a:gd name="p0x8" fmla="*/ 5345 w 5585"/>
              <a:gd name="p0y8" fmla="*/ 5249 h 5249"/>
              <a:gd name="p0x9" fmla="*/ 240 w 5585"/>
              <a:gd name="p0y9" fmla="*/ 5249 h 5249"/>
              <a:gd name="p0x10" fmla="*/ 107 w 5585"/>
              <a:gd name="p0y10" fmla="*/ 5249 h 5249"/>
              <a:gd name="p0x11" fmla="*/ 0 w 5585"/>
              <a:gd name="p0y11" fmla="*/ 5142 h 5249"/>
              <a:gd name="p0x12" fmla="*/ 0 w 5585"/>
              <a:gd name="p0y12" fmla="*/ 5009 h 5249"/>
              <a:gd name="p0x13" fmla="*/ 0 w 5585"/>
              <a:gd name="p0y13" fmla="*/ 240 h 5249"/>
              <a:gd name="p0x14" fmla="*/ 0 w 5585"/>
              <a:gd name="p0y14" fmla="*/ 107 h 5249"/>
              <a:gd name="p0x15" fmla="*/ 107 w 5585"/>
              <a:gd name="p0y15" fmla="*/ 0 h 5249"/>
              <a:gd name="p0x16" fmla="*/ 240 w 5585"/>
              <a:gd name="p0y16" fmla="*/ 0 h 5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8264525" y="40284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06507a31-858a-11f1-b58e-aaf5da2b6ef6"/>
          <p:cNvPicPr/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24" t="-266" r="24" b="266"/>
          <a:stretch>
            <a:fillRect/>
          </a:stretch>
        </p:blipFill>
        <p:spPr>
          <a:xfrm>
            <a:off x="8331200" y="4095115"/>
            <a:ext cx="209550" cy="20955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8683676" y="4017569"/>
            <a:ext cx="27150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让用户自己走向下载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8264525" y="4523740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8264576" y="4652886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用渐进的体验暗示替代直接的卖点宣告，降低用户的防御心理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809625" y="30980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66750" y="3470434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逐图拆解</a:t>
            </a:r>
            <a:endParaRPr sz="42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66750" y="5198110"/>
            <a:ext cx="2914650" cy="9525"/>
          </a:xfrm>
          <a:prstGeom prst="rect">
            <a:avLst/>
          </a:prstGeom>
          <a:solidFill>
            <a:srgbClr val="F0D0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666750" y="4383881"/>
            <a:ext cx="30099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每一张图都是一次用户决策的推进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从玩法认知到情感连接的四步递进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66750" y="1654969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FF8AB5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9000" b="1">
              <a:solidFill>
                <a:srgbClr val="FF8AB5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 rot="2700000">
            <a:off x="666115" y="3162300"/>
            <a:ext cx="48260" cy="47625"/>
          </a:xfrm>
          <a:prstGeom prst="rect">
            <a:avLst/>
          </a:pr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819910" y="3181350"/>
            <a:ext cx="228600" cy="9525"/>
          </a:xfrm>
          <a:prstGeom prst="rect">
            <a:avLst/>
          </a:prstGeom>
          <a:solidFill>
            <a:srgbClr val="FF8AB5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图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Arial" panose="020B0604020202020204" pitchFamily="34" charset="0"/>
              </a:rPr>
              <a:t>1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</a:t>
            </a: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学院都市：让产品成为世界</a:t>
            </a:r>
            <a:endParaRPr lang="zh-CN" altLang="en-US"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213485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380945"/>
            <a:ext cx="9896386" cy="319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没有世界观的角色收集游戏，</a:t>
            </a:r>
            <a:r>
              <a:rPr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只是一个数字仓库</a:t>
            </a:r>
            <a:r>
              <a:rPr lang="zh-CN" altLang="en-US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，先告诉玩家这是一个怎么样的世界</a:t>
            </a:r>
            <a:endParaRPr b="1">
              <a:solidFill>
                <a:srgbClr val="FF6B9E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4"/>
            </p:custDataLst>
          </p:nvPr>
        </p:nvSpPr>
        <p:spPr>
          <a:xfrm>
            <a:off x="6195695" y="2222500"/>
            <a:ext cx="5419725" cy="3136265"/>
          </a:xfrm>
          <a:custGeom>
            <a:avLst/>
            <a:gdLst>
              <a:gd name="sw" fmla="*/ 1 w 8535"/>
              <a:gd name="sh" fmla="*/ 1 h 4938"/>
              <a:gd name="mins" fmla="min sw sh"/>
              <a:gd name="dsw" fmla="+- 0 sw mins"/>
              <a:gd name="dsh" fmla="+- 0 sh mins"/>
              <a:gd name="p0x0" fmla="*/ 240 w 8535"/>
              <a:gd name="p0y0" fmla="*/ 0 h 4938"/>
              <a:gd name="p0x1" fmla="*/ 8295 w 8535"/>
              <a:gd name="p0y1" fmla="*/ 0 h 4938"/>
              <a:gd name="p0x2" fmla="*/ 8427 w 8535"/>
              <a:gd name="p0y2" fmla="*/ 0 h 4938"/>
              <a:gd name="p0x3" fmla="*/ 8535 w 8535"/>
              <a:gd name="p0y3" fmla="*/ 107 h 4938"/>
              <a:gd name="p0x4" fmla="*/ 8535 w 8535"/>
              <a:gd name="p0y4" fmla="*/ 240 h 4938"/>
              <a:gd name="p0x5" fmla="*/ 8535 w 8535"/>
              <a:gd name="p0y5" fmla="*/ 4698 h 4938"/>
              <a:gd name="p0x6" fmla="*/ 8535 w 8535"/>
              <a:gd name="p0y6" fmla="*/ 4831 h 4938"/>
              <a:gd name="p0x7" fmla="*/ 8427 w 8535"/>
              <a:gd name="p0y7" fmla="*/ 4938 h 4938"/>
              <a:gd name="p0x8" fmla="*/ 8295 w 8535"/>
              <a:gd name="p0y8" fmla="*/ 4938 h 4938"/>
              <a:gd name="p0x9" fmla="*/ 240 w 8535"/>
              <a:gd name="p0y9" fmla="*/ 4938 h 4938"/>
              <a:gd name="p0x10" fmla="*/ 107 w 8535"/>
              <a:gd name="p0y10" fmla="*/ 4938 h 4938"/>
              <a:gd name="p0x11" fmla="*/ 0 w 8535"/>
              <a:gd name="p0y11" fmla="*/ 4831 h 4938"/>
              <a:gd name="p0x12" fmla="*/ 0 w 8535"/>
              <a:gd name="p0y12" fmla="*/ 4698 h 4938"/>
              <a:gd name="p0x13" fmla="*/ 0 w 8535"/>
              <a:gd name="p0y13" fmla="*/ 240 h 4938"/>
              <a:gd name="p0x14" fmla="*/ 0 w 8535"/>
              <a:gd name="p0y14" fmla="*/ 107 h 4938"/>
              <a:gd name="p0x15" fmla="*/ 107 w 8535"/>
              <a:gd name="p0y15" fmla="*/ 0 h 4938"/>
              <a:gd name="p0x16" fmla="*/ 240 w 853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6391275" y="2941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有世界观：叙事升维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6"/>
            </p:custDataLst>
          </p:nvPr>
        </p:nvSpPr>
        <p:spPr>
          <a:xfrm>
            <a:off x="6391275" y="34048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083" t="-3492" r="-2083" b="-3492"/>
          <a:stretch>
            <a:fillRect/>
          </a:stretch>
        </p:blipFill>
        <p:spPr>
          <a:xfrm>
            <a:off x="6443345" y="3467100"/>
            <a:ext cx="238125" cy="21399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6848475" y="3390900"/>
            <a:ext cx="30861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基沃托斯</a:t>
            </a:r>
            <a:endParaRPr sz="1500" b="1" spc="3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6848475" y="3666172"/>
            <a:ext cx="32576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学园都市中，与学生共同经历日常与冒险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2"/>
            </p:custDataLst>
          </p:nvPr>
        </p:nvSpPr>
        <p:spPr>
          <a:xfrm>
            <a:off x="6391275" y="40716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6457950" y="4133850"/>
            <a:ext cx="209550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6"/>
            </p:custDataLst>
          </p:nvPr>
        </p:nvSpPr>
        <p:spPr>
          <a:xfrm>
            <a:off x="6848475" y="4057650"/>
            <a:ext cx="308625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产品升维</a:t>
            </a:r>
            <a:endParaRPr sz="1500" b="1" spc="3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7"/>
            </p:custDataLst>
          </p:nvPr>
        </p:nvSpPr>
        <p:spPr>
          <a:xfrm>
            <a:off x="6848475" y="4332922"/>
            <a:ext cx="325770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角色获得存在合理性，成为</a:t>
            </a:r>
            <a:r>
              <a:rPr sz="135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有温度的世界</a:t>
            </a:r>
            <a:endParaRPr sz="135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18"/>
            </p:custDataLst>
          </p:nvPr>
        </p:nvSpPr>
        <p:spPr>
          <a:xfrm>
            <a:off x="575945" y="5667375"/>
            <a:ext cx="11039475" cy="733425"/>
          </a:xfrm>
          <a:custGeom>
            <a:avLst/>
            <a:gdLst>
              <a:gd name="sw" fmla="*/ 1 w 17385"/>
              <a:gd name="sh" fmla="*/ 1 h 1155"/>
              <a:gd name="mins" fmla="min sw sh"/>
              <a:gd name="dsw" fmla="+- 0 sw mins"/>
              <a:gd name="dsh" fmla="+- 0 sh mins"/>
              <a:gd name="p0x0" fmla="*/ 240 w 17385"/>
              <a:gd name="p0y0" fmla="*/ 0 h 1155"/>
              <a:gd name="p0x1" fmla="*/ 17145 w 17385"/>
              <a:gd name="p0y1" fmla="*/ 0 h 1155"/>
              <a:gd name="p0x2" fmla="*/ 17277 w 17385"/>
              <a:gd name="p0y2" fmla="*/ 0 h 1155"/>
              <a:gd name="p0x3" fmla="*/ 17385 w 17385"/>
              <a:gd name="p0y3" fmla="*/ 107 h 1155"/>
              <a:gd name="p0x4" fmla="*/ 17385 w 17385"/>
              <a:gd name="p0y4" fmla="*/ 240 h 1155"/>
              <a:gd name="p0x5" fmla="*/ 17385 w 17385"/>
              <a:gd name="p0y5" fmla="*/ 915 h 1155"/>
              <a:gd name="p0x6" fmla="*/ 17385 w 17385"/>
              <a:gd name="p0y6" fmla="*/ 1047 h 1155"/>
              <a:gd name="p0x7" fmla="*/ 17277 w 17385"/>
              <a:gd name="p0y7" fmla="*/ 1155 h 1155"/>
              <a:gd name="p0x8" fmla="*/ 17145 w 17385"/>
              <a:gd name="p0y8" fmla="*/ 1155 h 1155"/>
              <a:gd name="p0x9" fmla="*/ 240 w 17385"/>
              <a:gd name="p0y9" fmla="*/ 1155 h 1155"/>
              <a:gd name="p0x10" fmla="*/ 107 w 17385"/>
              <a:gd name="p0y10" fmla="*/ 1155 h 1155"/>
              <a:gd name="p0x11" fmla="*/ 0 w 17385"/>
              <a:gd name="p0y11" fmla="*/ 1047 h 1155"/>
              <a:gd name="p0x12" fmla="*/ 0 w 17385"/>
              <a:gd name="p0y12" fmla="*/ 915 h 1155"/>
              <a:gd name="p0x13" fmla="*/ 0 w 17385"/>
              <a:gd name="p0y13" fmla="*/ 240 h 1155"/>
              <a:gd name="p0x14" fmla="*/ 0 w 17385"/>
              <a:gd name="p0y14" fmla="*/ 107 h 1155"/>
              <a:gd name="p0x15" fmla="*/ 107 w 17385"/>
              <a:gd name="p0y15" fmla="*/ 0 h 1155"/>
              <a:gd name="p0x16" fmla="*/ 240 w 17385"/>
              <a:gd name="p0y16" fmla="*/ 0 h 1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D0E0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19"/>
            </p:custDataLst>
          </p:nvPr>
        </p:nvSpPr>
        <p:spPr>
          <a:xfrm>
            <a:off x="771525" y="58629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838200" y="5924550"/>
            <a:ext cx="209550" cy="2146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23"/>
            </p:custDataLst>
          </p:nvPr>
        </p:nvSpPr>
        <p:spPr>
          <a:xfrm>
            <a:off x="1304925" y="5882306"/>
            <a:ext cx="101155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运营视角：</a:t>
            </a:r>
            <a:r>
              <a:rPr 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世界观展示是降低流失的长线投资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当用户认可这个世界本身，新内容都是世界的丰富，而非突兀叠加</a:t>
            </a:r>
            <a:endParaRPr lang="zh-CN" altLang="en-US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2" name="图片 1" descr="post_object_image_134773111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3420" y="2222458"/>
            <a:ext cx="5445771" cy="30632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图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Arial" panose="020B0604020202020204" pitchFamily="34" charset="0"/>
              </a:rPr>
              <a:t>2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</a:t>
            </a: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战术指挥：三秒完成品类锚定</a:t>
            </a:r>
            <a:endParaRPr lang="zh-CN" altLang="en-US"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689600" y="1104900"/>
            <a:ext cx="5930900" cy="714375"/>
          </a:xfrm>
          <a:custGeom>
            <a:avLst/>
            <a:gdLst>
              <a:gd name="sw" fmla="*/ 1 w 9339"/>
              <a:gd name="sh" fmla="*/ 1 h 1125"/>
              <a:gd name="mins" fmla="min sw sh"/>
              <a:gd name="dsw" fmla="+- 0 sw mins"/>
              <a:gd name="dsh" fmla="+- 0 sh mins"/>
              <a:gd name="p0x0" fmla="*/ 240 w 9339"/>
              <a:gd name="p0y0" fmla="*/ 0 h 1125"/>
              <a:gd name="p0x1" fmla="*/ 9099 w 9339"/>
              <a:gd name="p0y1" fmla="*/ 0 h 1125"/>
              <a:gd name="p0x2" fmla="*/ 9231 w 9339"/>
              <a:gd name="p0y2" fmla="*/ 0 h 1125"/>
              <a:gd name="p0x3" fmla="*/ 9339 w 9339"/>
              <a:gd name="p0y3" fmla="*/ 107 h 1125"/>
              <a:gd name="p0x4" fmla="*/ 9339 w 9339"/>
              <a:gd name="p0y4" fmla="*/ 240 h 1125"/>
              <a:gd name="p0x5" fmla="*/ 9339 w 9339"/>
              <a:gd name="p0y5" fmla="*/ 885 h 1125"/>
              <a:gd name="p0x6" fmla="*/ 9339 w 9339"/>
              <a:gd name="p0y6" fmla="*/ 1017 h 1125"/>
              <a:gd name="p0x7" fmla="*/ 9231 w 9339"/>
              <a:gd name="p0y7" fmla="*/ 1125 h 1125"/>
              <a:gd name="p0x8" fmla="*/ 9099 w 9339"/>
              <a:gd name="p0y8" fmla="*/ 1125 h 1125"/>
              <a:gd name="p0x9" fmla="*/ 240 w 9339"/>
              <a:gd name="p0y9" fmla="*/ 1125 h 1125"/>
              <a:gd name="p0x10" fmla="*/ 107 w 9339"/>
              <a:gd name="p0y10" fmla="*/ 1125 h 1125"/>
              <a:gd name="p0x11" fmla="*/ 0 w 9339"/>
              <a:gd name="p0y11" fmla="*/ 1017 h 1125"/>
              <a:gd name="p0x12" fmla="*/ 0 w 9339"/>
              <a:gd name="p0y12" fmla="*/ 885 h 1125"/>
              <a:gd name="p0x13" fmla="*/ 0 w 9339"/>
              <a:gd name="p0y13" fmla="*/ 240 h 1125"/>
              <a:gd name="p0x14" fmla="*/ 0 w 9339"/>
              <a:gd name="p0y14" fmla="*/ 107 h 1125"/>
              <a:gd name="p0x15" fmla="*/ 107 w 9339"/>
              <a:gd name="p0y15" fmla="*/ 0 h 1125"/>
              <a:gd name="p0x16" fmla="*/ 240 w 9339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788420" y="1279207"/>
            <a:ext cx="3733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玩法的展示</a:t>
            </a:r>
            <a:endParaRPr sz="21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4"/>
            </p:custDataLst>
          </p:nvPr>
        </p:nvSpPr>
        <p:spPr>
          <a:xfrm>
            <a:off x="5694680" y="5852795"/>
            <a:ext cx="5920740" cy="619125"/>
          </a:xfrm>
          <a:custGeom>
            <a:avLst/>
            <a:gdLst>
              <a:gd name="sw" fmla="*/ 1 w 9324"/>
              <a:gd name="sh" fmla="*/ 1 h 975"/>
              <a:gd name="mins" fmla="min sw sh"/>
              <a:gd name="dsw" fmla="+- 0 sw mins"/>
              <a:gd name="dsh" fmla="+- 0 sh mins"/>
              <a:gd name="p0x0" fmla="*/ 240 w 9324"/>
              <a:gd name="p0y0" fmla="*/ 0 h 975"/>
              <a:gd name="p0x1" fmla="*/ 9084 w 9324"/>
              <a:gd name="p0y1" fmla="*/ 0 h 975"/>
              <a:gd name="p0x2" fmla="*/ 9216 w 9324"/>
              <a:gd name="p0y2" fmla="*/ 0 h 975"/>
              <a:gd name="p0x3" fmla="*/ 9324 w 9324"/>
              <a:gd name="p0y3" fmla="*/ 107 h 975"/>
              <a:gd name="p0x4" fmla="*/ 9324 w 9324"/>
              <a:gd name="p0y4" fmla="*/ 240 h 975"/>
              <a:gd name="p0x5" fmla="*/ 9324 w 9324"/>
              <a:gd name="p0y5" fmla="*/ 735 h 975"/>
              <a:gd name="p0x6" fmla="*/ 9324 w 9324"/>
              <a:gd name="p0y6" fmla="*/ 867 h 975"/>
              <a:gd name="p0x7" fmla="*/ 9216 w 9324"/>
              <a:gd name="p0y7" fmla="*/ 975 h 975"/>
              <a:gd name="p0x8" fmla="*/ 9084 w 9324"/>
              <a:gd name="p0y8" fmla="*/ 975 h 975"/>
              <a:gd name="p0x9" fmla="*/ 240 w 9324"/>
              <a:gd name="p0y9" fmla="*/ 975 h 975"/>
              <a:gd name="p0x10" fmla="*/ 107 w 9324"/>
              <a:gd name="p0y10" fmla="*/ 975 h 975"/>
              <a:gd name="p0x11" fmla="*/ 0 w 9324"/>
              <a:gd name="p0y11" fmla="*/ 867 h 975"/>
              <a:gd name="p0x12" fmla="*/ 0 w 9324"/>
              <a:gd name="p0y12" fmla="*/ 735 h 975"/>
              <a:gd name="p0x13" fmla="*/ 0 w 9324"/>
              <a:gd name="p0y13" fmla="*/ 240 h 975"/>
              <a:gd name="p0x14" fmla="*/ 0 w 9324"/>
              <a:gd name="p0y14" fmla="*/ 107 h 975"/>
              <a:gd name="p0x15" fmla="*/ 107 w 9324"/>
              <a:gd name="p0y15" fmla="*/ 0 h 975"/>
              <a:gd name="p0x16" fmla="*/ 240 w 9324"/>
              <a:gd name="p0y16" fmla="*/ 0 h 9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6518301" y="5995988"/>
            <a:ext cx="427411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实现</a:t>
            </a:r>
            <a:r>
              <a:rPr lang="en-US" sz="150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玩法</a:t>
            </a:r>
            <a:r>
              <a:rPr lang="en-US" altLang="zh-CN" sz="150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+</a:t>
            </a:r>
            <a:r>
              <a:rPr lang="zh-CN" altLang="en-US" sz="150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角色</a:t>
            </a:r>
            <a:r>
              <a:rPr lang="en-US" altLang="zh-CN" sz="150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双卖点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：三秒内完成品类锚定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5694680" y="2014220"/>
            <a:ext cx="5920740" cy="3638550"/>
          </a:xfrm>
          <a:custGeom>
            <a:avLst/>
            <a:gdLst>
              <a:gd name="sw" fmla="*/ 1 w 9324"/>
              <a:gd name="sh" fmla="*/ 1 h 5730"/>
              <a:gd name="mins" fmla="min sw sh"/>
              <a:gd name="dsw" fmla="+- 0 sw mins"/>
              <a:gd name="dsh" fmla="+- 0 sh mins"/>
              <a:gd name="p0x0" fmla="*/ 240 w 9324"/>
              <a:gd name="p0y0" fmla="*/ 0 h 5730"/>
              <a:gd name="p0x1" fmla="*/ 9084 w 9324"/>
              <a:gd name="p0y1" fmla="*/ 0 h 5730"/>
              <a:gd name="p0x2" fmla="*/ 9216 w 9324"/>
              <a:gd name="p0y2" fmla="*/ 0 h 5730"/>
              <a:gd name="p0x3" fmla="*/ 9324 w 9324"/>
              <a:gd name="p0y3" fmla="*/ 107 h 5730"/>
              <a:gd name="p0x4" fmla="*/ 9324 w 9324"/>
              <a:gd name="p0y4" fmla="*/ 240 h 5730"/>
              <a:gd name="p0x5" fmla="*/ 9324 w 9324"/>
              <a:gd name="p0y5" fmla="*/ 5490 h 5730"/>
              <a:gd name="p0x6" fmla="*/ 9324 w 9324"/>
              <a:gd name="p0y6" fmla="*/ 5622 h 5730"/>
              <a:gd name="p0x7" fmla="*/ 9216 w 9324"/>
              <a:gd name="p0y7" fmla="*/ 5730 h 5730"/>
              <a:gd name="p0x8" fmla="*/ 9084 w 9324"/>
              <a:gd name="p0y8" fmla="*/ 5730 h 5730"/>
              <a:gd name="p0x9" fmla="*/ 240 w 9324"/>
              <a:gd name="p0y9" fmla="*/ 5730 h 5730"/>
              <a:gd name="p0x10" fmla="*/ 107 w 9324"/>
              <a:gd name="p0y10" fmla="*/ 5730 h 5730"/>
              <a:gd name="p0x11" fmla="*/ 0 w 9324"/>
              <a:gd name="p0y11" fmla="*/ 5622 h 5730"/>
              <a:gd name="p0x12" fmla="*/ 0 w 9324"/>
              <a:gd name="p0y12" fmla="*/ 5490 h 5730"/>
              <a:gd name="p0x13" fmla="*/ 0 w 9324"/>
              <a:gd name="p0y13" fmla="*/ 240 h 5730"/>
              <a:gd name="p0x14" fmla="*/ 0 w 9324"/>
              <a:gd name="p0y14" fmla="*/ 107 h 5730"/>
              <a:gd name="p0x15" fmla="*/ 107 w 9324"/>
              <a:gd name="p0y15" fmla="*/ 0 h 5730"/>
              <a:gd name="p0x16" fmla="*/ 240 w 9324"/>
              <a:gd name="p0y16" fmla="*/ 0 h 57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5890241" y="2193608"/>
            <a:ext cx="55302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三秒完成品类锚定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5889625" y="27336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16667" b="-16667"/>
          <a:stretch>
            <a:fillRect/>
          </a:stretch>
        </p:blipFill>
        <p:spPr>
          <a:xfrm>
            <a:off x="5980430" y="2847975"/>
            <a:ext cx="238125" cy="1905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6423641" y="2718435"/>
            <a:ext cx="499683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实时战斗展示</a:t>
            </a:r>
            <a:endParaRPr b="1" spc="36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6423641" y="3042285"/>
            <a:ext cx="4926063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COST</a:t>
            </a:r>
            <a:r>
              <a:rPr 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技能槽、角色站位阵型、技能释放光效，快速说明</a:t>
            </a:r>
            <a:r>
              <a:rPr sz="135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策略战斗品类</a:t>
            </a:r>
            <a:endParaRPr sz="135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5889625" y="37579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4792" r="-4792"/>
          <a:stretch>
            <a:fillRect/>
          </a:stretch>
        </p:blipFill>
        <p:spPr>
          <a:xfrm>
            <a:off x="6015990" y="3872230"/>
            <a:ext cx="167005" cy="1905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6423641" y="3743268"/>
            <a:ext cx="499683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角色立绘呈现</a:t>
            </a:r>
            <a:endParaRPr b="1" spc="36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6423641" y="4067118"/>
            <a:ext cx="49968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精选人气角色动态姿势，兼顾角色吸引力，避免纯战斗画面过于硬核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0"/>
            </p:custDataLst>
          </p:nvPr>
        </p:nvSpPr>
        <p:spPr>
          <a:xfrm>
            <a:off x="5889625" y="47828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1061" t="-8824" r="-1061" b="-8824"/>
          <a:stretch>
            <a:fillRect/>
          </a:stretch>
        </p:blipFill>
        <p:spPr>
          <a:xfrm>
            <a:off x="5992495" y="4897120"/>
            <a:ext cx="213995" cy="190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6423641" y="4768101"/>
            <a:ext cx="3429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阅读路径设计</a:t>
            </a:r>
            <a:endParaRPr b="1" spc="36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5"/>
            </p:custDataLst>
          </p:nvPr>
        </p:nvSpPr>
        <p:spPr>
          <a:xfrm>
            <a:off x="6423641" y="5091951"/>
            <a:ext cx="36005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左功能右角色，符合从左到右的自然视觉习惯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26" name="图片 25" descr="post_object_image_348592826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2014228"/>
            <a:ext cx="5537448" cy="3118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图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Arial" panose="020B0604020202020204" pitchFamily="34" charset="0"/>
              </a:rPr>
              <a:t>3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</a:t>
            </a: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轻松家居：用生活感制造陪伴幻觉</a:t>
            </a:r>
            <a:endParaRPr lang="zh-CN" altLang="en-US"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7851140" y="1652270"/>
            <a:ext cx="3764280" cy="4819650"/>
          </a:xfrm>
          <a:custGeom>
            <a:avLst/>
            <a:gdLst>
              <a:gd name="sw" fmla="*/ 1 w 5927"/>
              <a:gd name="sh" fmla="*/ 1 h 7590"/>
              <a:gd name="mins" fmla="min sw sh"/>
              <a:gd name="dsw" fmla="+- 0 sw mins"/>
              <a:gd name="dsh" fmla="+- 0 sh mins"/>
              <a:gd name="p0x0" fmla="*/ 240 w 5927"/>
              <a:gd name="p0y0" fmla="*/ 0 h 7590"/>
              <a:gd name="p0x1" fmla="*/ 5687 w 5927"/>
              <a:gd name="p0y1" fmla="*/ 0 h 7590"/>
              <a:gd name="p0x2" fmla="*/ 5820 w 5927"/>
              <a:gd name="p0y2" fmla="*/ 0 h 7590"/>
              <a:gd name="p0x3" fmla="*/ 5927 w 5927"/>
              <a:gd name="p0y3" fmla="*/ 107 h 7590"/>
              <a:gd name="p0x4" fmla="*/ 5927 w 5927"/>
              <a:gd name="p0y4" fmla="*/ 240 h 7590"/>
              <a:gd name="p0x5" fmla="*/ 5927 w 5927"/>
              <a:gd name="p0y5" fmla="*/ 7350 h 7590"/>
              <a:gd name="p0x6" fmla="*/ 5927 w 5927"/>
              <a:gd name="p0y6" fmla="*/ 7482 h 7590"/>
              <a:gd name="p0x7" fmla="*/ 5820 w 5927"/>
              <a:gd name="p0y7" fmla="*/ 7590 h 7590"/>
              <a:gd name="p0x8" fmla="*/ 5687 w 5927"/>
              <a:gd name="p0y8" fmla="*/ 7590 h 7590"/>
              <a:gd name="p0x9" fmla="*/ 240 w 5927"/>
              <a:gd name="p0y9" fmla="*/ 7590 h 7590"/>
              <a:gd name="p0x10" fmla="*/ 107 w 5927"/>
              <a:gd name="p0y10" fmla="*/ 7590 h 7590"/>
              <a:gd name="p0x11" fmla="*/ 0 w 5927"/>
              <a:gd name="p0y11" fmla="*/ 7482 h 7590"/>
              <a:gd name="p0x12" fmla="*/ 0 w 5927"/>
              <a:gd name="p0y12" fmla="*/ 7350 h 7590"/>
              <a:gd name="p0x13" fmla="*/ 0 w 5927"/>
              <a:gd name="p0y13" fmla="*/ 240 h 7590"/>
              <a:gd name="p0x14" fmla="*/ 0 w 5927"/>
              <a:gd name="p0y14" fmla="*/ 107 h 7590"/>
              <a:gd name="p0x15" fmla="*/ 107 w 5927"/>
              <a:gd name="p0y15" fmla="*/ 0 h 7590"/>
              <a:gd name="p0x16" fmla="*/ 240 w 5927"/>
              <a:gd name="p0y16" fmla="*/ 0 h 75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8046692" y="1831658"/>
            <a:ext cx="337370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生活感制造陪伴幻觉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8046085" y="22993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8087325" y="2349370"/>
            <a:ext cx="47111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sz="1650" b="1">
              <a:solidFill>
                <a:srgbClr val="FF8AB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503892" y="2299355"/>
            <a:ext cx="1430351" cy="2981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并非</a:t>
            </a: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完美样板间</a:t>
            </a:r>
            <a:endParaRPr sz="15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8503892" y="2665600"/>
            <a:ext cx="291650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不是一尘不染、整齐排列，用户感到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与我无关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endParaRPr lang="en-US" altLang="zh-CN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8046085" y="3271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8087325" y="3321367"/>
            <a:ext cx="47111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sz="1650" b="1">
              <a:solidFill>
                <a:srgbClr val="FF8AB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8503892" y="3317081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杂乱生活痕迹</a:t>
            </a:r>
            <a:endParaRPr sz="15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1"/>
            </p:custDataLst>
          </p:nvPr>
        </p:nvSpPr>
        <p:spPr>
          <a:xfrm>
            <a:off x="8503892" y="3637597"/>
            <a:ext cx="291650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歪倒的靠垫、散落的玩偶，制造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她们真的住在这里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的错觉</a:t>
            </a:r>
            <a:endParaRPr lang="zh-CN" altLang="en-US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8046085" y="42437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8087325" y="4293365"/>
            <a:ext cx="47111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sz="1650" b="1">
              <a:solidFill>
                <a:srgbClr val="FF8AB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8503892" y="4289079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放松的睡姿</a:t>
            </a:r>
            <a:endParaRPr sz="15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8503892" y="4609595"/>
            <a:ext cx="291650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毫无防备的姿态传递安全感，暗示玩家是被接纳的存在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046085" y="5330190"/>
            <a:ext cx="3373120" cy="946150"/>
            <a:chOff x="12671" y="8394"/>
            <a:chExt cx="5312" cy="1490"/>
          </a:xfrm>
        </p:grpSpPr>
        <p:sp>
          <p:nvSpPr>
            <p:cNvPr id="22" name="任意多边形 21"/>
            <p:cNvSpPr/>
            <p:nvPr>
              <p:custDataLst>
                <p:tags r:id="rId16"/>
              </p:custDataLst>
            </p:nvPr>
          </p:nvSpPr>
          <p:spPr>
            <a:xfrm>
              <a:off x="12671" y="8394"/>
              <a:ext cx="5313" cy="1490"/>
            </a:xfrm>
            <a:custGeom>
              <a:avLst/>
              <a:gdLst>
                <a:gd name="sw" fmla="*/ 1 w 5312"/>
                <a:gd name="sh" fmla="*/ 1 h 1490"/>
                <a:gd name="mins" fmla="min sw sh"/>
                <a:gd name="dsw" fmla="+- 0 sw mins"/>
                <a:gd name="dsh" fmla="+- 0 sh mins"/>
                <a:gd name="p0x0" fmla="*/ 0 w 5312"/>
                <a:gd name="p0y0" fmla="*/ 0 h 1490"/>
                <a:gd name="p0x1" fmla="*/ 5312 w 5312"/>
                <a:gd name="p0y1" fmla="*/ 0 h 1490"/>
                <a:gd name="p0x2" fmla="*/ 5312 w 5312"/>
                <a:gd name="p0y2" fmla="*/ 1490 h 1490"/>
                <a:gd name="p0x3" fmla="*/ 0 w 5312"/>
                <a:gd name="p0y3" fmla="*/ 1490 h 1490"/>
                <a:gd name="p0x4" fmla="*/ 0 w 5312"/>
                <a:gd name="p0y4" fmla="*/ 0 h 14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17"/>
              </p:custDataLst>
            </p:nvPr>
          </p:nvSpPr>
          <p:spPr>
            <a:xfrm>
              <a:off x="12671" y="8394"/>
              <a:ext cx="5313" cy="15"/>
            </a:xfrm>
            <a:custGeom>
              <a:avLst/>
              <a:gdLst>
                <a:gd name="sw" fmla="*/ 1 w 5312"/>
                <a:gd name="sh" fmla="*/ 1 h 15"/>
                <a:gd name="mins" fmla="min sw sh"/>
                <a:gd name="dsw" fmla="+- 0 sw mins"/>
                <a:gd name="dsh" fmla="+- 0 sh mins"/>
                <a:gd name="p0x0" fmla="*/ 0 w 5312"/>
                <a:gd name="p0y0" fmla="*/ 0 h 15"/>
                <a:gd name="p0x1" fmla="*/ 5312 w 5312"/>
                <a:gd name="p0y1" fmla="*/ 0 h 15"/>
                <a:gd name="p0x2" fmla="*/ 5312 w 5312"/>
                <a:gd name="p0y2" fmla="*/ 15 h 15"/>
                <a:gd name="p0x3" fmla="*/ 0 w 5312"/>
                <a:gd name="p0y3" fmla="*/ 15 h 15"/>
                <a:gd name="p0x4" fmla="*/ 0 w 5312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D8E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8046692" y="5438861"/>
            <a:ext cx="3373707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目标不是展示功能，而是触发</a:t>
            </a:r>
            <a:r>
              <a:rPr sz="135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情感投射</a:t>
            </a:r>
            <a:r>
              <a:rPr lang="en-US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当用户开始想象</a:t>
            </a:r>
            <a:r>
              <a:rPr lang="en-US" altLang="zh-CN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我也想和她们一起生活</a:t>
            </a:r>
            <a:r>
              <a:rPr lang="en-US" altLang="zh-CN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，下载决策的天平已经倾斜</a:t>
            </a:r>
            <a:endParaRPr lang="zh-CN" altLang="en-US" sz="135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2" name="图片 1" descr="post_object_image_238212109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2355" y="1150062"/>
            <a:ext cx="7439907" cy="4189623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0"/>
            </p:custDataLst>
          </p:nvPr>
        </p:nvSpPr>
        <p:spPr>
          <a:xfrm>
            <a:off x="1814026" y="5807990"/>
            <a:ext cx="417573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21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对于</a:t>
            </a:r>
            <a:r>
              <a:rPr lang="zh-CN" altLang="en-US" sz="21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二游来说生活感是大于玩法的，运营也陪伴玩家的一种方式</a:t>
            </a:r>
            <a:endParaRPr sz="210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图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Arial" panose="020B0604020202020204" pitchFamily="34" charset="0"/>
              </a:rPr>
              <a:t>4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</a:t>
            </a: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特别邀约：情感连接才是留存密码</a:t>
            </a:r>
            <a:endParaRPr lang="zh-CN" altLang="en-US"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75945" y="3652520"/>
            <a:ext cx="11039475" cy="2819400"/>
          </a:xfrm>
          <a:custGeom>
            <a:avLst/>
            <a:gdLst>
              <a:gd name="sw" fmla="*/ 1 w 17385"/>
              <a:gd name="sh" fmla="*/ 1 h 4440"/>
              <a:gd name="mins" fmla="min sw sh"/>
              <a:gd name="dsw" fmla="+- 0 sw mins"/>
              <a:gd name="dsh" fmla="+- 0 sh mins"/>
              <a:gd name="p0x0" fmla="*/ 240 w 17385"/>
              <a:gd name="p0y0" fmla="*/ 0 h 4440"/>
              <a:gd name="p0x1" fmla="*/ 17145 w 17385"/>
              <a:gd name="p0y1" fmla="*/ 0 h 4440"/>
              <a:gd name="p0x2" fmla="*/ 17277 w 17385"/>
              <a:gd name="p0y2" fmla="*/ 0 h 4440"/>
              <a:gd name="p0x3" fmla="*/ 17385 w 17385"/>
              <a:gd name="p0y3" fmla="*/ 107 h 4440"/>
              <a:gd name="p0x4" fmla="*/ 17385 w 17385"/>
              <a:gd name="p0y4" fmla="*/ 240 h 4440"/>
              <a:gd name="p0x5" fmla="*/ 17385 w 17385"/>
              <a:gd name="p0y5" fmla="*/ 4200 h 4440"/>
              <a:gd name="p0x6" fmla="*/ 17385 w 17385"/>
              <a:gd name="p0y6" fmla="*/ 4332 h 4440"/>
              <a:gd name="p0x7" fmla="*/ 17277 w 17385"/>
              <a:gd name="p0y7" fmla="*/ 4440 h 4440"/>
              <a:gd name="p0x8" fmla="*/ 17145 w 17385"/>
              <a:gd name="p0y8" fmla="*/ 4440 h 4440"/>
              <a:gd name="p0x9" fmla="*/ 240 w 17385"/>
              <a:gd name="p0y9" fmla="*/ 4440 h 4440"/>
              <a:gd name="p0x10" fmla="*/ 107 w 17385"/>
              <a:gd name="p0y10" fmla="*/ 4440 h 4440"/>
              <a:gd name="p0x11" fmla="*/ 0 w 17385"/>
              <a:gd name="p0y11" fmla="*/ 4332 h 4440"/>
              <a:gd name="p0x12" fmla="*/ 0 w 17385"/>
              <a:gd name="p0y12" fmla="*/ 4200 h 4440"/>
              <a:gd name="p0x13" fmla="*/ 0 w 17385"/>
              <a:gd name="p0y13" fmla="*/ 240 h 4440"/>
              <a:gd name="p0x14" fmla="*/ 0 w 17385"/>
              <a:gd name="p0y14" fmla="*/ 107 h 4440"/>
              <a:gd name="p0x15" fmla="*/ 107 w 17385"/>
              <a:gd name="p0y15" fmla="*/ 0 h 4440"/>
              <a:gd name="p0x16" fmla="*/ 240 w 17385"/>
              <a:gd name="p0y16" fmla="*/ 0 h 44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71525" y="3831908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策略：场景选择与动作暗示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775970" y="4300220"/>
            <a:ext cx="3413125" cy="1190625"/>
          </a:xfrm>
          <a:custGeom>
            <a:avLst/>
            <a:gdLst>
              <a:gd name="sw" fmla="*/ 1 w 5375"/>
              <a:gd name="sh" fmla="*/ 1 h 1875"/>
              <a:gd name="mins" fmla="min sw sh"/>
              <a:gd name="dsw" fmla="+- 0 sw mins"/>
              <a:gd name="dsh" fmla="+- 0 sh mins"/>
              <a:gd name="p0x0" fmla="*/ 240 w 5375"/>
              <a:gd name="p0y0" fmla="*/ 0 h 1875"/>
              <a:gd name="p0x1" fmla="*/ 5135 w 5375"/>
              <a:gd name="p0y1" fmla="*/ 0 h 1875"/>
              <a:gd name="p0x2" fmla="*/ 5267 w 5375"/>
              <a:gd name="p0y2" fmla="*/ 0 h 1875"/>
              <a:gd name="p0x3" fmla="*/ 5375 w 5375"/>
              <a:gd name="p0y3" fmla="*/ 107 h 1875"/>
              <a:gd name="p0x4" fmla="*/ 5375 w 5375"/>
              <a:gd name="p0y4" fmla="*/ 240 h 1875"/>
              <a:gd name="p0x5" fmla="*/ 5375 w 5375"/>
              <a:gd name="p0y5" fmla="*/ 1635 h 1875"/>
              <a:gd name="p0x6" fmla="*/ 5375 w 5375"/>
              <a:gd name="p0y6" fmla="*/ 1767 h 1875"/>
              <a:gd name="p0x7" fmla="*/ 5267 w 5375"/>
              <a:gd name="p0y7" fmla="*/ 1875 h 1875"/>
              <a:gd name="p0x8" fmla="*/ 5135 w 5375"/>
              <a:gd name="p0y8" fmla="*/ 1875 h 1875"/>
              <a:gd name="p0x9" fmla="*/ 240 w 5375"/>
              <a:gd name="p0y9" fmla="*/ 1875 h 1875"/>
              <a:gd name="p0x10" fmla="*/ 107 w 5375"/>
              <a:gd name="p0y10" fmla="*/ 1875 h 1875"/>
              <a:gd name="p0x11" fmla="*/ 0 w 5375"/>
              <a:gd name="p0y11" fmla="*/ 1767 h 1875"/>
              <a:gd name="p0x12" fmla="*/ 0 w 5375"/>
              <a:gd name="p0y12" fmla="*/ 1635 h 1875"/>
              <a:gd name="p0x13" fmla="*/ 0 w 5375"/>
              <a:gd name="p0y13" fmla="*/ 240 h 1875"/>
              <a:gd name="p0x14" fmla="*/ 0 w 5375"/>
              <a:gd name="p0y14" fmla="*/ 107 h 1875"/>
              <a:gd name="p0x15" fmla="*/ 107 w 5375"/>
              <a:gd name="p0y15" fmla="*/ 0 h 1875"/>
              <a:gd name="p0x16" fmla="*/ 240 w 537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895350" y="4404360"/>
            <a:ext cx="31750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人气</a:t>
            </a: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角色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895350" y="4804410"/>
            <a:ext cx="31750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精美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cg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就是这个游戏的卖点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，</a:t>
            </a: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约会场景天然携带亲密语境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4389120" y="4300220"/>
            <a:ext cx="3413125" cy="1190625"/>
          </a:xfrm>
          <a:custGeom>
            <a:avLst/>
            <a:gdLst>
              <a:gd name="sw" fmla="*/ 1 w 5375"/>
              <a:gd name="sh" fmla="*/ 1 h 1875"/>
              <a:gd name="mins" fmla="min sw sh"/>
              <a:gd name="dsw" fmla="+- 0 sw mins"/>
              <a:gd name="dsh" fmla="+- 0 sh mins"/>
              <a:gd name="p0x0" fmla="*/ 240 w 5375"/>
              <a:gd name="p0y0" fmla="*/ 0 h 1875"/>
              <a:gd name="p0x1" fmla="*/ 5135 w 5375"/>
              <a:gd name="p0y1" fmla="*/ 0 h 1875"/>
              <a:gd name="p0x2" fmla="*/ 5267 w 5375"/>
              <a:gd name="p0y2" fmla="*/ 0 h 1875"/>
              <a:gd name="p0x3" fmla="*/ 5375 w 5375"/>
              <a:gd name="p0y3" fmla="*/ 107 h 1875"/>
              <a:gd name="p0x4" fmla="*/ 5375 w 5375"/>
              <a:gd name="p0y4" fmla="*/ 240 h 1875"/>
              <a:gd name="p0x5" fmla="*/ 5375 w 5375"/>
              <a:gd name="p0y5" fmla="*/ 1635 h 1875"/>
              <a:gd name="p0x6" fmla="*/ 5375 w 5375"/>
              <a:gd name="p0y6" fmla="*/ 1767 h 1875"/>
              <a:gd name="p0x7" fmla="*/ 5267 w 5375"/>
              <a:gd name="p0y7" fmla="*/ 1875 h 1875"/>
              <a:gd name="p0x8" fmla="*/ 5135 w 5375"/>
              <a:gd name="p0y8" fmla="*/ 1875 h 1875"/>
              <a:gd name="p0x9" fmla="*/ 240 w 5375"/>
              <a:gd name="p0y9" fmla="*/ 1875 h 1875"/>
              <a:gd name="p0x10" fmla="*/ 107 w 5375"/>
              <a:gd name="p0y10" fmla="*/ 1875 h 1875"/>
              <a:gd name="p0x11" fmla="*/ 0 w 5375"/>
              <a:gd name="p0y11" fmla="*/ 1767 h 1875"/>
              <a:gd name="p0x12" fmla="*/ 0 w 5375"/>
              <a:gd name="p0y12" fmla="*/ 1635 h 1875"/>
              <a:gd name="p0x13" fmla="*/ 0 w 5375"/>
              <a:gd name="p0y13" fmla="*/ 240 h 1875"/>
              <a:gd name="p0x14" fmla="*/ 0 w 5375"/>
              <a:gd name="p0y14" fmla="*/ 107 h 1875"/>
              <a:gd name="p0x15" fmla="*/ 107 w 5375"/>
              <a:gd name="p0y15" fmla="*/ 0 h 1875"/>
              <a:gd name="p0x16" fmla="*/ 240 w 537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4508526" y="4404360"/>
            <a:ext cx="31750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邀约</a:t>
            </a: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暗示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4508526" y="4804410"/>
            <a:ext cx="31750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角色主动建立连接，暗示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她也想认识你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，而非玩家单向操作</a:t>
            </a:r>
            <a:endParaRPr lang="zh-CN" altLang="en-US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8002270" y="4300220"/>
            <a:ext cx="3413125" cy="1190625"/>
          </a:xfrm>
          <a:custGeom>
            <a:avLst/>
            <a:gdLst>
              <a:gd name="sw" fmla="*/ 1 w 5375"/>
              <a:gd name="sh" fmla="*/ 1 h 1875"/>
              <a:gd name="mins" fmla="min sw sh"/>
              <a:gd name="dsw" fmla="+- 0 sw mins"/>
              <a:gd name="dsh" fmla="+- 0 sh mins"/>
              <a:gd name="p0x0" fmla="*/ 240 w 5375"/>
              <a:gd name="p0y0" fmla="*/ 0 h 1875"/>
              <a:gd name="p0x1" fmla="*/ 5135 w 5375"/>
              <a:gd name="p0y1" fmla="*/ 0 h 1875"/>
              <a:gd name="p0x2" fmla="*/ 5267 w 5375"/>
              <a:gd name="p0y2" fmla="*/ 0 h 1875"/>
              <a:gd name="p0x3" fmla="*/ 5375 w 5375"/>
              <a:gd name="p0y3" fmla="*/ 107 h 1875"/>
              <a:gd name="p0x4" fmla="*/ 5375 w 5375"/>
              <a:gd name="p0y4" fmla="*/ 240 h 1875"/>
              <a:gd name="p0x5" fmla="*/ 5375 w 5375"/>
              <a:gd name="p0y5" fmla="*/ 1635 h 1875"/>
              <a:gd name="p0x6" fmla="*/ 5375 w 5375"/>
              <a:gd name="p0y6" fmla="*/ 1767 h 1875"/>
              <a:gd name="p0x7" fmla="*/ 5267 w 5375"/>
              <a:gd name="p0y7" fmla="*/ 1875 h 1875"/>
              <a:gd name="p0x8" fmla="*/ 5135 w 5375"/>
              <a:gd name="p0y8" fmla="*/ 1875 h 1875"/>
              <a:gd name="p0x9" fmla="*/ 240 w 5375"/>
              <a:gd name="p0y9" fmla="*/ 1875 h 1875"/>
              <a:gd name="p0x10" fmla="*/ 107 w 5375"/>
              <a:gd name="p0y10" fmla="*/ 1875 h 1875"/>
              <a:gd name="p0x11" fmla="*/ 0 w 5375"/>
              <a:gd name="p0y11" fmla="*/ 1767 h 1875"/>
              <a:gd name="p0x12" fmla="*/ 0 w 5375"/>
              <a:gd name="p0y12" fmla="*/ 1635 h 1875"/>
              <a:gd name="p0x13" fmla="*/ 0 w 5375"/>
              <a:gd name="p0y13" fmla="*/ 240 h 1875"/>
              <a:gd name="p0x14" fmla="*/ 0 w 5375"/>
              <a:gd name="p0y14" fmla="*/ 107 h 1875"/>
              <a:gd name="p0x15" fmla="*/ 107 w 5375"/>
              <a:gd name="p0y15" fmla="*/ 0 h 1875"/>
              <a:gd name="p0x16" fmla="*/ 240 w 537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8121701" y="4404360"/>
            <a:ext cx="31750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情感</a:t>
            </a: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链接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8121701" y="4804410"/>
            <a:ext cx="31750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用户问题从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这个游戏好玩吗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变成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我想和这些角色在一起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endParaRPr lang="en-US" altLang="zh-CN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3"/>
            </p:custDataLst>
          </p:nvPr>
        </p:nvSpPr>
        <p:spPr>
          <a:xfrm>
            <a:off x="771525" y="5610225"/>
            <a:ext cx="10648950" cy="666750"/>
          </a:xfrm>
          <a:custGeom>
            <a:avLst/>
            <a:gdLst>
              <a:gd name="sw" fmla="*/ 1 w 16770"/>
              <a:gd name="sh" fmla="*/ 1 h 1050"/>
              <a:gd name="mins" fmla="min sw sh"/>
              <a:gd name="dsw" fmla="+- 0 sw mins"/>
              <a:gd name="dsh" fmla="+- 0 sh mins"/>
              <a:gd name="p0x0" fmla="*/ 240 w 16770"/>
              <a:gd name="p0y0" fmla="*/ 0 h 1050"/>
              <a:gd name="p0x1" fmla="*/ 16530 w 16770"/>
              <a:gd name="p0y1" fmla="*/ 0 h 1050"/>
              <a:gd name="p0x2" fmla="*/ 16662 w 16770"/>
              <a:gd name="p0y2" fmla="*/ 0 h 1050"/>
              <a:gd name="p0x3" fmla="*/ 16770 w 16770"/>
              <a:gd name="p0y3" fmla="*/ 107 h 1050"/>
              <a:gd name="p0x4" fmla="*/ 16770 w 16770"/>
              <a:gd name="p0y4" fmla="*/ 240 h 1050"/>
              <a:gd name="p0x5" fmla="*/ 16770 w 16770"/>
              <a:gd name="p0y5" fmla="*/ 810 h 1050"/>
              <a:gd name="p0x6" fmla="*/ 16770 w 16770"/>
              <a:gd name="p0y6" fmla="*/ 942 h 1050"/>
              <a:gd name="p0x7" fmla="*/ 16662 w 16770"/>
              <a:gd name="p0y7" fmla="*/ 1050 h 1050"/>
              <a:gd name="p0x8" fmla="*/ 16530 w 16770"/>
              <a:gd name="p0y8" fmla="*/ 1050 h 1050"/>
              <a:gd name="p0x9" fmla="*/ 240 w 16770"/>
              <a:gd name="p0y9" fmla="*/ 1050 h 1050"/>
              <a:gd name="p0x10" fmla="*/ 107 w 16770"/>
              <a:gd name="p0y10" fmla="*/ 1050 h 1050"/>
              <a:gd name="p0x11" fmla="*/ 0 w 16770"/>
              <a:gd name="p0y11" fmla="*/ 942 h 1050"/>
              <a:gd name="p0x12" fmla="*/ 0 w 16770"/>
              <a:gd name="p0y12" fmla="*/ 810 h 1050"/>
              <a:gd name="p0x13" fmla="*/ 0 w 16770"/>
              <a:gd name="p0y13" fmla="*/ 240 h 1050"/>
              <a:gd name="p0x14" fmla="*/ 0 w 16770"/>
              <a:gd name="p0y14" fmla="*/ 107 h 1050"/>
              <a:gd name="p0x15" fmla="*/ 107 w 16770"/>
              <a:gd name="p0y15" fmla="*/ 0 h 1050"/>
              <a:gd name="p0x16" fmla="*/ 240 w 1677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962025" y="5785485"/>
            <a:ext cx="731535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长期留存的真正驱动力并非数值成长，而是角色陪伴的</a:t>
            </a:r>
            <a:r>
              <a:rPr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持续情感供给</a:t>
            </a:r>
            <a:endParaRPr b="1">
              <a:solidFill>
                <a:srgbClr val="FF6B9E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2" name="图片 1" descr="post_object_image_29388485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26657" y="835110"/>
            <a:ext cx="5931898" cy="3340421"/>
          </a:xfrm>
          <a:prstGeom prst="rect">
            <a:avLst/>
          </a:prstGeom>
        </p:spPr>
      </p:pic>
      <p:sp>
        <p:nvSpPr>
          <p:cNvPr id="6" name="任意多边形 5"/>
          <p:cNvSpPr/>
          <p:nvPr>
            <p:custDataLst>
              <p:tags r:id="rId16"/>
            </p:custDataLst>
          </p:nvPr>
        </p:nvSpPr>
        <p:spPr>
          <a:xfrm>
            <a:off x="533420" y="981940"/>
            <a:ext cx="4786069" cy="2534828"/>
          </a:xfrm>
          <a:custGeom>
            <a:avLst/>
            <a:gdLst>
              <a:gd name="sw" fmla="*/ 1 w 9324"/>
              <a:gd name="sh" fmla="*/ 1 h 5730"/>
              <a:gd name="mins" fmla="min sw sh"/>
              <a:gd name="dsw" fmla="+- 0 sw mins"/>
              <a:gd name="dsh" fmla="+- 0 sh mins"/>
              <a:gd name="p0x0" fmla="*/ 240 w 9324"/>
              <a:gd name="p0y0" fmla="*/ 0 h 5730"/>
              <a:gd name="p0x1" fmla="*/ 9084 w 9324"/>
              <a:gd name="p0y1" fmla="*/ 0 h 5730"/>
              <a:gd name="p0x2" fmla="*/ 9216 w 9324"/>
              <a:gd name="p0y2" fmla="*/ 0 h 5730"/>
              <a:gd name="p0x3" fmla="*/ 9324 w 9324"/>
              <a:gd name="p0y3" fmla="*/ 107 h 5730"/>
              <a:gd name="p0x4" fmla="*/ 9324 w 9324"/>
              <a:gd name="p0y4" fmla="*/ 240 h 5730"/>
              <a:gd name="p0x5" fmla="*/ 9324 w 9324"/>
              <a:gd name="p0y5" fmla="*/ 5490 h 5730"/>
              <a:gd name="p0x6" fmla="*/ 9324 w 9324"/>
              <a:gd name="p0y6" fmla="*/ 5622 h 5730"/>
              <a:gd name="p0x7" fmla="*/ 9216 w 9324"/>
              <a:gd name="p0y7" fmla="*/ 5730 h 5730"/>
              <a:gd name="p0x8" fmla="*/ 9084 w 9324"/>
              <a:gd name="p0y8" fmla="*/ 5730 h 5730"/>
              <a:gd name="p0x9" fmla="*/ 240 w 9324"/>
              <a:gd name="p0y9" fmla="*/ 5730 h 5730"/>
              <a:gd name="p0x10" fmla="*/ 107 w 9324"/>
              <a:gd name="p0y10" fmla="*/ 5730 h 5730"/>
              <a:gd name="p0x11" fmla="*/ 0 w 9324"/>
              <a:gd name="p0y11" fmla="*/ 5622 h 5730"/>
              <a:gd name="p0x12" fmla="*/ 0 w 9324"/>
              <a:gd name="p0y12" fmla="*/ 5490 h 5730"/>
              <a:gd name="p0x13" fmla="*/ 0 w 9324"/>
              <a:gd name="p0y13" fmla="*/ 240 h 5730"/>
              <a:gd name="p0x14" fmla="*/ 0 w 9324"/>
              <a:gd name="p0y14" fmla="*/ 107 h 5730"/>
              <a:gd name="p0x15" fmla="*/ 107 w 9324"/>
              <a:gd name="p0y15" fmla="*/ 0 h 5730"/>
              <a:gd name="p0x16" fmla="*/ 240 w 9324"/>
              <a:gd name="p0y16" fmla="*/ 0 h 57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771576" y="1789106"/>
            <a:ext cx="4234882" cy="143182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这其实是这个游戏的核心卖点之一，将本就高人气角色的特别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CG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展示出来，这个系统不仅仅满足了玩家收集的欲望，也丰富了人设，好的人设进一步反作用让玩家更想要收集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771576" y="1364257"/>
            <a:ext cx="31750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zh-CN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CG</a:t>
            </a: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收集和特别剧情结合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图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Arial" panose="020B0604020202020204" pitchFamily="34" charset="0"/>
              </a:rPr>
              <a:t>5</a:t>
            </a:r>
            <a:r>
              <a:rPr lang="en-US" altLang="zh-CN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</a:t>
            </a:r>
            <a:r>
              <a:rPr lang="zh-CN" altLang="en-US"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特色玩法：</a:t>
            </a:r>
            <a:endParaRPr lang="zh-CN" altLang="en-US"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76312" y="3680483"/>
            <a:ext cx="11039475" cy="2819400"/>
          </a:xfrm>
          <a:custGeom>
            <a:avLst/>
            <a:gdLst>
              <a:gd name="sw" fmla="*/ 1 w 17385"/>
              <a:gd name="sh" fmla="*/ 1 h 4440"/>
              <a:gd name="mins" fmla="min sw sh"/>
              <a:gd name="dsw" fmla="+- 0 sw mins"/>
              <a:gd name="dsh" fmla="+- 0 sh mins"/>
              <a:gd name="p0x0" fmla="*/ 240 w 17385"/>
              <a:gd name="p0y0" fmla="*/ 0 h 4440"/>
              <a:gd name="p0x1" fmla="*/ 17145 w 17385"/>
              <a:gd name="p0y1" fmla="*/ 0 h 4440"/>
              <a:gd name="p0x2" fmla="*/ 17277 w 17385"/>
              <a:gd name="p0y2" fmla="*/ 0 h 4440"/>
              <a:gd name="p0x3" fmla="*/ 17385 w 17385"/>
              <a:gd name="p0y3" fmla="*/ 107 h 4440"/>
              <a:gd name="p0x4" fmla="*/ 17385 w 17385"/>
              <a:gd name="p0y4" fmla="*/ 240 h 4440"/>
              <a:gd name="p0x5" fmla="*/ 17385 w 17385"/>
              <a:gd name="p0y5" fmla="*/ 4200 h 4440"/>
              <a:gd name="p0x6" fmla="*/ 17385 w 17385"/>
              <a:gd name="p0y6" fmla="*/ 4332 h 4440"/>
              <a:gd name="p0x7" fmla="*/ 17277 w 17385"/>
              <a:gd name="p0y7" fmla="*/ 4440 h 4440"/>
              <a:gd name="p0x8" fmla="*/ 17145 w 17385"/>
              <a:gd name="p0y8" fmla="*/ 4440 h 4440"/>
              <a:gd name="p0x9" fmla="*/ 240 w 17385"/>
              <a:gd name="p0y9" fmla="*/ 4440 h 4440"/>
              <a:gd name="p0x10" fmla="*/ 107 w 17385"/>
              <a:gd name="p0y10" fmla="*/ 4440 h 4440"/>
              <a:gd name="p0x11" fmla="*/ 0 w 17385"/>
              <a:gd name="p0y11" fmla="*/ 4332 h 4440"/>
              <a:gd name="p0x12" fmla="*/ 0 w 17385"/>
              <a:gd name="p0y12" fmla="*/ 4200 h 4440"/>
              <a:gd name="p0x13" fmla="*/ 0 w 17385"/>
              <a:gd name="p0y13" fmla="*/ 240 h 4440"/>
              <a:gd name="p0x14" fmla="*/ 0 w 17385"/>
              <a:gd name="p0y14" fmla="*/ 107 h 4440"/>
              <a:gd name="p0x15" fmla="*/ 107 w 17385"/>
              <a:gd name="p0y15" fmla="*/ 0 h 4440"/>
              <a:gd name="p0x16" fmla="*/ 240 w 17385"/>
              <a:gd name="p0y16" fmla="*/ 0 h 44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8108086" y="1158734"/>
            <a:ext cx="3463400" cy="2570782"/>
          </a:xfrm>
          <a:custGeom>
            <a:avLst/>
            <a:gdLst>
              <a:gd name="sw" fmla="*/ 1 w 5375"/>
              <a:gd name="sh" fmla="*/ 1 h 1875"/>
              <a:gd name="mins" fmla="min sw sh"/>
              <a:gd name="dsw" fmla="+- 0 sw mins"/>
              <a:gd name="dsh" fmla="+- 0 sh mins"/>
              <a:gd name="p0x0" fmla="*/ 240 w 5375"/>
              <a:gd name="p0y0" fmla="*/ 0 h 1875"/>
              <a:gd name="p0x1" fmla="*/ 5135 w 5375"/>
              <a:gd name="p0y1" fmla="*/ 0 h 1875"/>
              <a:gd name="p0x2" fmla="*/ 5267 w 5375"/>
              <a:gd name="p0y2" fmla="*/ 0 h 1875"/>
              <a:gd name="p0x3" fmla="*/ 5375 w 5375"/>
              <a:gd name="p0y3" fmla="*/ 107 h 1875"/>
              <a:gd name="p0x4" fmla="*/ 5375 w 5375"/>
              <a:gd name="p0y4" fmla="*/ 240 h 1875"/>
              <a:gd name="p0x5" fmla="*/ 5375 w 5375"/>
              <a:gd name="p0y5" fmla="*/ 1635 h 1875"/>
              <a:gd name="p0x6" fmla="*/ 5375 w 5375"/>
              <a:gd name="p0y6" fmla="*/ 1767 h 1875"/>
              <a:gd name="p0x7" fmla="*/ 5267 w 5375"/>
              <a:gd name="p0y7" fmla="*/ 1875 h 1875"/>
              <a:gd name="p0x8" fmla="*/ 5135 w 5375"/>
              <a:gd name="p0y8" fmla="*/ 1875 h 1875"/>
              <a:gd name="p0x9" fmla="*/ 240 w 5375"/>
              <a:gd name="p0y9" fmla="*/ 1875 h 1875"/>
              <a:gd name="p0x10" fmla="*/ 107 w 5375"/>
              <a:gd name="p0y10" fmla="*/ 1875 h 1875"/>
              <a:gd name="p0x11" fmla="*/ 0 w 5375"/>
              <a:gd name="p0y11" fmla="*/ 1767 h 1875"/>
              <a:gd name="p0x12" fmla="*/ 0 w 5375"/>
              <a:gd name="p0y12" fmla="*/ 1635 h 1875"/>
              <a:gd name="p0x13" fmla="*/ 0 w 5375"/>
              <a:gd name="p0y13" fmla="*/ 240 h 1875"/>
              <a:gd name="p0x14" fmla="*/ 0 w 5375"/>
              <a:gd name="p0y14" fmla="*/ 107 h 1875"/>
              <a:gd name="p0x15" fmla="*/ 107 w 5375"/>
              <a:gd name="p0y15" fmla="*/ 0 h 1875"/>
              <a:gd name="p0x16" fmla="*/ 240 w 537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我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8277350" y="1608904"/>
            <a:ext cx="3175025" cy="2211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桃</a:t>
            </a: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信系统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5"/>
            </p:custDataLst>
          </p:nvPr>
        </p:nvSpPr>
        <p:spPr>
          <a:xfrm>
            <a:off x="8133155" y="4071601"/>
            <a:ext cx="3413125" cy="1190625"/>
          </a:xfrm>
          <a:custGeom>
            <a:avLst/>
            <a:gdLst>
              <a:gd name="sw" fmla="*/ 1 w 5375"/>
              <a:gd name="sh" fmla="*/ 1 h 1875"/>
              <a:gd name="mins" fmla="min sw sh"/>
              <a:gd name="dsw" fmla="+- 0 sw mins"/>
              <a:gd name="dsh" fmla="+- 0 sh mins"/>
              <a:gd name="p0x0" fmla="*/ 240 w 5375"/>
              <a:gd name="p0y0" fmla="*/ 0 h 1875"/>
              <a:gd name="p0x1" fmla="*/ 5135 w 5375"/>
              <a:gd name="p0y1" fmla="*/ 0 h 1875"/>
              <a:gd name="p0x2" fmla="*/ 5267 w 5375"/>
              <a:gd name="p0y2" fmla="*/ 0 h 1875"/>
              <a:gd name="p0x3" fmla="*/ 5375 w 5375"/>
              <a:gd name="p0y3" fmla="*/ 107 h 1875"/>
              <a:gd name="p0x4" fmla="*/ 5375 w 5375"/>
              <a:gd name="p0y4" fmla="*/ 240 h 1875"/>
              <a:gd name="p0x5" fmla="*/ 5375 w 5375"/>
              <a:gd name="p0y5" fmla="*/ 1635 h 1875"/>
              <a:gd name="p0x6" fmla="*/ 5375 w 5375"/>
              <a:gd name="p0y6" fmla="*/ 1767 h 1875"/>
              <a:gd name="p0x7" fmla="*/ 5267 w 5375"/>
              <a:gd name="p0y7" fmla="*/ 1875 h 1875"/>
              <a:gd name="p0x8" fmla="*/ 5135 w 5375"/>
              <a:gd name="p0y8" fmla="*/ 1875 h 1875"/>
              <a:gd name="p0x9" fmla="*/ 240 w 5375"/>
              <a:gd name="p0y9" fmla="*/ 1875 h 1875"/>
              <a:gd name="p0x10" fmla="*/ 107 w 5375"/>
              <a:gd name="p0y10" fmla="*/ 1875 h 1875"/>
              <a:gd name="p0x11" fmla="*/ 0 w 5375"/>
              <a:gd name="p0y11" fmla="*/ 1767 h 1875"/>
              <a:gd name="p0x12" fmla="*/ 0 w 5375"/>
              <a:gd name="p0y12" fmla="*/ 1635 h 1875"/>
              <a:gd name="p0x13" fmla="*/ 0 w 5375"/>
              <a:gd name="p0y13" fmla="*/ 240 h 1875"/>
              <a:gd name="p0x14" fmla="*/ 0 w 5375"/>
              <a:gd name="p0y14" fmla="*/ 107 h 1875"/>
              <a:gd name="p0x15" fmla="*/ 107 w 5375"/>
              <a:gd name="p0y15" fmla="*/ 0 h 1875"/>
              <a:gd name="p0x16" fmla="*/ 240 w 537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771525" y="5610225"/>
            <a:ext cx="10648950" cy="666750"/>
          </a:xfrm>
          <a:custGeom>
            <a:avLst/>
            <a:gdLst>
              <a:gd name="sw" fmla="*/ 1 w 16770"/>
              <a:gd name="sh" fmla="*/ 1 h 1050"/>
              <a:gd name="mins" fmla="min sw sh"/>
              <a:gd name="dsw" fmla="+- 0 sw mins"/>
              <a:gd name="dsh" fmla="+- 0 sh mins"/>
              <a:gd name="p0x0" fmla="*/ 240 w 16770"/>
              <a:gd name="p0y0" fmla="*/ 0 h 1050"/>
              <a:gd name="p0x1" fmla="*/ 16530 w 16770"/>
              <a:gd name="p0y1" fmla="*/ 0 h 1050"/>
              <a:gd name="p0x2" fmla="*/ 16662 w 16770"/>
              <a:gd name="p0y2" fmla="*/ 0 h 1050"/>
              <a:gd name="p0x3" fmla="*/ 16770 w 16770"/>
              <a:gd name="p0y3" fmla="*/ 107 h 1050"/>
              <a:gd name="p0x4" fmla="*/ 16770 w 16770"/>
              <a:gd name="p0y4" fmla="*/ 240 h 1050"/>
              <a:gd name="p0x5" fmla="*/ 16770 w 16770"/>
              <a:gd name="p0y5" fmla="*/ 810 h 1050"/>
              <a:gd name="p0x6" fmla="*/ 16770 w 16770"/>
              <a:gd name="p0y6" fmla="*/ 942 h 1050"/>
              <a:gd name="p0x7" fmla="*/ 16662 w 16770"/>
              <a:gd name="p0y7" fmla="*/ 1050 h 1050"/>
              <a:gd name="p0x8" fmla="*/ 16530 w 16770"/>
              <a:gd name="p0y8" fmla="*/ 1050 h 1050"/>
              <a:gd name="p0x9" fmla="*/ 240 w 16770"/>
              <a:gd name="p0y9" fmla="*/ 1050 h 1050"/>
              <a:gd name="p0x10" fmla="*/ 107 w 16770"/>
              <a:gd name="p0y10" fmla="*/ 1050 h 1050"/>
              <a:gd name="p0x11" fmla="*/ 0 w 16770"/>
              <a:gd name="p0y11" fmla="*/ 942 h 1050"/>
              <a:gd name="p0x12" fmla="*/ 0 w 16770"/>
              <a:gd name="p0y12" fmla="*/ 810 h 1050"/>
              <a:gd name="p0x13" fmla="*/ 0 w 16770"/>
              <a:gd name="p0y13" fmla="*/ 240 h 1050"/>
              <a:gd name="p0x14" fmla="*/ 0 w 16770"/>
              <a:gd name="p0y14" fmla="*/ 107 h 1050"/>
              <a:gd name="p0x15" fmla="*/ 107 w 16770"/>
              <a:gd name="p0y15" fmla="*/ 0 h 1050"/>
              <a:gd name="p0x16" fmla="*/ 240 w 1677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post_object_image_4565426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052" y="1212656"/>
            <a:ext cx="6960217" cy="3919497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8277350" y="2001880"/>
            <a:ext cx="2989695" cy="15007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    这也是该游戏的情感化设计的一环</a:t>
            </a:r>
            <a:endParaRPr lang="zh-CN" altLang="en-US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通过手机消息的方式推动个人剧情，并且展示许多角色，满足收集感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8277350" y="4071626"/>
            <a:ext cx="3175025" cy="2211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打破第四面墙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0"/>
            </p:custDataLst>
          </p:nvPr>
        </p:nvSpPr>
        <p:spPr>
          <a:xfrm>
            <a:off x="8344870" y="4414004"/>
            <a:ext cx="2922161" cy="7180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 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让玩家可以直接和角色发消息对话</a:t>
            </a:r>
            <a:endParaRPr lang="zh-CN" altLang="en-US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Arial" panose="020B0604020202020204" pitchFamily="34" charset="0"/>
            </a:endParaRPr>
          </a:p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拉近玩家与角色的距离增强代入感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853022" y="5696260"/>
            <a:ext cx="10030398" cy="3579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总结：每张图都带有角色立绘，这也是这个游戏的核心卖点，相同的布局让角色立绘更能吸引玩家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809625" y="30980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66750" y="3470434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运营逻辑</a:t>
            </a:r>
            <a:endParaRPr sz="42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66750" y="5198110"/>
            <a:ext cx="2914650" cy="9525"/>
          </a:xfrm>
          <a:prstGeom prst="rect">
            <a:avLst/>
          </a:prstGeom>
          <a:solidFill>
            <a:srgbClr val="F0D0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666750" y="4383881"/>
            <a:ext cx="30099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信息递进，而非卖点堆砌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五图构成一条完整的用户转化漏斗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66750" y="1654969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FF8AB5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9000" b="1">
              <a:solidFill>
                <a:srgbClr val="FF8AB5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 rot="2700000">
            <a:off x="666115" y="3162300"/>
            <a:ext cx="48260" cy="47625"/>
          </a:xfrm>
          <a:prstGeom prst="rect">
            <a:avLst/>
          </a:pr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819910" y="3181350"/>
            <a:ext cx="228600" cy="9525"/>
          </a:xfrm>
          <a:prstGeom prst="rect">
            <a:avLst/>
          </a:prstGeom>
          <a:solidFill>
            <a:srgbClr val="FF8AB5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设计哲学：信息递进优于卖点堆砌</a:t>
            </a:r>
            <a:endParaRPr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14045" y="1147445"/>
            <a:ext cx="4242435" cy="4274820"/>
          </a:xfrm>
          <a:custGeom>
            <a:avLst/>
            <a:gdLst>
              <a:gd name="sw" fmla="*/ 1 w 6680"/>
              <a:gd name="sh" fmla="*/ 1 h 6731"/>
              <a:gd name="mins" fmla="min sw sh"/>
              <a:gd name="dsw" fmla="+- 0 sw mins"/>
              <a:gd name="dsh" fmla="+- 0 sh mins"/>
              <a:gd name="p0x0" fmla="*/ 240 w 6680"/>
              <a:gd name="p0y0" fmla="*/ 0 h 6731"/>
              <a:gd name="p0x1" fmla="*/ 6440 w 6680"/>
              <a:gd name="p0y1" fmla="*/ 0 h 6731"/>
              <a:gd name="p0x2" fmla="*/ 6573 w 6680"/>
              <a:gd name="p0y2" fmla="*/ 0 h 6731"/>
              <a:gd name="p0x3" fmla="*/ 6680 w 6680"/>
              <a:gd name="p0y3" fmla="*/ 107 h 6731"/>
              <a:gd name="p0x4" fmla="*/ 6680 w 6680"/>
              <a:gd name="p0y4" fmla="*/ 240 h 6731"/>
              <a:gd name="p0x5" fmla="*/ 6680 w 6680"/>
              <a:gd name="p0y5" fmla="*/ 6491 h 6731"/>
              <a:gd name="p0x6" fmla="*/ 6680 w 6680"/>
              <a:gd name="p0y6" fmla="*/ 6624 h 6731"/>
              <a:gd name="p0x7" fmla="*/ 6573 w 6680"/>
              <a:gd name="p0y7" fmla="*/ 6731 h 6731"/>
              <a:gd name="p0x8" fmla="*/ 6440 w 6680"/>
              <a:gd name="p0y8" fmla="*/ 6731 h 6731"/>
              <a:gd name="p0x9" fmla="*/ 240 w 6680"/>
              <a:gd name="p0y9" fmla="*/ 6731 h 6731"/>
              <a:gd name="p0x10" fmla="*/ 107 w 6680"/>
              <a:gd name="p0y10" fmla="*/ 6731 h 6731"/>
              <a:gd name="p0x11" fmla="*/ 0 w 6680"/>
              <a:gd name="p0y11" fmla="*/ 6624 h 6731"/>
              <a:gd name="p0x12" fmla="*/ 0 w 6680"/>
              <a:gd name="p0y12" fmla="*/ 6491 h 6731"/>
              <a:gd name="p0x13" fmla="*/ 0 w 6680"/>
              <a:gd name="p0y13" fmla="*/ 240 h 6731"/>
              <a:gd name="p0x14" fmla="*/ 0 w 6680"/>
              <a:gd name="p0y14" fmla="*/ 107 h 6731"/>
              <a:gd name="p0x15" fmla="*/ 107 w 6680"/>
              <a:gd name="p0y15" fmla="*/ 0 h 6731"/>
              <a:gd name="p0x16" fmla="*/ 240 w 6680"/>
              <a:gd name="p0y16" fmla="*/ 0 h 673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9625" y="1326832"/>
            <a:ext cx="385189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卖点堆砌的陷阱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809625" y="1790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 w="540" h="540">
                <a:moveTo>
                  <a:pt x="240" y="0"/>
                </a:moveTo>
                <a:lnTo>
                  <a:pt x="300" y="0"/>
                </a:lnTo>
                <a:cubicBezTo>
                  <a:pt x="433" y="0"/>
                  <a:pt x="540" y="107"/>
                  <a:pt x="540" y="240"/>
                </a:cubicBezTo>
                <a:lnTo>
                  <a:pt x="540" y="300"/>
                </a:lnTo>
                <a:cubicBezTo>
                  <a:pt x="540" y="433"/>
                  <a:pt x="433" y="540"/>
                  <a:pt x="300" y="540"/>
                </a:cubicBezTo>
                <a:lnTo>
                  <a:pt x="240" y="540"/>
                </a:lnTo>
                <a:cubicBezTo>
                  <a:pt x="107" y="540"/>
                  <a:pt x="0" y="433"/>
                  <a:pt x="0" y="300"/>
                </a:cubicBez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7" name="图片 6" descr="35b7bede-858a-11f1-b7ad-4a8b59f9557f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76300" y="1857375"/>
            <a:ext cx="209550" cy="2095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304925" y="1776413"/>
            <a:ext cx="335659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信息过载触发认知规避</a:t>
            </a:r>
            <a:endParaRPr sz="1500" b="1" spc="3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304925" y="2051685"/>
            <a:ext cx="3155833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面对过多选项，用户最省力的选择是</a:t>
            </a:r>
            <a:r>
              <a:rPr lang="en-US" sz="135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35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都不选</a:t>
            </a:r>
            <a:r>
              <a:rPr lang="en-US" altLang="zh-CN" sz="135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endParaRPr lang="en-US" altLang="zh-CN" sz="1350"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809625" y="27292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 w="540" h="540">
                <a:moveTo>
                  <a:pt x="240" y="0"/>
                </a:moveTo>
                <a:lnTo>
                  <a:pt x="300" y="0"/>
                </a:lnTo>
                <a:cubicBezTo>
                  <a:pt x="433" y="0"/>
                  <a:pt x="540" y="107"/>
                  <a:pt x="540" y="240"/>
                </a:cubicBezTo>
                <a:lnTo>
                  <a:pt x="540" y="300"/>
                </a:lnTo>
                <a:cubicBezTo>
                  <a:pt x="540" y="433"/>
                  <a:pt x="433" y="540"/>
                  <a:pt x="300" y="540"/>
                </a:cubicBezTo>
                <a:lnTo>
                  <a:pt x="240" y="540"/>
                </a:lnTo>
                <a:cubicBezTo>
                  <a:pt x="107" y="540"/>
                  <a:pt x="0" y="433"/>
                  <a:pt x="0" y="300"/>
                </a:cubicBez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12" name="图片 11" descr="35b7bef1-858a-11f1-b7ad-4a8b59f9557f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275" b="275"/>
          <a:stretch>
            <a:fillRect/>
          </a:stretch>
        </p:blipFill>
        <p:spPr>
          <a:xfrm>
            <a:off x="876300" y="2795905"/>
            <a:ext cx="209550" cy="209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304925" y="2715520"/>
            <a:ext cx="335659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传统展示方式</a:t>
            </a:r>
            <a:endParaRPr sz="1500" b="1" spc="3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1304925" y="2990793"/>
            <a:ext cx="335659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所有卖点一次性塞满页面，战斗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/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养成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/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社交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/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剧情</a:t>
            </a:r>
            <a:r>
              <a:rPr lang="en-US" altLang="zh-CN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/</a:t>
            </a:r>
            <a:r>
              <a:rPr lang="zh-CN" altLang="en-US"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福利拥挤呈现</a:t>
            </a:r>
            <a:endParaRPr lang="zh-CN" altLang="en-US"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5170805" y="1147445"/>
            <a:ext cx="6406515" cy="4274820"/>
          </a:xfrm>
          <a:custGeom>
            <a:avLst/>
            <a:gdLst>
              <a:gd name="sw" fmla="*/ 1 w 10089"/>
              <a:gd name="sh" fmla="*/ 1 h 6731"/>
              <a:gd name="mins" fmla="min sw sh"/>
              <a:gd name="dsw" fmla="+- 0 sw mins"/>
              <a:gd name="dsh" fmla="+- 0 sh mins"/>
              <a:gd name="p0x0" fmla="*/ 240 w 10089"/>
              <a:gd name="p0y0" fmla="*/ 0 h 6731"/>
              <a:gd name="p0x1" fmla="*/ 9849 w 10089"/>
              <a:gd name="p0y1" fmla="*/ 0 h 6731"/>
              <a:gd name="p0x2" fmla="*/ 9981 w 10089"/>
              <a:gd name="p0y2" fmla="*/ 0 h 6731"/>
              <a:gd name="p0x3" fmla="*/ 10089 w 10089"/>
              <a:gd name="p0y3" fmla="*/ 107 h 6731"/>
              <a:gd name="p0x4" fmla="*/ 10089 w 10089"/>
              <a:gd name="p0y4" fmla="*/ 240 h 6731"/>
              <a:gd name="p0x5" fmla="*/ 10089 w 10089"/>
              <a:gd name="p0y5" fmla="*/ 6491 h 6731"/>
              <a:gd name="p0x6" fmla="*/ 10089 w 10089"/>
              <a:gd name="p0y6" fmla="*/ 6624 h 6731"/>
              <a:gd name="p0x7" fmla="*/ 9981 w 10089"/>
              <a:gd name="p0y7" fmla="*/ 6731 h 6731"/>
              <a:gd name="p0x8" fmla="*/ 9849 w 10089"/>
              <a:gd name="p0y8" fmla="*/ 6731 h 6731"/>
              <a:gd name="p0x9" fmla="*/ 240 w 10089"/>
              <a:gd name="p0y9" fmla="*/ 6731 h 6731"/>
              <a:gd name="p0x10" fmla="*/ 107 w 10089"/>
              <a:gd name="p0y10" fmla="*/ 6731 h 6731"/>
              <a:gd name="p0x11" fmla="*/ 0 w 10089"/>
              <a:gd name="p0y11" fmla="*/ 6624 h 6731"/>
              <a:gd name="p0x12" fmla="*/ 0 w 10089"/>
              <a:gd name="p0y12" fmla="*/ 6491 h 6731"/>
              <a:gd name="p0x13" fmla="*/ 0 w 10089"/>
              <a:gd name="p0y13" fmla="*/ 240 h 6731"/>
              <a:gd name="p0x14" fmla="*/ 0 w 10089"/>
              <a:gd name="p0y14" fmla="*/ 107 h 6731"/>
              <a:gd name="p0x15" fmla="*/ 107 w 10089"/>
              <a:gd name="p0y15" fmla="*/ 0 h 6731"/>
              <a:gd name="p0x16" fmla="*/ 240 w 10089"/>
              <a:gd name="p0y16" fmla="*/ 0 h 673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5366366" y="1326832"/>
            <a:ext cx="60160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信息递进的策略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5365750" y="1790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 w="540" h="540">
                <a:moveTo>
                  <a:pt x="240" y="0"/>
                </a:moveTo>
                <a:lnTo>
                  <a:pt x="300" y="0"/>
                </a:lnTo>
                <a:cubicBezTo>
                  <a:pt x="433" y="0"/>
                  <a:pt x="540" y="107"/>
                  <a:pt x="540" y="240"/>
                </a:cubicBezTo>
                <a:lnTo>
                  <a:pt x="540" y="300"/>
                </a:lnTo>
                <a:cubicBezTo>
                  <a:pt x="540" y="433"/>
                  <a:pt x="433" y="540"/>
                  <a:pt x="300" y="540"/>
                </a:cubicBezTo>
                <a:lnTo>
                  <a:pt x="240" y="540"/>
                </a:lnTo>
                <a:cubicBezTo>
                  <a:pt x="107" y="540"/>
                  <a:pt x="0" y="433"/>
                  <a:pt x="0" y="300"/>
                </a:cubicBez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 descr="35b7c06b-858a-11f1-b7ad-4a8b59f9557f"/>
          <p:cNvPicPr/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93" r="293"/>
          <a:stretch>
            <a:fillRect/>
          </a:stretch>
        </p:blipFill>
        <p:spPr>
          <a:xfrm>
            <a:off x="5432425" y="1857375"/>
            <a:ext cx="209550" cy="20955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5861666" y="1776413"/>
            <a:ext cx="37719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单图单信息</a:t>
            </a:r>
            <a:endParaRPr sz="1500" b="1" spc="3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5861666" y="2051685"/>
            <a:ext cx="41148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每张图只传递一个核心信息，用户无需筛选优先级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4"/>
            </p:custDataLst>
          </p:nvPr>
        </p:nvSpPr>
        <p:spPr>
          <a:xfrm>
            <a:off x="5365750" y="24549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 w="540" h="540">
                <a:moveTo>
                  <a:pt x="240" y="0"/>
                </a:moveTo>
                <a:lnTo>
                  <a:pt x="300" y="0"/>
                </a:lnTo>
                <a:cubicBezTo>
                  <a:pt x="433" y="0"/>
                  <a:pt x="540" y="107"/>
                  <a:pt x="540" y="240"/>
                </a:cubicBezTo>
                <a:lnTo>
                  <a:pt x="540" y="300"/>
                </a:lnTo>
                <a:cubicBezTo>
                  <a:pt x="540" y="433"/>
                  <a:pt x="433" y="540"/>
                  <a:pt x="300" y="540"/>
                </a:cubicBezTo>
                <a:lnTo>
                  <a:pt x="240" y="540"/>
                </a:lnTo>
                <a:cubicBezTo>
                  <a:pt x="107" y="540"/>
                  <a:pt x="0" y="433"/>
                  <a:pt x="0" y="300"/>
                </a:cubicBez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25" name="图片 24" descr="35b7c087-858a-11f1-b7ad-4a8b59f9557f"/>
          <p:cNvPicPr/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93" t="-289" r="293" b="289"/>
          <a:stretch>
            <a:fillRect/>
          </a:stretch>
        </p:blipFill>
        <p:spPr>
          <a:xfrm>
            <a:off x="5432425" y="2521585"/>
            <a:ext cx="209550" cy="20955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5861666" y="2441229"/>
            <a:ext cx="34290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密度渐升</a:t>
            </a:r>
            <a:endParaRPr sz="1500" b="1" spc="3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5861666" y="2716501"/>
            <a:ext cx="36005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由低到高匹配用户从浏览到决策的注意力曲线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0"/>
            </p:custDataLst>
          </p:nvPr>
        </p:nvSpPr>
        <p:spPr>
          <a:xfrm>
            <a:off x="5365750" y="31197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 w="540" h="540">
                <a:moveTo>
                  <a:pt x="240" y="0"/>
                </a:moveTo>
                <a:lnTo>
                  <a:pt x="300" y="0"/>
                </a:lnTo>
                <a:cubicBezTo>
                  <a:pt x="433" y="0"/>
                  <a:pt x="540" y="107"/>
                  <a:pt x="540" y="240"/>
                </a:cubicBezTo>
                <a:lnTo>
                  <a:pt x="540" y="300"/>
                </a:lnTo>
                <a:cubicBezTo>
                  <a:pt x="540" y="433"/>
                  <a:pt x="433" y="540"/>
                  <a:pt x="300" y="540"/>
                </a:cubicBezTo>
                <a:lnTo>
                  <a:pt x="240" y="540"/>
                </a:lnTo>
                <a:cubicBezTo>
                  <a:pt x="107" y="540"/>
                  <a:pt x="0" y="433"/>
                  <a:pt x="0" y="300"/>
                </a:cubicBez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30" name="图片 29" descr="35b7c111-858a-11f1-b7ad-4a8b59f9557f"/>
          <p:cNvPicPr/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93" t="-275" r="293" b="275"/>
          <a:stretch>
            <a:fillRect/>
          </a:stretch>
        </p:blipFill>
        <p:spPr>
          <a:xfrm>
            <a:off x="5432425" y="3186430"/>
            <a:ext cx="209550" cy="20955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5861666" y="3106045"/>
            <a:ext cx="39434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情感递进</a:t>
            </a:r>
            <a:endParaRPr sz="1500" b="1" spc="3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5861666" y="3381318"/>
            <a:ext cx="4286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理性判断逐步过渡到感性投入，不知不觉中完成转换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6"/>
            </p:custDataLst>
          </p:nvPr>
        </p:nvSpPr>
        <p:spPr>
          <a:xfrm>
            <a:off x="609600" y="5751830"/>
            <a:ext cx="10972800" cy="666750"/>
          </a:xfrm>
          <a:custGeom>
            <a:avLst/>
            <a:gdLst>
              <a:gd name="sw" fmla="*/ 1 w 17280"/>
              <a:gd name="sh" fmla="*/ 1 h 1050"/>
              <a:gd name="mins" fmla="min sw sh"/>
              <a:gd name="dsw" fmla="+- 0 sw mins"/>
              <a:gd name="dsh" fmla="+- 0 sh mins"/>
              <a:gd name="p0x0" fmla="*/ 240 w 17280"/>
              <a:gd name="p0y0" fmla="*/ 0 h 1050"/>
              <a:gd name="p0x1" fmla="*/ 17040 w 17280"/>
              <a:gd name="p0y1" fmla="*/ 0 h 1050"/>
              <a:gd name="p0x2" fmla="*/ 17172 w 17280"/>
              <a:gd name="p0y2" fmla="*/ 0 h 1050"/>
              <a:gd name="p0x3" fmla="*/ 17280 w 17280"/>
              <a:gd name="p0y3" fmla="*/ 107 h 1050"/>
              <a:gd name="p0x4" fmla="*/ 17280 w 17280"/>
              <a:gd name="p0y4" fmla="*/ 240 h 1050"/>
              <a:gd name="p0x5" fmla="*/ 17280 w 17280"/>
              <a:gd name="p0y5" fmla="*/ 810 h 1050"/>
              <a:gd name="p0x6" fmla="*/ 17280 w 17280"/>
              <a:gd name="p0y6" fmla="*/ 942 h 1050"/>
              <a:gd name="p0x7" fmla="*/ 17172 w 17280"/>
              <a:gd name="p0y7" fmla="*/ 1050 h 1050"/>
              <a:gd name="p0x8" fmla="*/ 17040 w 17280"/>
              <a:gd name="p0y8" fmla="*/ 1050 h 1050"/>
              <a:gd name="p0x9" fmla="*/ 240 w 17280"/>
              <a:gd name="p0y9" fmla="*/ 1050 h 1050"/>
              <a:gd name="p0x10" fmla="*/ 107 w 17280"/>
              <a:gd name="p0y10" fmla="*/ 1050 h 1050"/>
              <a:gd name="p0x11" fmla="*/ 0 w 17280"/>
              <a:gd name="p0y11" fmla="*/ 942 h 1050"/>
              <a:gd name="p0x12" fmla="*/ 0 w 17280"/>
              <a:gd name="p0y12" fmla="*/ 810 h 1050"/>
              <a:gd name="p0x13" fmla="*/ 0 w 17280"/>
              <a:gd name="p0y13" fmla="*/ 240 h 1050"/>
              <a:gd name="p0x14" fmla="*/ 0 w 17280"/>
              <a:gd name="p0y14" fmla="*/ 107 h 1050"/>
              <a:gd name="p0x15" fmla="*/ 107 w 17280"/>
              <a:gd name="p0y15" fmla="*/ 0 h 1050"/>
              <a:gd name="p0x16" fmla="*/ 240 w 1728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7"/>
            </p:custDataLst>
          </p:nvPr>
        </p:nvSpPr>
        <p:spPr>
          <a:xfrm>
            <a:off x="800100" y="5927398"/>
            <a:ext cx="1047281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尊重用户的决策节奏</a:t>
            </a:r>
            <a:r>
              <a:rPr lang="en-US" altLang="zh-CN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不是信息轰炸催促下载，而是用渐进体验暗示引导用户</a:t>
            </a:r>
            <a:r>
              <a:rPr lang="en-US" altLang="en-US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自己走向</a:t>
            </a:r>
            <a:r>
              <a:rPr lang="en-US" altLang="zh-CN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下载按钮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809625" y="30980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66750" y="3470434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优化启示</a:t>
            </a:r>
            <a:endParaRPr sz="42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66750" y="5198110"/>
            <a:ext cx="3496945" cy="9525"/>
          </a:xfrm>
          <a:prstGeom prst="rect">
            <a:avLst/>
          </a:prstGeom>
          <a:solidFill>
            <a:srgbClr val="F0D0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666750" y="4383881"/>
            <a:ext cx="359285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好的设计值得借鉴，更好的设计值得探索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从优点与建议中提炼行业通用方法论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66750" y="1654969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FF8AB5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9000" b="1">
              <a:solidFill>
                <a:srgbClr val="FF8AB5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 rot="2700000">
            <a:off x="666115" y="3162300"/>
            <a:ext cx="48260" cy="47625"/>
          </a:xfrm>
          <a:prstGeom prst="rect">
            <a:avLst/>
          </a:pr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819910" y="3181350"/>
            <a:ext cx="228600" cy="9525"/>
          </a:xfrm>
          <a:prstGeom prst="rect">
            <a:avLst/>
          </a:prstGeom>
          <a:solidFill>
            <a:srgbClr val="FF8AB5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已有亮点：四个值得坚持的设计原则</a:t>
            </a:r>
            <a:endParaRPr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390650"/>
            <a:ext cx="11049000" cy="714375"/>
          </a:xfrm>
          <a:custGeom>
            <a:avLst/>
            <a:gdLst>
              <a:gd name="sw" fmla="*/ 1 w 17400"/>
              <a:gd name="sh" fmla="*/ 1 h 1125"/>
              <a:gd name="mins" fmla="min sw sh"/>
              <a:gd name="dsw" fmla="+- 0 sw mins"/>
              <a:gd name="dsh" fmla="+- 0 sh mins"/>
              <a:gd name="p0x0" fmla="*/ 240 w 17400"/>
              <a:gd name="p0y0" fmla="*/ 0 h 1125"/>
              <a:gd name="p0x1" fmla="*/ 17160 w 17400"/>
              <a:gd name="p0y1" fmla="*/ 0 h 1125"/>
              <a:gd name="p0x2" fmla="*/ 17292 w 17400"/>
              <a:gd name="p0y2" fmla="*/ 0 h 1125"/>
              <a:gd name="p0x3" fmla="*/ 17400 w 17400"/>
              <a:gd name="p0y3" fmla="*/ 107 h 1125"/>
              <a:gd name="p0x4" fmla="*/ 17400 w 17400"/>
              <a:gd name="p0y4" fmla="*/ 240 h 1125"/>
              <a:gd name="p0x5" fmla="*/ 17400 w 17400"/>
              <a:gd name="p0y5" fmla="*/ 885 h 1125"/>
              <a:gd name="p0x6" fmla="*/ 17400 w 17400"/>
              <a:gd name="p0y6" fmla="*/ 1017 h 1125"/>
              <a:gd name="p0x7" fmla="*/ 17292 w 17400"/>
              <a:gd name="p0y7" fmla="*/ 1125 h 1125"/>
              <a:gd name="p0x8" fmla="*/ 17160 w 17400"/>
              <a:gd name="p0y8" fmla="*/ 1125 h 1125"/>
              <a:gd name="p0x9" fmla="*/ 240 w 17400"/>
              <a:gd name="p0y9" fmla="*/ 1125 h 1125"/>
              <a:gd name="p0x10" fmla="*/ 107 w 17400"/>
              <a:gd name="p0y10" fmla="*/ 1125 h 1125"/>
              <a:gd name="p0x11" fmla="*/ 0 w 17400"/>
              <a:gd name="p0y11" fmla="*/ 1017 h 1125"/>
              <a:gd name="p0x12" fmla="*/ 0 w 17400"/>
              <a:gd name="p0y12" fmla="*/ 885 h 1125"/>
              <a:gd name="p0x13" fmla="*/ 0 w 17400"/>
              <a:gd name="p0y13" fmla="*/ 240 h 1125"/>
              <a:gd name="p0x14" fmla="*/ 0 w 17400"/>
              <a:gd name="p0y14" fmla="*/ 107 h 1125"/>
              <a:gd name="p0x15" fmla="*/ 107 w 17400"/>
              <a:gd name="p0y15" fmla="*/ 0 h 1125"/>
              <a:gd name="p0x16" fmla="*/ 240 w 17400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564957"/>
            <a:ext cx="9867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不增加用户的认知负担</a:t>
            </a:r>
            <a:r>
              <a:rPr lang="en-US" altLang="zh-CN" sz="21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sz="21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每一次滑动与注视，都让用户</a:t>
            </a:r>
            <a:r>
              <a:rPr sz="2100"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更轻松地进入产品叙事</a:t>
            </a:r>
            <a:endParaRPr sz="2100" b="1">
              <a:solidFill>
                <a:srgbClr val="FF6B9E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3385820"/>
            <a:ext cx="11039475" cy="2324100"/>
          </a:xfrm>
          <a:custGeom>
            <a:avLst/>
            <a:gdLst>
              <a:gd name="sw" fmla="*/ 1 w 17385"/>
              <a:gd name="sh" fmla="*/ 1 h 3660"/>
              <a:gd name="mins" fmla="min sw sh"/>
              <a:gd name="dsw" fmla="+- 0 sw mins"/>
              <a:gd name="dsh" fmla="+- 0 sh mins"/>
              <a:gd name="p0x0" fmla="*/ 240 w 17385"/>
              <a:gd name="p0y0" fmla="*/ 0 h 3660"/>
              <a:gd name="p0x1" fmla="*/ 17145 w 17385"/>
              <a:gd name="p0y1" fmla="*/ 0 h 3660"/>
              <a:gd name="p0x2" fmla="*/ 17277 w 17385"/>
              <a:gd name="p0y2" fmla="*/ 0 h 3660"/>
              <a:gd name="p0x3" fmla="*/ 17385 w 17385"/>
              <a:gd name="p0y3" fmla="*/ 107 h 3660"/>
              <a:gd name="p0x4" fmla="*/ 17385 w 17385"/>
              <a:gd name="p0y4" fmla="*/ 240 h 3660"/>
              <a:gd name="p0x5" fmla="*/ 17385 w 17385"/>
              <a:gd name="p0y5" fmla="*/ 3420 h 3660"/>
              <a:gd name="p0x6" fmla="*/ 17385 w 17385"/>
              <a:gd name="p0y6" fmla="*/ 3552 h 3660"/>
              <a:gd name="p0x7" fmla="*/ 17277 w 17385"/>
              <a:gd name="p0y7" fmla="*/ 3660 h 3660"/>
              <a:gd name="p0x8" fmla="*/ 17145 w 17385"/>
              <a:gd name="p0y8" fmla="*/ 3660 h 3660"/>
              <a:gd name="p0x9" fmla="*/ 240 w 17385"/>
              <a:gd name="p0y9" fmla="*/ 3660 h 3660"/>
              <a:gd name="p0x10" fmla="*/ 107 w 17385"/>
              <a:gd name="p0y10" fmla="*/ 3660 h 3660"/>
              <a:gd name="p0x11" fmla="*/ 0 w 17385"/>
              <a:gd name="p0y11" fmla="*/ 3552 h 3660"/>
              <a:gd name="p0x12" fmla="*/ 0 w 17385"/>
              <a:gd name="p0y12" fmla="*/ 3420 h 3660"/>
              <a:gd name="p0x13" fmla="*/ 0 w 17385"/>
              <a:gd name="p0y13" fmla="*/ 240 h 3660"/>
              <a:gd name="p0x14" fmla="*/ 0 w 17385"/>
              <a:gd name="p0y14" fmla="*/ 107 h 3660"/>
              <a:gd name="p0x15" fmla="*/ 107 w 17385"/>
              <a:gd name="p0y15" fmla="*/ 0 h 3660"/>
              <a:gd name="p0x16" fmla="*/ 240 w 1738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3565208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四个值得坚持的设计原则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1821180" y="41052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6795" t="-1026" r="-6795" b="-1026"/>
          <a:stretch>
            <a:fillRect/>
          </a:stretch>
        </p:blipFill>
        <p:spPr>
          <a:xfrm>
            <a:off x="1890395" y="4185920"/>
            <a:ext cx="281305" cy="2527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459630" y="462343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主题明确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30980" y="4947285"/>
            <a:ext cx="24003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每张图有且仅有一个核心任务，分工清晰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4531360" y="41052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617085" y="4185920"/>
            <a:ext cx="247650" cy="2527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3940892" y="462343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阅读路径自然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3540842" y="4947285"/>
            <a:ext cx="24003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左功能右角色，无意识中完成信息吸收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7240905" y="41052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7326630" y="4185920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6422155" y="4623435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配色统一有辨识度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6250705" y="4947285"/>
            <a:ext cx="24003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冷暖色调形成情绪节奏变化，避免视觉疲劳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4"/>
            </p:custDataLst>
          </p:nvPr>
        </p:nvSpPr>
        <p:spPr>
          <a:xfrm>
            <a:off x="9951085" y="41052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10036810" y="4185920"/>
            <a:ext cx="247650" cy="2527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8"/>
            </p:custDataLst>
          </p:nvPr>
        </p:nvSpPr>
        <p:spPr>
          <a:xfrm>
            <a:off x="9360618" y="462343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文案短而直接</a:t>
            </a:r>
            <a:endParaRPr b="1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9"/>
            </p:custDataLst>
          </p:nvPr>
        </p:nvSpPr>
        <p:spPr>
          <a:xfrm>
            <a:off x="8960568" y="4947285"/>
            <a:ext cx="24003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极短长度，快速滑动时也能有效传达</a:t>
            </a:r>
            <a:endParaRPr sz="135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优化建议：三个让五图更强的改进方向</a:t>
            </a:r>
            <a:endParaRPr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2"/>
            </p:custDataLst>
          </p:nvPr>
        </p:nvSpPr>
        <p:spPr>
          <a:xfrm>
            <a:off x="3095549" y="5931484"/>
            <a:ext cx="60008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 b="1">
                <a:solidFill>
                  <a:srgbClr val="8A9BA8"/>
                </a:solidFill>
                <a:latin typeface="MiSans Normal" panose="00000500000000000000" charset="-122"/>
                <a:ea typeface="MiSans Normal" panose="00000500000000000000" charset="-122"/>
              </a:rPr>
              <a:t>改进的核心原则不变：不推翻现有的递进式叙事，只在关键节点做增量强化</a:t>
            </a:r>
            <a:endParaRPr sz="1350" b="1">
              <a:solidFill>
                <a:srgbClr val="8A9BA8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1500" y="1104900"/>
            <a:ext cx="11049000" cy="589280"/>
          </a:xfrm>
          <a:custGeom>
            <a:avLst/>
            <a:gdLst>
              <a:gd name="sw" fmla="*/ 1 w 17400"/>
              <a:gd name="sh" fmla="*/ 1 h 928"/>
              <a:gd name="mins" fmla="min sw sh"/>
              <a:gd name="dsw" fmla="+- 0 sw mins"/>
              <a:gd name="dsh" fmla="+- 0 sh mins"/>
              <a:gd name="p0x0" fmla="*/ 240 w 17400"/>
              <a:gd name="p0y0" fmla="*/ 0 h 928"/>
              <a:gd name="p0x1" fmla="*/ 17160 w 17400"/>
              <a:gd name="p0y1" fmla="*/ 0 h 928"/>
              <a:gd name="p0x2" fmla="*/ 17292 w 17400"/>
              <a:gd name="p0y2" fmla="*/ 0 h 928"/>
              <a:gd name="p0x3" fmla="*/ 17400 w 17400"/>
              <a:gd name="p0y3" fmla="*/ 107 h 928"/>
              <a:gd name="p0x4" fmla="*/ 17400 w 17400"/>
              <a:gd name="p0y4" fmla="*/ 240 h 928"/>
              <a:gd name="p0x5" fmla="*/ 17400 w 17400"/>
              <a:gd name="p0y5" fmla="*/ 688 h 928"/>
              <a:gd name="p0x6" fmla="*/ 17400 w 17400"/>
              <a:gd name="p0y6" fmla="*/ 821 h 928"/>
              <a:gd name="p0x7" fmla="*/ 17292 w 17400"/>
              <a:gd name="p0y7" fmla="*/ 928 h 928"/>
              <a:gd name="p0x8" fmla="*/ 17160 w 17400"/>
              <a:gd name="p0y8" fmla="*/ 928 h 928"/>
              <a:gd name="p0x9" fmla="*/ 240 w 17400"/>
              <a:gd name="p0y9" fmla="*/ 928 h 928"/>
              <a:gd name="p0x10" fmla="*/ 107 w 17400"/>
              <a:gd name="p0y10" fmla="*/ 928 h 928"/>
              <a:gd name="p0x11" fmla="*/ 0 w 17400"/>
              <a:gd name="p0y11" fmla="*/ 821 h 928"/>
              <a:gd name="p0x12" fmla="*/ 0 w 17400"/>
              <a:gd name="p0y12" fmla="*/ 688 h 928"/>
              <a:gd name="p0x13" fmla="*/ 0 w 17400"/>
              <a:gd name="p0y13" fmla="*/ 240 h 928"/>
              <a:gd name="p0x14" fmla="*/ 0 w 17400"/>
              <a:gd name="p0y14" fmla="*/ 107 h 928"/>
              <a:gd name="p0x15" fmla="*/ 107 w 17400"/>
              <a:gd name="p0y15" fmla="*/ 0 h 928"/>
              <a:gd name="p0x16" fmla="*/ 240 w 17400"/>
              <a:gd name="p0y16" fmla="*/ 0 h 9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62000" y="1241689"/>
            <a:ext cx="1066800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不推翻递进叙事，只在</a:t>
            </a:r>
            <a:r>
              <a:rPr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关键节点</a:t>
            </a:r>
            <a:r>
              <a:rPr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做增量强化</a:t>
            </a:r>
            <a:endParaRPr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1927860"/>
            <a:ext cx="3546475" cy="3529330"/>
          </a:xfrm>
          <a:custGeom>
            <a:avLst/>
            <a:gdLst>
              <a:gd name="sw" fmla="*/ 1 w 5585"/>
              <a:gd name="sh" fmla="*/ 1 h 5557"/>
              <a:gd name="mins" fmla="min sw sh"/>
              <a:gd name="dsw" fmla="+- 0 sw mins"/>
              <a:gd name="dsh" fmla="+- 0 sh mins"/>
              <a:gd name="p0x0" fmla="*/ 240 w 5585"/>
              <a:gd name="p0y0" fmla="*/ 0 h 5557"/>
              <a:gd name="p0x1" fmla="*/ 5345 w 5585"/>
              <a:gd name="p0y1" fmla="*/ 0 h 5557"/>
              <a:gd name="p0x2" fmla="*/ 5477 w 5585"/>
              <a:gd name="p0y2" fmla="*/ 0 h 5557"/>
              <a:gd name="p0x3" fmla="*/ 5585 w 5585"/>
              <a:gd name="p0y3" fmla="*/ 107 h 5557"/>
              <a:gd name="p0x4" fmla="*/ 5585 w 5585"/>
              <a:gd name="p0y4" fmla="*/ 240 h 5557"/>
              <a:gd name="p0x5" fmla="*/ 5585 w 5585"/>
              <a:gd name="p0y5" fmla="*/ 5317 h 5557"/>
              <a:gd name="p0x6" fmla="*/ 5585 w 5585"/>
              <a:gd name="p0y6" fmla="*/ 5450 h 5557"/>
              <a:gd name="p0x7" fmla="*/ 5477 w 5585"/>
              <a:gd name="p0y7" fmla="*/ 5557 h 5557"/>
              <a:gd name="p0x8" fmla="*/ 5345 w 5585"/>
              <a:gd name="p0y8" fmla="*/ 5557 h 5557"/>
              <a:gd name="p0x9" fmla="*/ 240 w 5585"/>
              <a:gd name="p0y9" fmla="*/ 5557 h 5557"/>
              <a:gd name="p0x10" fmla="*/ 107 w 5585"/>
              <a:gd name="p0y10" fmla="*/ 5557 h 5557"/>
              <a:gd name="p0x11" fmla="*/ 0 w 5585"/>
              <a:gd name="p0y11" fmla="*/ 5450 h 5557"/>
              <a:gd name="p0x12" fmla="*/ 0 w 5585"/>
              <a:gd name="p0y12" fmla="*/ 5317 h 5557"/>
              <a:gd name="p0x13" fmla="*/ 0 w 5585"/>
              <a:gd name="p0y13" fmla="*/ 240 h 5557"/>
              <a:gd name="p0x14" fmla="*/ 0 w 5585"/>
              <a:gd name="p0y14" fmla="*/ 107 h 5557"/>
              <a:gd name="p0x15" fmla="*/ 107 w 5585"/>
              <a:gd name="p0y15" fmla="*/ 0 h 5557"/>
              <a:gd name="p0x16" fmla="*/ 240 w 5585"/>
              <a:gd name="p0y16" fmla="*/ 0 h 55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2104911"/>
            <a:ext cx="315597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弱化战斗</a:t>
            </a:r>
            <a:r>
              <a:rPr lang="en-US" altLang="zh-CN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UI</a:t>
            </a:r>
            <a:r>
              <a:rPr lang="zh-CN" altLang="en-US"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，突出技能特效</a:t>
            </a:r>
            <a:endParaRPr lang="zh-CN" altLang="en-US"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71525" y="286385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71525" y="2954541"/>
            <a:ext cx="31559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 spc="-15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现状：</a:t>
            </a:r>
            <a:r>
              <a:rPr 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第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二</a:t>
            </a:r>
            <a:r>
              <a:rPr 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张图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COST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槽、血条、技能图标等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UI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元素过多，干扰用户判断</a:t>
            </a:r>
            <a:endParaRPr lang="zh-CN" altLang="en-US"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771525" y="3945141"/>
            <a:ext cx="31559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 spc="-15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建议：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放大技能光效与角色动作张力，让用户</a:t>
            </a:r>
            <a:r>
              <a:rPr lang="zh-CN"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第一秒感受到</a:t>
            </a:r>
            <a:r>
              <a:rPr lang="en-US" altLang="zh-CN"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战斗很精彩</a:t>
            </a:r>
            <a:r>
              <a:rPr lang="en-US" altLang="zh-CN"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，而非理解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UI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含义</a:t>
            </a:r>
            <a:endParaRPr lang="zh-CN" altLang="en-US"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771525" y="4892675"/>
            <a:ext cx="3155950" cy="389890"/>
            <a:chOff x="1215" y="7705"/>
            <a:chExt cx="4970" cy="614"/>
          </a:xfrm>
        </p:grpSpPr>
        <p:sp>
          <p:nvSpPr>
            <p:cNvPr id="12" name="任意多边形 11"/>
            <p:cNvSpPr/>
            <p:nvPr>
              <p:custDataLst>
                <p:tags r:id="rId10"/>
              </p:custDataLst>
            </p:nvPr>
          </p:nvSpPr>
          <p:spPr>
            <a:xfrm>
              <a:off x="1215" y="7705"/>
              <a:ext cx="4970" cy="615"/>
            </a:xfrm>
            <a:custGeom>
              <a:avLst/>
              <a:gdLst>
                <a:gd name="sw" fmla="*/ 1 w 4970"/>
                <a:gd name="sh" fmla="*/ 1 h 615"/>
                <a:gd name="mins" fmla="min sw sh"/>
                <a:gd name="dsw" fmla="+- 0 sw mins"/>
                <a:gd name="dsh" fmla="+- 0 sh mins"/>
                <a:gd name="p0x0" fmla="*/ 0 w 4970"/>
                <a:gd name="p0y0" fmla="*/ 0 h 615"/>
                <a:gd name="p0x1" fmla="*/ 4970 w 4970"/>
                <a:gd name="p0y1" fmla="*/ 0 h 615"/>
                <a:gd name="p0x2" fmla="*/ 4970 w 4970"/>
                <a:gd name="p0y2" fmla="*/ 615 h 615"/>
                <a:gd name="p0x3" fmla="*/ 0 w 4970"/>
                <a:gd name="p0y3" fmla="*/ 615 h 615"/>
                <a:gd name="p0x4" fmla="*/ 0 w 497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1"/>
              </p:custDataLst>
            </p:nvPr>
          </p:nvSpPr>
          <p:spPr>
            <a:xfrm>
              <a:off x="1215" y="7705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0 w 4970"/>
                <a:gd name="p0y0" fmla="*/ 0 h 15"/>
                <a:gd name="p0x1" fmla="*/ 4970 w 4970"/>
                <a:gd name="p0y1" fmla="*/ 0 h 15"/>
                <a:gd name="p0x2" fmla="*/ 4970 w 4970"/>
                <a:gd name="p0y2" fmla="*/ 15 h 15"/>
                <a:gd name="p0x3" fmla="*/ 0 w 4970"/>
                <a:gd name="p0y3" fmla="*/ 15 h 15"/>
                <a:gd name="p0x4" fmla="*/ 0 w 497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D8E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771525" y="50165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 descr="21c445fc-858a-11f1-987b-d618888e8aab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-133" b="133"/>
          <a:stretch>
            <a:fillRect/>
          </a:stretch>
        </p:blipFill>
        <p:spPr>
          <a:xfrm>
            <a:off x="828675" y="5073650"/>
            <a:ext cx="15240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1114425" y="5050041"/>
            <a:ext cx="16231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战斗表现</a:t>
            </a:r>
            <a:r>
              <a:rPr lang="en-US" altLang="zh-CN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首图优化</a:t>
            </a:r>
            <a:endParaRPr lang="zh-CN" altLang="en-US" sz="120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4322445" y="1927860"/>
            <a:ext cx="3546475" cy="3529330"/>
          </a:xfrm>
          <a:custGeom>
            <a:avLst/>
            <a:gdLst>
              <a:gd name="sw" fmla="*/ 1 w 5585"/>
              <a:gd name="sh" fmla="*/ 1 h 5557"/>
              <a:gd name="mins" fmla="min sw sh"/>
              <a:gd name="dsw" fmla="+- 0 sw mins"/>
              <a:gd name="dsh" fmla="+- 0 sh mins"/>
              <a:gd name="p0x0" fmla="*/ 240 w 5585"/>
              <a:gd name="p0y0" fmla="*/ 0 h 5557"/>
              <a:gd name="p0x1" fmla="*/ 5345 w 5585"/>
              <a:gd name="p0y1" fmla="*/ 0 h 5557"/>
              <a:gd name="p0x2" fmla="*/ 5477 w 5585"/>
              <a:gd name="p0y2" fmla="*/ 0 h 5557"/>
              <a:gd name="p0x3" fmla="*/ 5585 w 5585"/>
              <a:gd name="p0y3" fmla="*/ 107 h 5557"/>
              <a:gd name="p0x4" fmla="*/ 5585 w 5585"/>
              <a:gd name="p0y4" fmla="*/ 240 h 5557"/>
              <a:gd name="p0x5" fmla="*/ 5585 w 5585"/>
              <a:gd name="p0y5" fmla="*/ 5317 h 5557"/>
              <a:gd name="p0x6" fmla="*/ 5585 w 5585"/>
              <a:gd name="p0y6" fmla="*/ 5450 h 5557"/>
              <a:gd name="p0x7" fmla="*/ 5477 w 5585"/>
              <a:gd name="p0y7" fmla="*/ 5557 h 5557"/>
              <a:gd name="p0x8" fmla="*/ 5345 w 5585"/>
              <a:gd name="p0y8" fmla="*/ 5557 h 5557"/>
              <a:gd name="p0x9" fmla="*/ 240 w 5585"/>
              <a:gd name="p0y9" fmla="*/ 5557 h 5557"/>
              <a:gd name="p0x10" fmla="*/ 107 w 5585"/>
              <a:gd name="p0y10" fmla="*/ 5557 h 5557"/>
              <a:gd name="p0x11" fmla="*/ 0 w 5585"/>
              <a:gd name="p0y11" fmla="*/ 5450 h 5557"/>
              <a:gd name="p0x12" fmla="*/ 0 w 5585"/>
              <a:gd name="p0y12" fmla="*/ 5317 h 5557"/>
              <a:gd name="p0x13" fmla="*/ 0 w 5585"/>
              <a:gd name="p0y13" fmla="*/ 240 h 5557"/>
              <a:gd name="p0x14" fmla="*/ 0 w 5585"/>
              <a:gd name="p0y14" fmla="*/ 107 h 5557"/>
              <a:gd name="p0x15" fmla="*/ 107 w 5585"/>
              <a:gd name="p0y15" fmla="*/ 0 h 5557"/>
              <a:gd name="p0x16" fmla="*/ 240 w 5585"/>
              <a:gd name="p0y16" fmla="*/ 0 h 55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4518051" y="2104911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增加特色玩法展示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4518025" y="286385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4518051" y="2954541"/>
            <a:ext cx="31559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 spc="-15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现状：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覆盖战斗、生活、约会、世界观，但缺少总力战、社团活动等辨识度元素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4518051" y="3945141"/>
            <a:ext cx="31559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 spc="-15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建议：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在第四张图或新增图中融入</a:t>
            </a: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高辨识度玩法元素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，强化与其他二次元游戏的差异化认知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518025" y="4892675"/>
            <a:ext cx="3155950" cy="389890"/>
            <a:chOff x="7115" y="7705"/>
            <a:chExt cx="4970" cy="614"/>
          </a:xfrm>
        </p:grpSpPr>
        <p:sp>
          <p:nvSpPr>
            <p:cNvPr id="24" name="任意多边形 23"/>
            <p:cNvSpPr/>
            <p:nvPr>
              <p:custDataLst>
                <p:tags r:id="rId22"/>
              </p:custDataLst>
            </p:nvPr>
          </p:nvSpPr>
          <p:spPr>
            <a:xfrm>
              <a:off x="7115" y="7705"/>
              <a:ext cx="4970" cy="615"/>
            </a:xfrm>
            <a:custGeom>
              <a:avLst/>
              <a:gdLst>
                <a:gd name="sw" fmla="*/ 1 w 4970"/>
                <a:gd name="sh" fmla="*/ 1 h 615"/>
                <a:gd name="mins" fmla="min sw sh"/>
                <a:gd name="dsw" fmla="+- 0 sw mins"/>
                <a:gd name="dsh" fmla="+- 0 sh mins"/>
                <a:gd name="p0x0" fmla="*/ 0 w 4970"/>
                <a:gd name="p0y0" fmla="*/ 0 h 615"/>
                <a:gd name="p0x1" fmla="*/ 4970 w 4970"/>
                <a:gd name="p0y1" fmla="*/ 0 h 615"/>
                <a:gd name="p0x2" fmla="*/ 4970 w 4970"/>
                <a:gd name="p0y2" fmla="*/ 615 h 615"/>
                <a:gd name="p0x3" fmla="*/ 0 w 4970"/>
                <a:gd name="p0y3" fmla="*/ 615 h 615"/>
                <a:gd name="p0x4" fmla="*/ 0 w 497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3"/>
              </p:custDataLst>
            </p:nvPr>
          </p:nvSpPr>
          <p:spPr>
            <a:xfrm>
              <a:off x="7115" y="7705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0 w 4970"/>
                <a:gd name="p0y0" fmla="*/ 0 h 15"/>
                <a:gd name="p0x1" fmla="*/ 4970 w 4970"/>
                <a:gd name="p0y1" fmla="*/ 0 h 15"/>
                <a:gd name="p0x2" fmla="*/ 4970 w 4970"/>
                <a:gd name="p0y2" fmla="*/ 15 h 15"/>
                <a:gd name="p0x3" fmla="*/ 0 w 4970"/>
                <a:gd name="p0y3" fmla="*/ 15 h 15"/>
                <a:gd name="p0x4" fmla="*/ 0 w 497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D8E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7" name="任意多边形 26"/>
          <p:cNvSpPr/>
          <p:nvPr>
            <p:custDataLst>
              <p:tags r:id="rId24"/>
            </p:custDataLst>
          </p:nvPr>
        </p:nvSpPr>
        <p:spPr>
          <a:xfrm>
            <a:off x="4518025" y="50165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21c44941-858a-11f1-987b-d618888e8aab"/>
          <p:cNvPicPr/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16" t="-133" r="16" b="133"/>
          <a:stretch>
            <a:fillRect/>
          </a:stretch>
        </p:blipFill>
        <p:spPr>
          <a:xfrm>
            <a:off x="4575175" y="5073650"/>
            <a:ext cx="15240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4860951" y="5050041"/>
            <a:ext cx="17755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玩法差异</a:t>
            </a:r>
            <a:r>
              <a:rPr lang="en-US" altLang="zh-CN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辨识度提升</a:t>
            </a:r>
            <a:endParaRPr lang="zh-CN" altLang="en-US" sz="120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8068945" y="1927860"/>
            <a:ext cx="3546475" cy="3529330"/>
          </a:xfrm>
          <a:custGeom>
            <a:avLst/>
            <a:gdLst>
              <a:gd name="sw" fmla="*/ 1 w 5585"/>
              <a:gd name="sh" fmla="*/ 1 h 5557"/>
              <a:gd name="mins" fmla="min sw sh"/>
              <a:gd name="dsw" fmla="+- 0 sw mins"/>
              <a:gd name="dsh" fmla="+- 0 sh mins"/>
              <a:gd name="p0x0" fmla="*/ 240 w 5585"/>
              <a:gd name="p0y0" fmla="*/ 0 h 5557"/>
              <a:gd name="p0x1" fmla="*/ 5345 w 5585"/>
              <a:gd name="p0y1" fmla="*/ 0 h 5557"/>
              <a:gd name="p0x2" fmla="*/ 5477 w 5585"/>
              <a:gd name="p0y2" fmla="*/ 0 h 5557"/>
              <a:gd name="p0x3" fmla="*/ 5585 w 5585"/>
              <a:gd name="p0y3" fmla="*/ 107 h 5557"/>
              <a:gd name="p0x4" fmla="*/ 5585 w 5585"/>
              <a:gd name="p0y4" fmla="*/ 240 h 5557"/>
              <a:gd name="p0x5" fmla="*/ 5585 w 5585"/>
              <a:gd name="p0y5" fmla="*/ 5317 h 5557"/>
              <a:gd name="p0x6" fmla="*/ 5585 w 5585"/>
              <a:gd name="p0y6" fmla="*/ 5450 h 5557"/>
              <a:gd name="p0x7" fmla="*/ 5477 w 5585"/>
              <a:gd name="p0y7" fmla="*/ 5557 h 5557"/>
              <a:gd name="p0x8" fmla="*/ 5345 w 5585"/>
              <a:gd name="p0y8" fmla="*/ 5557 h 5557"/>
              <a:gd name="p0x9" fmla="*/ 240 w 5585"/>
              <a:gd name="p0y9" fmla="*/ 5557 h 5557"/>
              <a:gd name="p0x10" fmla="*/ 107 w 5585"/>
              <a:gd name="p0y10" fmla="*/ 5557 h 5557"/>
              <a:gd name="p0x11" fmla="*/ 0 w 5585"/>
              <a:gd name="p0y11" fmla="*/ 5450 h 5557"/>
              <a:gd name="p0x12" fmla="*/ 0 w 5585"/>
              <a:gd name="p0y12" fmla="*/ 5317 h 5557"/>
              <a:gd name="p0x13" fmla="*/ 0 w 5585"/>
              <a:gd name="p0y13" fmla="*/ 240 h 5557"/>
              <a:gd name="p0x14" fmla="*/ 0 w 5585"/>
              <a:gd name="p0y14" fmla="*/ 107 h 5557"/>
              <a:gd name="p0x15" fmla="*/ 107 w 5585"/>
              <a:gd name="p0y15" fmla="*/ 0 h 5557"/>
              <a:gd name="p0x16" fmla="*/ 240 w 5585"/>
              <a:gd name="p0y16" fmla="*/ 0 h 55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8264576" y="2104911"/>
            <a:ext cx="325911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版本宣传时嵌入福利信息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8264525" y="286385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8264576" y="2954541"/>
            <a:ext cx="3155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 spc="-15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现状：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漏斗底部缺乏直接转化钩子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8264576" y="3945141"/>
            <a:ext cx="31559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 spc="-15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建议：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最后一张图加入</a:t>
            </a: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登录奖励、限定角色</a:t>
            </a:r>
            <a:r>
              <a:rPr 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等福利信息，直接作用于下载转化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底部效率远高于顶部</a:t>
            </a:r>
            <a:endParaRPr lang="zh-CN" altLang="en-US"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8264525" y="4892675"/>
            <a:ext cx="3155950" cy="389890"/>
            <a:chOff x="13015" y="7705"/>
            <a:chExt cx="4970" cy="614"/>
          </a:xfrm>
        </p:grpSpPr>
        <p:sp>
          <p:nvSpPr>
            <p:cNvPr id="36" name="任意多边形 35"/>
            <p:cNvSpPr/>
            <p:nvPr>
              <p:custDataLst>
                <p:tags r:id="rId34"/>
              </p:custDataLst>
            </p:nvPr>
          </p:nvSpPr>
          <p:spPr>
            <a:xfrm>
              <a:off x="13015" y="7705"/>
              <a:ext cx="4970" cy="615"/>
            </a:xfrm>
            <a:custGeom>
              <a:avLst/>
              <a:gdLst>
                <a:gd name="sw" fmla="*/ 1 w 4970"/>
                <a:gd name="sh" fmla="*/ 1 h 615"/>
                <a:gd name="mins" fmla="min sw sh"/>
                <a:gd name="dsw" fmla="+- 0 sw mins"/>
                <a:gd name="dsh" fmla="+- 0 sh mins"/>
                <a:gd name="p0x0" fmla="*/ 0 w 4970"/>
                <a:gd name="p0y0" fmla="*/ 0 h 615"/>
                <a:gd name="p0x1" fmla="*/ 4970 w 4970"/>
                <a:gd name="p0y1" fmla="*/ 0 h 615"/>
                <a:gd name="p0x2" fmla="*/ 4970 w 4970"/>
                <a:gd name="p0y2" fmla="*/ 615 h 615"/>
                <a:gd name="p0x3" fmla="*/ 0 w 4970"/>
                <a:gd name="p0y3" fmla="*/ 615 h 615"/>
                <a:gd name="p0x4" fmla="*/ 0 w 497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5"/>
              </p:custDataLst>
            </p:nvPr>
          </p:nvSpPr>
          <p:spPr>
            <a:xfrm>
              <a:off x="13015" y="7705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0 w 4970"/>
                <a:gd name="p0y0" fmla="*/ 0 h 15"/>
                <a:gd name="p0x1" fmla="*/ 4970 w 4970"/>
                <a:gd name="p0y1" fmla="*/ 0 h 15"/>
                <a:gd name="p0x2" fmla="*/ 4970 w 4970"/>
                <a:gd name="p0y2" fmla="*/ 15 h 15"/>
                <a:gd name="p0x3" fmla="*/ 0 w 4970"/>
                <a:gd name="p0y3" fmla="*/ 15 h 15"/>
                <a:gd name="p0x4" fmla="*/ 0 w 497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D8E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任意多边形 38"/>
          <p:cNvSpPr/>
          <p:nvPr>
            <p:custDataLst>
              <p:tags r:id="rId36"/>
            </p:custDataLst>
          </p:nvPr>
        </p:nvSpPr>
        <p:spPr>
          <a:xfrm>
            <a:off x="8264525" y="50165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21c448c1-858a-11f1-987b-d618888e8aab"/>
          <p:cNvPicPr/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3" t="-133" r="33" b="133"/>
          <a:stretch>
            <a:fillRect/>
          </a:stretch>
        </p:blipFill>
        <p:spPr>
          <a:xfrm>
            <a:off x="8321675" y="5073650"/>
            <a:ext cx="15240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8607476" y="5050041"/>
            <a:ext cx="16231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转化钩子</a:t>
            </a:r>
            <a:r>
              <a:rPr lang="en-US" altLang="zh-CN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200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底部效率</a:t>
            </a:r>
            <a:endParaRPr lang="zh-CN" altLang="en-US" sz="1200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行业借鉴：信息递进是可以复用的方法论</a:t>
            </a:r>
            <a:endParaRPr sz="30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972185"/>
            <a:ext cx="11049000" cy="952500"/>
          </a:xfrm>
          <a:custGeom>
            <a:avLst/>
            <a:gdLst>
              <a:gd name="sw" fmla="*/ 1 w 17400"/>
              <a:gd name="sh" fmla="*/ 1 h 1500"/>
              <a:gd name="mins" fmla="min sw sh"/>
              <a:gd name="dsw" fmla="+- 0 sw mins"/>
              <a:gd name="dsh" fmla="+- 0 sh mins"/>
              <a:gd name="p0x0" fmla="*/ 240 w 17400"/>
              <a:gd name="p0y0" fmla="*/ 0 h 1500"/>
              <a:gd name="p0x1" fmla="*/ 17160 w 17400"/>
              <a:gd name="p0y1" fmla="*/ 0 h 1500"/>
              <a:gd name="p0x2" fmla="*/ 17292 w 17400"/>
              <a:gd name="p0y2" fmla="*/ 0 h 1500"/>
              <a:gd name="p0x3" fmla="*/ 17400 w 17400"/>
              <a:gd name="p0y3" fmla="*/ 107 h 1500"/>
              <a:gd name="p0x4" fmla="*/ 17400 w 17400"/>
              <a:gd name="p0y4" fmla="*/ 240 h 1500"/>
              <a:gd name="p0x5" fmla="*/ 17400 w 17400"/>
              <a:gd name="p0y5" fmla="*/ 1260 h 1500"/>
              <a:gd name="p0x6" fmla="*/ 17400 w 17400"/>
              <a:gd name="p0y6" fmla="*/ 1392 h 1500"/>
              <a:gd name="p0x7" fmla="*/ 17292 w 17400"/>
              <a:gd name="p0y7" fmla="*/ 1500 h 1500"/>
              <a:gd name="p0x8" fmla="*/ 17160 w 17400"/>
              <a:gd name="p0y8" fmla="*/ 1500 h 1500"/>
              <a:gd name="p0x9" fmla="*/ 240 w 17400"/>
              <a:gd name="p0y9" fmla="*/ 1500 h 1500"/>
              <a:gd name="p0x10" fmla="*/ 107 w 17400"/>
              <a:gd name="p0y10" fmla="*/ 1500 h 1500"/>
              <a:gd name="p0x11" fmla="*/ 0 w 17400"/>
              <a:gd name="p0y11" fmla="*/ 1392 h 1500"/>
              <a:gd name="p0x12" fmla="*/ 0 w 17400"/>
              <a:gd name="p0y12" fmla="*/ 1260 h 1500"/>
              <a:gd name="p0x13" fmla="*/ 0 w 17400"/>
              <a:gd name="p0y13" fmla="*/ 240 h 1500"/>
              <a:gd name="p0x14" fmla="*/ 0 w 17400"/>
              <a:gd name="p0y14" fmla="*/ 107 h 1500"/>
              <a:gd name="p0x15" fmla="*/ 107 w 17400"/>
              <a:gd name="p0y15" fmla="*/ 0 h 1500"/>
              <a:gd name="p0x16" fmla="*/ 240 w 17400"/>
              <a:gd name="p0y16" fmla="*/ 0 h 15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148001"/>
            <a:ext cx="10515753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蔚蓝档案的商店五图并未发明全新设计语言，只是严格执行了一个被许多产品忽视的原则：</a:t>
            </a:r>
            <a:r>
              <a:rPr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遵循用户决策路径，逐步建立认同</a:t>
            </a:r>
            <a:endParaRPr b="1">
              <a:solidFill>
                <a:srgbClr val="FF6B9E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026285"/>
            <a:ext cx="11039475" cy="3430905"/>
          </a:xfrm>
          <a:custGeom>
            <a:avLst/>
            <a:gdLst>
              <a:gd name="sw" fmla="*/ 1 w 17385"/>
              <a:gd name="sh" fmla="*/ 1 h 5403"/>
              <a:gd name="mins" fmla="min sw sh"/>
              <a:gd name="dsw" fmla="+- 0 sw mins"/>
              <a:gd name="dsh" fmla="+- 0 sh mins"/>
              <a:gd name="p0x0" fmla="*/ 240 w 17385"/>
              <a:gd name="p0y0" fmla="*/ 0 h 5403"/>
              <a:gd name="p0x1" fmla="*/ 17145 w 17385"/>
              <a:gd name="p0y1" fmla="*/ 0 h 5403"/>
              <a:gd name="p0x2" fmla="*/ 17277 w 17385"/>
              <a:gd name="p0y2" fmla="*/ 0 h 5403"/>
              <a:gd name="p0x3" fmla="*/ 17385 w 17385"/>
              <a:gd name="p0y3" fmla="*/ 107 h 5403"/>
              <a:gd name="p0x4" fmla="*/ 17385 w 17385"/>
              <a:gd name="p0y4" fmla="*/ 240 h 5403"/>
              <a:gd name="p0x5" fmla="*/ 17385 w 17385"/>
              <a:gd name="p0y5" fmla="*/ 5163 h 5403"/>
              <a:gd name="p0x6" fmla="*/ 17385 w 17385"/>
              <a:gd name="p0y6" fmla="*/ 5295 h 5403"/>
              <a:gd name="p0x7" fmla="*/ 17277 w 17385"/>
              <a:gd name="p0y7" fmla="*/ 5403 h 5403"/>
              <a:gd name="p0x8" fmla="*/ 17145 w 17385"/>
              <a:gd name="p0y8" fmla="*/ 5403 h 5403"/>
              <a:gd name="p0x9" fmla="*/ 240 w 17385"/>
              <a:gd name="p0y9" fmla="*/ 5403 h 5403"/>
              <a:gd name="p0x10" fmla="*/ 107 w 17385"/>
              <a:gd name="p0y10" fmla="*/ 5403 h 5403"/>
              <a:gd name="p0x11" fmla="*/ 0 w 17385"/>
              <a:gd name="p0y11" fmla="*/ 5295 h 5403"/>
              <a:gd name="p0x12" fmla="*/ 0 w 17385"/>
              <a:gd name="p0y12" fmla="*/ 5163 h 5403"/>
              <a:gd name="p0x13" fmla="*/ 0 w 17385"/>
              <a:gd name="p0y13" fmla="*/ 240 h 5403"/>
              <a:gd name="p0x14" fmla="*/ 0 w 17385"/>
              <a:gd name="p0y14" fmla="*/ 107 h 5403"/>
              <a:gd name="p0x15" fmla="*/ 107 w 17385"/>
              <a:gd name="p0y15" fmla="*/ 0 h 5403"/>
              <a:gd name="p0x16" fmla="*/ 240 w 17385"/>
              <a:gd name="p0y16" fmla="*/ 0 h 54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E0EC"/>
            </a:solidFill>
            <a:prstDash val="solid"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2205437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三条核心原则</a:t>
            </a:r>
            <a:endParaRPr sz="2100" b="1" spc="42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27641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826513" y="2836945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sz="1950" b="1">
              <a:solidFill>
                <a:srgbClr val="FF8AB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343025" y="2730265"/>
            <a:ext cx="87630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单点聚焦</a:t>
            </a:r>
            <a:endParaRPr b="1" spc="36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1343025" y="3055068"/>
            <a:ext cx="914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每个展示位只回答一个问题。</a:t>
            </a:r>
            <a:r>
              <a:rPr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用户滑动浏览时每次只能处理一个核心信息，试图传递多个卖点只会被跳过</a:t>
            </a:r>
            <a:endParaRPr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771525" y="35071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826513" y="3579895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sz="1950" b="1">
              <a:solidFill>
                <a:srgbClr val="FF8AB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343025" y="3473215"/>
            <a:ext cx="10077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路径优先</a:t>
            </a:r>
            <a:endParaRPr b="1" spc="36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343025" y="3798017"/>
            <a:ext cx="10077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信息按决策路径排序，而非按重要性排序。</a:t>
            </a:r>
            <a:r>
              <a:rPr 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先建立品类认知，再展示差异优势，最后推动转化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而非按开发者视角的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重要性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罗列</a:t>
            </a:r>
            <a:endParaRPr lang="zh-CN" altLang="en-US"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771525" y="45548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826513" y="4627645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FF8AB5"/>
                </a:solidFill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sz="1950" b="1">
              <a:solidFill>
                <a:srgbClr val="FF8AB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343025" y="4520965"/>
            <a:ext cx="865562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情感锚定</a:t>
            </a:r>
            <a:endParaRPr b="1" spc="36">
              <a:solidFill>
                <a:srgbClr val="2C3E50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343025" y="4845767"/>
            <a:ext cx="903662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</a:rPr>
              <a:t>用情感共鸣替代功能罗列。</a:t>
            </a:r>
            <a:r>
              <a:rPr 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二次元用户对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战力养成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等功能描述免疫，但对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陪伴感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""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被需要感</a:t>
            </a:r>
            <a:r>
              <a:rPr lang="en-US" altLang="zh-CN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50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高度敏感</a:t>
            </a:r>
            <a:endParaRPr lang="zh-CN" altLang="en-US" sz="150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571500" y="5749925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6E8"/>
          </a:solidFill>
          <a:ln>
            <a:noFill/>
          </a:ln>
          <a:effectLst>
            <a:outerShdw blurRad="114300" dist="19050" dir="5399999" algn="ctr" rotWithShape="0">
              <a:srgbClr val="FFB6D9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62000" y="5925750"/>
            <a:ext cx="59437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不堆砌卖点，只铺设路径</a:t>
            </a:r>
            <a:r>
              <a:rPr lang="en-US" altLang="zh-CN" b="1">
                <a:solidFill>
                  <a:srgbClr val="2C3E5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b="1">
                <a:solidFill>
                  <a:srgbClr val="FF6B9E"/>
                </a:solidFill>
                <a:latin typeface="MiSans Normal" panose="00000500000000000000" charset="-122"/>
                <a:ea typeface="MiSans Normal" panose="00000500000000000000" charset="-122"/>
              </a:rPr>
              <a:t>让用户自己走向下载按钮</a:t>
            </a:r>
            <a:endParaRPr b="1">
              <a:solidFill>
                <a:srgbClr val="FF6B9E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809625" y="1522590"/>
            <a:ext cx="906961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ENDING</a:t>
            </a:r>
            <a:endParaRPr sz="1050" b="1" spc="315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66750" y="1933118"/>
            <a:ext cx="4533900" cy="1398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信息递进，</a:t>
            </a:r>
            <a:endParaRPr sz="4200" b="1">
              <a:solidFill>
                <a:srgbClr val="2C3E50"/>
              </a:solidFill>
              <a:latin typeface="MiSans Demibold" panose="00000700000000000000" charset="-122"/>
              <a:ea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3E50"/>
                </a:solidFill>
                <a:latin typeface="MiSans Demibold" panose="00000700000000000000" charset="-122"/>
                <a:ea typeface="MiSans Demibold" panose="00000700000000000000" charset="-122"/>
              </a:rPr>
              <a:t>是最好的</a:t>
            </a:r>
            <a:r>
              <a:rPr sz="4200" b="1">
                <a:solidFill>
                  <a:srgbClr val="FF8AB5"/>
                </a:solidFill>
                <a:latin typeface="MiSans Demibold" panose="00000700000000000000" charset="-122"/>
                <a:ea typeface="MiSans Demibold" panose="00000700000000000000" charset="-122"/>
              </a:rPr>
              <a:t>转化设计</a:t>
            </a:r>
            <a:endParaRPr sz="4200" b="1">
              <a:solidFill>
                <a:srgbClr val="FF8AB5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666750" y="3603625"/>
            <a:ext cx="5705475" cy="9525"/>
          </a:xfrm>
          <a:prstGeom prst="rect">
            <a:avLst/>
          </a:prstGeom>
          <a:solidFill>
            <a:srgbClr val="F0D0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666750" y="3903840"/>
            <a:ext cx="504445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不堆砌卖点，只铺设路径</a:t>
            </a:r>
            <a:r>
              <a:rPr lang="en-US" altLang="zh-CN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——</a:t>
            </a:r>
            <a:r>
              <a:rPr lang="zh-CN" altLang="en-US"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让用户自己走向下载按钮</a:t>
            </a:r>
            <a:endParaRPr lang="zh-CN" altLang="en-US"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666750" y="4437240"/>
            <a:ext cx="465586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6B7A"/>
                </a:solidFill>
                <a:latin typeface="MiSans Normal" panose="00000500000000000000" charset="-122"/>
                <a:ea typeface="MiSans Normal" panose="00000500000000000000" charset="-122"/>
              </a:rPr>
              <a:t>商店五图的本质，是一场精心编排的用户决策旅程</a:t>
            </a:r>
            <a:endParaRPr sz="1500" spc="30">
              <a:solidFill>
                <a:srgbClr val="5A6B7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666750" y="5045888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8A9BA8"/>
                </a:solidFill>
                <a:latin typeface="MiSans Normal" panose="00000500000000000000" charset="-122"/>
                <a:ea typeface="MiSans Normal" panose="00000500000000000000" charset="-122"/>
              </a:rPr>
              <a:t>感谢观看</a:t>
            </a:r>
            <a:endParaRPr sz="1350">
              <a:solidFill>
                <a:srgbClr val="8A9BA8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 rot="2700000">
            <a:off x="666115" y="1586865"/>
            <a:ext cx="48260" cy="47625"/>
          </a:xfrm>
          <a:prstGeom prst="rect">
            <a:avLst/>
          </a:prstGeom>
          <a:solidFill>
            <a:srgbClr val="FF8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1678305" y="1605915"/>
            <a:ext cx="228600" cy="9525"/>
          </a:xfrm>
          <a:prstGeom prst="rect">
            <a:avLst/>
          </a:prstGeom>
          <a:solidFill>
            <a:srgbClr val="FF8AB5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2667</Words>
  <Application>WPS 演示</Application>
  <PresentationFormat>宽屏</PresentationFormat>
  <Paragraphs>328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MiSans Demibold</vt:lpstr>
      <vt:lpstr>MiSans Normal</vt:lpstr>
      <vt:lpstr>微软雅黑</vt:lpstr>
      <vt:lpstr>Arial Unicode MS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风麟寒</cp:lastModifiedBy>
  <cp:revision>1</cp:revision>
  <dcterms:created xsi:type="dcterms:W3CDTF">2026-07-22T05:43:00Z</dcterms:created>
  <dcterms:modified xsi:type="dcterms:W3CDTF">2026-07-22T05:43:00Z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F6BC6DD2E5184C858629E512BF31CA17_13</vt:lpwstr>
  </property>
  <property fmtid="{D5CDD505-2E9C-101B-9397-08002B2CF9AE}" pid="4" name="KSOAIPPTCode">
    <vt:lpwstr>AdNaxGaWlS1YBVP2tdEiUs2mOBBrI9v4LrdDqWMsAz/Uo2CH61fwKhMbcJ5+No5TVvQonJrNDNh03dWQ5Kv5W3gf4Sb1m1hglAMzmK8oK/ZuJ+XBr6Cgcf9P6pzQPBcLZs+2SxMbc2vLP4kqTkkt+t9ZUZmKHJMBqSPiownd8PAyVqrHuyWX/w+/I2RXvyu0810KHPpdI83Qqho8a0asby8vYYOOyEj+THi395VR5XoP4JUC2iXsagyBFymYofis28zUSybWD/feCFrYtPX6awV3uVKoxnmWGjK9NN/rMh/vaWSzY2p5UPDTU2QrsXVVapqdwoNKiOnoT2NmP8ybew==</vt:lpwstr>
  </property>
</Properties>
</file>