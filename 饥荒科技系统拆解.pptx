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4.png"/><Relationship Id="rId7" Type="http://schemas.openxmlformats.org/officeDocument/2006/relationships/image" Target="../media/image-2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sv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1.png"/><Relationship Id="rId8" Type="http://schemas.openxmlformats.org/officeDocument/2006/relationships/image" Target="../media/image-13-2.sv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1.png"/><Relationship Id="rId4" Type="http://schemas.openxmlformats.org/officeDocument/2006/relationships/image" Target="../media/image-15-2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552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《饥荒联机版》科技系统拆解与体验优化</a:t>
            </a:r>
            <a:endParaRPr lang="zh-CN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2154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DESIGN CASE STUDY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90028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游戏系统策划 · 个人作品集</a:t>
            </a:r>
            <a:endParaRPr lang="zh-CN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1280"/>
            <a:ext cx="805140" cy="278110"/>
          </a:xfrm>
          <a:prstGeom prst="roundRect">
            <a:avLst>
              <a:gd name="adj" fmla="val 7901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1307" y="616148"/>
            <a:ext cx="1195060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分析动机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0332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为什么我开始认真研究科技系统</a:t>
            </a:r>
            <a:endParaRPr lang="zh-CN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1908175"/>
            <a:ext cx="577676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玩了几百小时之后，我发现自己每局都在重复某些科技路线，却几乎从不碰另一些。这不是习惯问题——科技系统本身就在</a:t>
            </a:r>
            <a:pPr algn="l" indent="0" marL="0">
              <a:lnSpc>
                <a:spcPct val="131000"/>
              </a:lnSpc>
              <a:buNone/>
            </a:pPr>
            <a:r>
              <a:rPr lang="zh-CN" alt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塑造我的行为</a:t>
            </a:r>
            <a:pPr algn="l" indent="0" marL="0">
              <a:lnSpc>
                <a:spcPct val="131000"/>
              </a:lnSpc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。它决定了我什么时候出门探索、什么时候扎营建设、什么时候冒险换区。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2972991"/>
            <a:ext cx="5776768" cy="987623"/>
          </a:xfrm>
          <a:prstGeom prst="roundRect">
            <a:avLst>
              <a:gd name="adj" fmla="val 2781"/>
            </a:avLst>
          </a:prstGeom>
          <a:solidFill>
            <a:srgbClr val="CCD7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29" y="3232646"/>
            <a:ext cx="228793" cy="1830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6376" y="3178373"/>
            <a:ext cx="4998813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我真正想搞清楚的问题：</a:t>
            </a:r>
            <a:pPr algn="l" indent="0" marL="0">
              <a:lnSpc>
                <a:spcPct val="13100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为什么有些科技我几乎每局都做，有些却很少做？</a:t>
            </a:r>
            <a:pPr algn="l" indent="0" marL="0">
              <a:lnSpc>
                <a:spcPct val="1310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这个答案能揭示系统设计背后的深层逻辑。</a:t>
            </a:r>
            <a:endParaRPr lang="zh-CN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1264" y="1948061"/>
            <a:ext cx="4645206" cy="14571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01315" y="2156520"/>
            <a:ext cx="412670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不只是解锁配方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7201315" y="2619871"/>
            <a:ext cx="412670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科技是驱动玩家行为的调度器，而不是一张奖励清单</a:t>
            </a:r>
            <a:endParaRPr lang="zh-CN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1264" y="3582491"/>
            <a:ext cx="4645206" cy="11686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01315" y="3790950"/>
            <a:ext cx="412670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每局都在重复的选择</a:t>
            </a:r>
            <a:endParaRPr lang="zh-CN" sz="1800" dirty="0"/>
          </a:p>
        </p:txBody>
      </p:sp>
      <p:sp>
        <p:nvSpPr>
          <p:cNvPr id="14" name="Text 9"/>
          <p:cNvSpPr/>
          <p:nvPr/>
        </p:nvSpPr>
        <p:spPr>
          <a:xfrm>
            <a:off x="7201315" y="4254302"/>
            <a:ext cx="4126702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哪些科技"必做"、哪些"几乎不碰"，背后有规律可循</a:t>
            </a:r>
            <a:endParaRPr lang="zh-CN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1264" y="4928493"/>
            <a:ext cx="4645206" cy="116869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01315" y="5136952"/>
            <a:ext cx="412670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玩家视角的系统拆解</a:t>
            </a:r>
            <a:endParaRPr lang="zh-CN" sz="1800" dirty="0"/>
          </a:p>
        </p:txBody>
      </p:sp>
      <p:sp>
        <p:nvSpPr>
          <p:cNvPr id="17" name="Text 11"/>
          <p:cNvSpPr/>
          <p:nvPr/>
        </p:nvSpPr>
        <p:spPr>
          <a:xfrm>
            <a:off x="7201315" y="5600303"/>
            <a:ext cx="4126702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从真实游玩体验出发，比数据更能发现设计意图</a:t>
            </a:r>
            <a:endParaRPr lang="zh-C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11573"/>
            <a:ext cx="831234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168227"/>
            <a:ext cx="12140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核心体验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474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游戏核心体验</a:t>
            </a:r>
            <a:endParaRPr lang="zh-CN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3348434"/>
            <a:ext cx="3496877" cy="1397893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3537446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共同生存</a:t>
            </a:r>
            <a:endParaRPr lang="zh-CN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3952478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与朋友在永恒大陆中收集资源、建设基地，合力应对世界的敌意</a:t>
            </a:r>
            <a:endParaRPr lang="zh-CN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3348434"/>
            <a:ext cx="3496877" cy="1397893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3537446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🏕️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安全空间</a:t>
            </a:r>
            <a:endParaRPr lang="zh-CN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3952478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在高度危险的环境中，建立属于自己的安全据点与稳定供给</a:t>
            </a:r>
            <a:endParaRPr lang="zh-CN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3348434"/>
            <a:ext cx="3496877" cy="1397893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3537446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成长循环</a:t>
            </a:r>
            <a:endParaRPr lang="zh-CN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3952478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资源 → 工具 → 能力 → 新目标，每一步都推动下一个行动</a:t>
            </a:r>
            <a:endParaRPr lang="zh-CN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2249"/>
            <a:ext cx="581804" cy="20111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731937"/>
            <a:ext cx="1032643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系统定位</a:t>
            </a:r>
            <a:endParaRPr lang="zh-CN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3037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科技系统的枢纽作用</a:t>
            </a:r>
            <a:endParaRPr lang="zh-CN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3554214"/>
            <a:ext cx="415388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科技系统不是独立的配方库，而是</a:t>
            </a:r>
            <a:pPr algn="l" indent="0" marL="0">
              <a:lnSpc>
                <a:spcPct val="113000"/>
              </a:lnSpc>
              <a:buNone/>
            </a:pPr>
            <a:r>
              <a:rPr lang="zh-CN" alt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连接所有玩法支柱的传动轴</a:t>
            </a:r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。它通过控制能力释放的节奏，间接驱动玩家的资源获取、探索、成长与建设行为——所有系统的运转，都以科技为核心引擎。</a:t>
            </a:r>
            <a:endParaRPr lang="zh-CN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4363" y="1586905"/>
            <a:ext cx="4474455" cy="44745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027"/>
            <a:ext cx="581804" cy="20111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569714"/>
            <a:ext cx="1032643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系统结构</a:t>
            </a:r>
            <a:endParaRPr lang="zh-CN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6815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科技分级与问题解决</a:t>
            </a:r>
            <a:endParaRPr lang="zh-CN" sz="2600" dirty="0"/>
          </a:p>
        </p:txBody>
      </p:sp>
      <p:sp>
        <p:nvSpPr>
          <p:cNvPr id="5" name="Shape 3"/>
          <p:cNvSpPr/>
          <p:nvPr/>
        </p:nvSpPr>
        <p:spPr>
          <a:xfrm>
            <a:off x="661475" y="1320502"/>
            <a:ext cx="1086815" cy="948630"/>
          </a:xfrm>
          <a:prstGeom prst="roundRect">
            <a:avLst>
              <a:gd name="adj" fmla="val 2092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111817" y="1678484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880545" y="1452761"/>
            <a:ext cx="951742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🏛️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远古科技</a:t>
            </a:r>
            <a:endParaRPr lang="zh-CN" sz="1300" dirty="0"/>
          </a:p>
        </p:txBody>
      </p:sp>
      <p:sp>
        <p:nvSpPr>
          <p:cNvPr id="8" name="Text 6"/>
          <p:cNvSpPr/>
          <p:nvPr/>
        </p:nvSpPr>
        <p:spPr>
          <a:xfrm>
            <a:off x="1880545" y="1721346"/>
            <a:ext cx="9517420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zh-CN" alt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解决"终局成长"</a:t>
            </a:r>
            <a:endParaRPr lang="zh-CN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远古遗迹相关的终极内容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1814368" y="2261195"/>
            <a:ext cx="9649774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335213"/>
            <a:ext cx="2173729" cy="948630"/>
          </a:xfrm>
          <a:prstGeom prst="roundRect">
            <a:avLst>
              <a:gd name="adj" fmla="val 2092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655324" y="2693194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67459" y="2467471"/>
            <a:ext cx="8430506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✨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魔法科技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2967459" y="2736056"/>
            <a:ext cx="8430506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zh-CN" alt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解决"探索未知"</a:t>
            </a:r>
            <a:endParaRPr lang="zh-CN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魔法物品与特殊能力</a:t>
            </a:r>
            <a:endParaRPr lang="zh-CN" sz="1000" dirty="0"/>
          </a:p>
        </p:txBody>
      </p:sp>
      <p:sp>
        <p:nvSpPr>
          <p:cNvPr id="14" name="Shape 12"/>
          <p:cNvSpPr/>
          <p:nvPr/>
        </p:nvSpPr>
        <p:spPr>
          <a:xfrm>
            <a:off x="2901282" y="3275905"/>
            <a:ext cx="8562860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3349923"/>
            <a:ext cx="3260544" cy="948630"/>
          </a:xfrm>
          <a:prstGeom prst="roundRect">
            <a:avLst>
              <a:gd name="adj" fmla="val 2092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2198732" y="3707904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054274" y="3482181"/>
            <a:ext cx="7343691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高级科学</a:t>
            </a:r>
            <a:endParaRPr lang="zh-CN" sz="1300" dirty="0"/>
          </a:p>
        </p:txBody>
      </p:sp>
      <p:sp>
        <p:nvSpPr>
          <p:cNvPr id="18" name="Text 16"/>
          <p:cNvSpPr/>
          <p:nvPr/>
        </p:nvSpPr>
        <p:spPr>
          <a:xfrm>
            <a:off x="4054274" y="3750766"/>
            <a:ext cx="7343691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zh-CN" alt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解决"扩大能力"</a:t>
            </a:r>
            <a:endParaRPr lang="zh-CN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魔法花、传送门等高阶建筑</a:t>
            </a:r>
            <a:endParaRPr lang="zh-CN" sz="1000" dirty="0"/>
          </a:p>
        </p:txBody>
      </p:sp>
      <p:sp>
        <p:nvSpPr>
          <p:cNvPr id="19" name="Shape 17"/>
          <p:cNvSpPr/>
          <p:nvPr/>
        </p:nvSpPr>
        <p:spPr>
          <a:xfrm>
            <a:off x="3988097" y="4290616"/>
            <a:ext cx="7476045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75" y="4364633"/>
            <a:ext cx="4347458" cy="948630"/>
          </a:xfrm>
          <a:prstGeom prst="roundRect">
            <a:avLst>
              <a:gd name="adj" fmla="val 2092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2139" y="4722614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141189" y="4496891"/>
            <a:ext cx="6256776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⚗️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科学科技</a:t>
            </a:r>
            <a:endParaRPr lang="zh-CN" sz="1300" dirty="0"/>
          </a:p>
        </p:txBody>
      </p:sp>
      <p:sp>
        <p:nvSpPr>
          <p:cNvPr id="23" name="Text 21"/>
          <p:cNvSpPr/>
          <p:nvPr/>
        </p:nvSpPr>
        <p:spPr>
          <a:xfrm>
            <a:off x="5141189" y="4765477"/>
            <a:ext cx="6256776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zh-CN" alt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解决"提高效率"</a:t>
            </a:r>
            <a:endParaRPr lang="zh-CN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工作台、冰箱、烹饪锅等生活设施</a:t>
            </a:r>
            <a:endParaRPr lang="zh-CN" sz="1000" dirty="0"/>
          </a:p>
        </p:txBody>
      </p:sp>
      <p:sp>
        <p:nvSpPr>
          <p:cNvPr id="24" name="Shape 22"/>
          <p:cNvSpPr/>
          <p:nvPr/>
        </p:nvSpPr>
        <p:spPr>
          <a:xfrm>
            <a:off x="5075011" y="5305326"/>
            <a:ext cx="6389131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75" y="5379343"/>
            <a:ext cx="5434373" cy="948630"/>
          </a:xfrm>
          <a:prstGeom prst="roundRect">
            <a:avLst>
              <a:gd name="adj" fmla="val 2092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3285646" y="5737324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28103" y="5511602"/>
            <a:ext cx="5169862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🪓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基础生存</a:t>
            </a:r>
            <a:endParaRPr lang="zh-CN" sz="1300" dirty="0"/>
          </a:p>
        </p:txBody>
      </p:sp>
      <p:sp>
        <p:nvSpPr>
          <p:cNvPr id="28" name="Text 26"/>
          <p:cNvSpPr/>
          <p:nvPr/>
        </p:nvSpPr>
        <p:spPr>
          <a:xfrm>
            <a:off x="6228103" y="5780187"/>
            <a:ext cx="5169862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zh-CN" alt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解决"活下来"</a:t>
            </a:r>
            <a:endParaRPr lang="zh-CN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斧头、镐、火焰等初级工具</a:t>
            </a:r>
            <a:endParaRPr lang="zh-CN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4966"/>
            <a:ext cx="1332177" cy="26918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578048"/>
            <a:ext cx="1729240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GAMEPLAY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6052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科技系统如何驱动探索</a:t>
            </a:r>
            <a:endParaRPr lang="zh-CN" sz="3450" dirty="0"/>
          </a:p>
        </p:txBody>
      </p:sp>
      <p:sp>
        <p:nvSpPr>
          <p:cNvPr id="5" name="Shape 3"/>
          <p:cNvSpPr/>
          <p:nvPr/>
        </p:nvSpPr>
        <p:spPr>
          <a:xfrm>
            <a:off x="661475" y="1663402"/>
            <a:ext cx="10868745" cy="678656"/>
          </a:xfrm>
          <a:prstGeom prst="roundRect">
            <a:avLst>
              <a:gd name="adj" fmla="val 3917"/>
            </a:avLst>
          </a:prstGeom>
          <a:solidFill>
            <a:srgbClr val="CCD7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5" y="1902817"/>
            <a:ext cx="221451" cy="1772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7326" y="1873746"/>
            <a:ext cx="1072527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科技系统不是在</a:t>
            </a:r>
            <a:pPr algn="l" indent="0" marL="0">
              <a:lnSpc>
                <a:spcPct val="129000"/>
              </a:lnSpc>
              <a:buNone/>
            </a:pPr>
            <a:r>
              <a:rPr lang="zh-CN" altLang="en-US" sz="13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奖励</a:t>
            </a:r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探索，而是在</a:t>
            </a:r>
            <a:pPr algn="l" indent="0" marL="0">
              <a:lnSpc>
                <a:spcPct val="129000"/>
              </a:lnSpc>
              <a:buNone/>
            </a:pPr>
            <a:r>
              <a:rPr lang="zh-CN" altLang="en-US" sz="13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创造探索理由</a:t>
            </a:r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。</a:t>
            </a:r>
            <a:endParaRPr lang="zh-CN" sz="1350" dirty="0"/>
          </a:p>
        </p:txBody>
      </p:sp>
      <p:sp>
        <p:nvSpPr>
          <p:cNvPr id="8" name="Text 5"/>
          <p:cNvSpPr/>
          <p:nvPr/>
        </p:nvSpPr>
        <p:spPr>
          <a:xfrm>
            <a:off x="661475" y="2589014"/>
            <a:ext cx="335509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成长需求</a:t>
            </a:r>
            <a:endParaRPr lang="zh-CN" sz="1700" dirty="0"/>
          </a:p>
        </p:txBody>
      </p:sp>
      <p:sp>
        <p:nvSpPr>
          <p:cNvPr id="9" name="Text 6"/>
          <p:cNvSpPr/>
          <p:nvPr/>
        </p:nvSpPr>
        <p:spPr>
          <a:xfrm>
            <a:off x="661475" y="2965549"/>
            <a:ext cx="335509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需要更好的工具或设施</a:t>
            </a:r>
            <a:endParaRPr lang="zh-CN" sz="1350" dirty="0"/>
          </a:p>
        </p:txBody>
      </p:sp>
      <p:sp>
        <p:nvSpPr>
          <p:cNvPr id="10" name="Text 7"/>
          <p:cNvSpPr/>
          <p:nvPr/>
        </p:nvSpPr>
        <p:spPr>
          <a:xfrm>
            <a:off x="661475" y="3339802"/>
            <a:ext cx="3355097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9000"/>
              </a:lnSpc>
              <a:buNone/>
            </a:pPr>
            <a:r>
              <a:rPr lang="zh-CN" alt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玩家意识到当前能力不足，产生提升动机</a:t>
            </a:r>
            <a:endParaRPr lang="zh-CN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72" y="2528888"/>
            <a:ext cx="3804051" cy="3804146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5560" y="3047950"/>
            <a:ext cx="265106" cy="2651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75024" y="2589014"/>
            <a:ext cx="335519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资源缺口</a:t>
            </a:r>
            <a:endParaRPr lang="zh-CN" sz="1700" dirty="0"/>
          </a:p>
        </p:txBody>
      </p:sp>
      <p:sp>
        <p:nvSpPr>
          <p:cNvPr id="14" name="Text 9"/>
          <p:cNvSpPr/>
          <p:nvPr/>
        </p:nvSpPr>
        <p:spPr>
          <a:xfrm>
            <a:off x="8175024" y="2965549"/>
            <a:ext cx="335519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当前区域资源不足</a:t>
            </a:r>
            <a:endParaRPr lang="zh-CN" sz="1350" dirty="0"/>
          </a:p>
        </p:txBody>
      </p:sp>
      <p:sp>
        <p:nvSpPr>
          <p:cNvPr id="15" name="Text 10"/>
          <p:cNvSpPr/>
          <p:nvPr/>
        </p:nvSpPr>
        <p:spPr>
          <a:xfrm>
            <a:off x="8175024" y="3339802"/>
            <a:ext cx="3355197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玩家发现所需资源在当前区域无法获取</a:t>
            </a:r>
            <a:endParaRPr lang="zh-CN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72" y="2528888"/>
            <a:ext cx="3804051" cy="3804146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7199" y="3276848"/>
            <a:ext cx="265106" cy="2651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52224" y="3945632"/>
            <a:ext cx="317799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主动探索</a:t>
            </a:r>
            <a:endParaRPr lang="zh-CN" sz="1700" dirty="0"/>
          </a:p>
        </p:txBody>
      </p:sp>
      <p:sp>
        <p:nvSpPr>
          <p:cNvPr id="19" name="Text 12"/>
          <p:cNvSpPr/>
          <p:nvPr/>
        </p:nvSpPr>
        <p:spPr>
          <a:xfrm>
            <a:off x="8352224" y="4322167"/>
            <a:ext cx="317799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前往未知区域寻找资源</a:t>
            </a:r>
            <a:endParaRPr lang="zh-CN" sz="1350" dirty="0"/>
          </a:p>
        </p:txBody>
      </p:sp>
      <p:sp>
        <p:nvSpPr>
          <p:cNvPr id="20" name="Text 13"/>
          <p:cNvSpPr/>
          <p:nvPr/>
        </p:nvSpPr>
        <p:spPr>
          <a:xfrm>
            <a:off x="8352224" y="4696420"/>
            <a:ext cx="3177996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玩家被迫踏入未知领域，探索从被动变主动</a:t>
            </a:r>
            <a:endParaRPr lang="zh-CN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772" y="2528888"/>
            <a:ext cx="3804051" cy="3804146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4785" y="4527203"/>
            <a:ext cx="265106" cy="26511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175024" y="5302349"/>
            <a:ext cx="335519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获取特殊资源</a:t>
            </a:r>
            <a:endParaRPr lang="zh-CN" sz="1700" dirty="0"/>
          </a:p>
        </p:txBody>
      </p:sp>
      <p:sp>
        <p:nvSpPr>
          <p:cNvPr id="24" name="Text 15"/>
          <p:cNvSpPr/>
          <p:nvPr/>
        </p:nvSpPr>
        <p:spPr>
          <a:xfrm>
            <a:off x="8175024" y="5678884"/>
            <a:ext cx="335519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发现新的资源点或生物</a:t>
            </a:r>
            <a:endParaRPr lang="zh-CN" sz="1350" dirty="0"/>
          </a:p>
        </p:txBody>
      </p:sp>
      <p:sp>
        <p:nvSpPr>
          <p:cNvPr id="25" name="Text 16"/>
          <p:cNvSpPr/>
          <p:nvPr/>
        </p:nvSpPr>
        <p:spPr>
          <a:xfrm>
            <a:off x="8175024" y="6053138"/>
            <a:ext cx="3355197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玩家在探索中发现新地点与新内容</a:t>
            </a:r>
            <a:endParaRPr lang="zh-CN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3772" y="2528888"/>
            <a:ext cx="3804051" cy="3804146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20731" y="5548660"/>
            <a:ext cx="265106" cy="2651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61475" y="5302349"/>
            <a:ext cx="335509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解锁新能力</a:t>
            </a:r>
            <a:endParaRPr lang="zh-CN" sz="1700" dirty="0"/>
          </a:p>
        </p:txBody>
      </p:sp>
      <p:sp>
        <p:nvSpPr>
          <p:cNvPr id="29" name="Text 18"/>
          <p:cNvSpPr/>
          <p:nvPr/>
        </p:nvSpPr>
        <p:spPr>
          <a:xfrm>
            <a:off x="661475" y="5678884"/>
            <a:ext cx="335509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制作新科技，能力提升</a:t>
            </a:r>
            <a:endParaRPr lang="zh-CN" sz="1350" dirty="0"/>
          </a:p>
        </p:txBody>
      </p:sp>
      <p:sp>
        <p:nvSpPr>
          <p:cNvPr id="30" name="Text 19"/>
          <p:cNvSpPr/>
          <p:nvPr/>
        </p:nvSpPr>
        <p:spPr>
          <a:xfrm>
            <a:off x="661475" y="6053138"/>
            <a:ext cx="3355097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9000"/>
              </a:lnSpc>
              <a:buNone/>
            </a:pPr>
            <a:r>
              <a:rPr lang="zh-CN" alt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玩家获得成就感，感知到明显的成长飞跃</a:t>
            </a:r>
            <a:endParaRPr lang="zh-CN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3772" y="2528888"/>
            <a:ext cx="3804051" cy="3804146"/>
          </a:xfrm>
          <a:prstGeom prst="rect">
            <a:avLst/>
          </a:prstGeom>
        </p:spPr>
      </p:pic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09092" y="5319762"/>
            <a:ext cx="265106" cy="265113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61475" y="3945632"/>
            <a:ext cx="317789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产生新目标</a:t>
            </a:r>
            <a:endParaRPr lang="zh-CN" sz="1700" dirty="0"/>
          </a:p>
        </p:txBody>
      </p:sp>
      <p:sp>
        <p:nvSpPr>
          <p:cNvPr id="34" name="Text 21"/>
          <p:cNvSpPr/>
          <p:nvPr/>
        </p:nvSpPr>
        <p:spPr>
          <a:xfrm>
            <a:off x="661475" y="4322167"/>
            <a:ext cx="317789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新能力带来新的探索需求</a:t>
            </a:r>
            <a:endParaRPr lang="zh-CN" sz="1350" dirty="0"/>
          </a:p>
        </p:txBody>
      </p:sp>
      <p:sp>
        <p:nvSpPr>
          <p:cNvPr id="35" name="Text 22"/>
          <p:cNvSpPr/>
          <p:nvPr/>
        </p:nvSpPr>
        <p:spPr>
          <a:xfrm>
            <a:off x="661475" y="4696420"/>
            <a:ext cx="3177897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9000"/>
              </a:lnSpc>
              <a:buNone/>
            </a:pPr>
            <a:r>
              <a:rPr lang="zh-CN" alt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新能力开启新的可能，循环自然延续</a:t>
            </a:r>
            <a:endParaRPr lang="zh-CN" sz="11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3772" y="2528888"/>
            <a:ext cx="3804051" cy="3804146"/>
          </a:xfrm>
          <a:prstGeom prst="rect">
            <a:avLst/>
          </a:prstGeom>
        </p:spPr>
      </p:pic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51507" y="4069407"/>
            <a:ext cx="265106" cy="2651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3632"/>
            <a:ext cx="1076794" cy="272752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125" y="697409"/>
            <a:ext cx="1471080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个人游玩观察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8454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个人游玩观察：前期成长路径</a:t>
            </a:r>
            <a:endParaRPr lang="zh-CN" sz="3500" dirty="0"/>
          </a:p>
        </p:txBody>
      </p:sp>
      <p:sp>
        <p:nvSpPr>
          <p:cNvPr id="5" name="Shape 3"/>
          <p:cNvSpPr/>
          <p:nvPr/>
        </p:nvSpPr>
        <p:spPr>
          <a:xfrm>
            <a:off x="661475" y="356512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2758510" y="3026470"/>
            <a:ext cx="25399" cy="538659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2569205" y="3363119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2636573" y="339680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0957" y="1801614"/>
            <a:ext cx="38606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1–2：生存本能</a:t>
            </a:r>
            <a:endParaRPr lang="zh-CN" sz="1750" dirty="0"/>
          </a:p>
        </p:txBody>
      </p:sp>
      <p:sp>
        <p:nvSpPr>
          <p:cNvPr id="10" name="Text 8"/>
          <p:cNvSpPr/>
          <p:nvPr/>
        </p:nvSpPr>
        <p:spPr>
          <a:xfrm>
            <a:off x="840957" y="2184400"/>
            <a:ext cx="3860604" cy="662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收集木材、石头、草，制作基础工具和营火</a:t>
            </a:r>
            <a:endParaRPr lang="zh-CN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玩家目标：</a:t>
            </a:r>
            <a:pPr algn="ctr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活过第一个夜晚</a:t>
            </a:r>
            <a:endParaRPr lang="zh-CN" sz="1400" dirty="0"/>
          </a:p>
        </p:txBody>
      </p:sp>
      <p:sp>
        <p:nvSpPr>
          <p:cNvPr id="11" name="Shape 9"/>
          <p:cNvSpPr/>
          <p:nvPr/>
        </p:nvSpPr>
        <p:spPr>
          <a:xfrm>
            <a:off x="4974902" y="3565128"/>
            <a:ext cx="25399" cy="538659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785597" y="3363119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52965" y="339680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057349" y="4283373"/>
            <a:ext cx="38606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3–5：效率觉醒</a:t>
            </a:r>
            <a:endParaRPr lang="zh-CN" sz="1750" dirty="0"/>
          </a:p>
        </p:txBody>
      </p:sp>
      <p:sp>
        <p:nvSpPr>
          <p:cNvPr id="15" name="Text 13"/>
          <p:cNvSpPr/>
          <p:nvPr/>
        </p:nvSpPr>
        <p:spPr>
          <a:xfrm>
            <a:off x="3057349" y="4666159"/>
            <a:ext cx="3860604" cy="662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建立基地，制作工作台，解锁科学科技</a:t>
            </a:r>
            <a:endParaRPr lang="zh-CN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玩家目标：</a:t>
            </a:r>
            <a:pPr algn="ctr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建立稳定的资源供给</a:t>
            </a:r>
            <a:endParaRPr lang="zh-CN" sz="1400" dirty="0"/>
          </a:p>
        </p:txBody>
      </p:sp>
      <p:sp>
        <p:nvSpPr>
          <p:cNvPr id="16" name="Shape 14"/>
          <p:cNvSpPr/>
          <p:nvPr/>
        </p:nvSpPr>
        <p:spPr>
          <a:xfrm>
            <a:off x="7191294" y="3026470"/>
            <a:ext cx="25399" cy="538659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001990" y="3363119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7069358" y="339680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273742" y="1801614"/>
            <a:ext cx="38606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6–8：探索驱动</a:t>
            </a:r>
            <a:endParaRPr lang="zh-CN" sz="1750" dirty="0"/>
          </a:p>
        </p:txBody>
      </p:sp>
      <p:sp>
        <p:nvSpPr>
          <p:cNvPr id="20" name="Text 18"/>
          <p:cNvSpPr/>
          <p:nvPr/>
        </p:nvSpPr>
        <p:spPr>
          <a:xfrm>
            <a:off x="5273742" y="2184400"/>
            <a:ext cx="3860604" cy="662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探索周边区域，寻找特殊资源（金矿、硫磺等）</a:t>
            </a:r>
            <a:endParaRPr lang="zh-CN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玩家目标：</a:t>
            </a:r>
            <a:pPr algn="ctr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获得高级科技的材料</a:t>
            </a:r>
            <a:endParaRPr lang="zh-CN" sz="1400" dirty="0"/>
          </a:p>
        </p:txBody>
      </p:sp>
      <p:sp>
        <p:nvSpPr>
          <p:cNvPr id="21" name="Shape 19"/>
          <p:cNvSpPr/>
          <p:nvPr/>
        </p:nvSpPr>
        <p:spPr>
          <a:xfrm>
            <a:off x="9407687" y="3565128"/>
            <a:ext cx="25399" cy="538659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9218382" y="3363119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9285750" y="339680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490134" y="4283373"/>
            <a:ext cx="38606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9–10：战略储备</a:t>
            </a:r>
            <a:endParaRPr lang="zh-CN" sz="1750" dirty="0"/>
          </a:p>
        </p:txBody>
      </p:sp>
      <p:sp>
        <p:nvSpPr>
          <p:cNvPr id="25" name="Text 23"/>
          <p:cNvSpPr/>
          <p:nvPr/>
        </p:nvSpPr>
        <p:spPr>
          <a:xfrm>
            <a:off x="7490134" y="4666159"/>
            <a:ext cx="3860604" cy="662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制作高级工具和防御设施，为冬季做战略储备</a:t>
            </a:r>
            <a:endParaRPr lang="zh-CN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玩家目标：</a:t>
            </a:r>
            <a:pPr algn="ctr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应对环境挑战</a:t>
            </a:r>
            <a:endParaRPr lang="zh-CN" sz="1400" dirty="0"/>
          </a:p>
        </p:txBody>
      </p:sp>
      <p:sp>
        <p:nvSpPr>
          <p:cNvPr id="26" name="Shape 24"/>
          <p:cNvSpPr/>
          <p:nvPr/>
        </p:nvSpPr>
        <p:spPr>
          <a:xfrm>
            <a:off x="661475" y="5520531"/>
            <a:ext cx="10868745" cy="693837"/>
          </a:xfrm>
          <a:prstGeom prst="roundRect">
            <a:avLst>
              <a:gd name="adj" fmla="val 3882"/>
            </a:avLst>
          </a:prstGeom>
          <a:solidFill>
            <a:srgbClr val="CCD7F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57" y="5763022"/>
            <a:ext cx="224427" cy="17948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44867" y="5735935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这个路径反映了科技系统如何引导玩家的行为演变。</a:t>
            </a:r>
            <a:endParaRPr lang="zh-CN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81758"/>
            <a:ext cx="831234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738412"/>
            <a:ext cx="12140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系统价值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445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科技系统的设计价值</a:t>
            </a:r>
            <a:endParaRPr lang="zh-CN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107630"/>
            <a:ext cx="577022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设计优势</a:t>
            </a:r>
            <a:endParaRPr lang="zh-CN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598267"/>
            <a:ext cx="5770220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成长节奏控制：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分级科技给予玩家明确的进度感与阶段性成就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信息分层：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逐步解锁有效避免新手信息过载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资源消耗：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科技需求维持了整个经济系统的价值循环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探索驱动：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资源缺口促使玩家主动进入未知区域</a:t>
            </a:r>
            <a:endParaRPr lang="zh-CN" sz="1450" dirty="0"/>
          </a:p>
        </p:txBody>
      </p:sp>
      <p:sp>
        <p:nvSpPr>
          <p:cNvPr id="7" name="Text 5"/>
          <p:cNvSpPr/>
          <p:nvPr/>
        </p:nvSpPr>
        <p:spPr>
          <a:xfrm>
            <a:off x="6899202" y="3107630"/>
            <a:ext cx="463726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观察到的问题</a:t>
            </a:r>
            <a:endParaRPr lang="zh-CN" sz="1850" dirty="0"/>
          </a:p>
        </p:txBody>
      </p:sp>
      <p:sp>
        <p:nvSpPr>
          <p:cNvPr id="8" name="Text 6"/>
          <p:cNvSpPr/>
          <p:nvPr/>
        </p:nvSpPr>
        <p:spPr>
          <a:xfrm>
            <a:off x="6899202" y="3598267"/>
            <a:ext cx="5246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但在长期游玩中，我发现：</a:t>
            </a:r>
            <a:endParaRPr lang="zh-CN" sz="1450" dirty="0"/>
          </a:p>
        </p:txBody>
      </p:sp>
      <p:sp>
        <p:nvSpPr>
          <p:cNvPr id="9" name="Text 7"/>
          <p:cNvSpPr/>
          <p:nvPr/>
        </p:nvSpPr>
        <p:spPr>
          <a:xfrm>
            <a:off x="6899202" y="4070747"/>
            <a:ext cx="4637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部分科技被主动忽略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玩家难以感知低频科技的真实价值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某些科技的制作成本与收益存在失衡</a:t>
            </a:r>
            <a:endParaRPr lang="zh-CN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3484"/>
            <a:ext cx="489632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8247" y="606822"/>
            <a:ext cx="965672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个人分析</a:t>
            </a:r>
            <a:endParaRPr lang="zh-CN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68747"/>
            <a:ext cx="10868745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问题发现：科技选择的分化</a:t>
            </a:r>
            <a:endParaRPr lang="zh-CN" sz="2150" dirty="0"/>
          </a:p>
        </p:txBody>
      </p:sp>
      <p:sp>
        <p:nvSpPr>
          <p:cNvPr id="5" name="Text 3"/>
          <p:cNvSpPr/>
          <p:nvPr/>
        </p:nvSpPr>
        <p:spPr>
          <a:xfrm>
            <a:off x="661475" y="1215033"/>
            <a:ext cx="114783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个人观察：在长期游玩中，我发现科技的选择率存在明显分化。</a:t>
            </a:r>
            <a:endParaRPr lang="zh-CN" sz="850" dirty="0"/>
          </a:p>
        </p:txBody>
      </p:sp>
      <p:sp>
        <p:nvSpPr>
          <p:cNvPr id="6" name="Text 4"/>
          <p:cNvSpPr/>
          <p:nvPr/>
        </p:nvSpPr>
        <p:spPr>
          <a:xfrm>
            <a:off x="661475" y="1495822"/>
            <a:ext cx="52985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高频科技（几乎每局都做）</a:t>
            </a:r>
            <a:endParaRPr lang="zh-CN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1735336"/>
            <a:ext cx="5298546" cy="634702"/>
          </a:xfrm>
          <a:prstGeom prst="rect">
            <a:avLst/>
          </a:prstGeom>
          <a:noFill/>
          <a:ln/>
        </p:spPr>
        <p:txBody>
          <a:bodyPr wrap="square" lIns="0" tIns="44537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火坑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：基础照明 + 烹饪</a:t>
            </a:r>
            <a:endParaRPr lang="zh-CN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科学机器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：科技升级的必需品</a:t>
            </a:r>
            <a:endParaRPr lang="zh-CN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背包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：容量扩展</a:t>
            </a:r>
            <a:endParaRPr lang="zh-CN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基础工具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：生存必需</a:t>
            </a:r>
            <a:endParaRPr lang="zh-CN" sz="850" dirty="0"/>
          </a:p>
        </p:txBody>
      </p:sp>
      <p:sp>
        <p:nvSpPr>
          <p:cNvPr id="8" name="Text 6"/>
          <p:cNvSpPr/>
          <p:nvPr/>
        </p:nvSpPr>
        <p:spPr>
          <a:xfrm>
            <a:off x="6238024" y="1495822"/>
            <a:ext cx="52985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🔻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低频科技（很少主动制作）</a:t>
            </a:r>
            <a:endParaRPr lang="zh-CN" sz="1050" dirty="0"/>
          </a:p>
        </p:txBody>
      </p:sp>
      <p:sp>
        <p:nvSpPr>
          <p:cNvPr id="9" name="Text 7"/>
          <p:cNvSpPr/>
          <p:nvPr/>
        </p:nvSpPr>
        <p:spPr>
          <a:xfrm>
            <a:off x="6238024" y="1735336"/>
            <a:ext cx="5298546" cy="634702"/>
          </a:xfrm>
          <a:prstGeom prst="rect">
            <a:avLst/>
          </a:prstGeom>
          <a:noFill/>
          <a:ln/>
        </p:spPr>
        <p:txBody>
          <a:bodyPr wrap="square" lIns="0" tIns="44537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暗影灯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：照明 + 魔法属性</a:t>
            </a:r>
            <a:endParaRPr lang="zh-CN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蜜蜂地雷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：特殊防御</a:t>
            </a:r>
            <a:endParaRPr lang="zh-CN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寒冰护符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：特定场景防御</a:t>
            </a:r>
            <a:endParaRPr lang="zh-CN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火魔杖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：魔法输出</a:t>
            </a:r>
            <a:endParaRPr lang="zh-CN" sz="850" dirty="0"/>
          </a:p>
        </p:txBody>
      </p:sp>
      <p:sp>
        <p:nvSpPr>
          <p:cNvPr id="10" name="Text 8"/>
          <p:cNvSpPr/>
          <p:nvPr/>
        </p:nvSpPr>
        <p:spPr>
          <a:xfrm>
            <a:off x="661475" y="2466677"/>
            <a:ext cx="114783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分析这种分化的原因，我发现五种模式：</a:t>
            </a:r>
            <a:endParaRPr lang="zh-CN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81883"/>
            <a:ext cx="10868745" cy="668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3276" y="2911475"/>
            <a:ext cx="166981" cy="208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5039" y="2805906"/>
            <a:ext cx="1022116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功能重复型</a:t>
            </a:r>
            <a:endParaRPr lang="zh-CN" sz="1050" dirty="0"/>
          </a:p>
        </p:txBody>
      </p:sp>
      <p:sp>
        <p:nvSpPr>
          <p:cNvPr id="14" name="Text 11"/>
          <p:cNvSpPr/>
          <p:nvPr/>
        </p:nvSpPr>
        <p:spPr>
          <a:xfrm>
            <a:off x="1185039" y="3019127"/>
            <a:ext cx="1022116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多个科技解决同一问题，玩家仅选择效率最高的一个</a:t>
            </a:r>
            <a:endParaRPr lang="zh-CN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15506"/>
            <a:ext cx="10868745" cy="668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3276" y="3645098"/>
            <a:ext cx="166981" cy="208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85039" y="3539530"/>
            <a:ext cx="1022116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场景过窄型</a:t>
            </a:r>
            <a:endParaRPr lang="zh-CN" sz="1050" dirty="0"/>
          </a:p>
        </p:txBody>
      </p:sp>
      <p:sp>
        <p:nvSpPr>
          <p:cNvPr id="18" name="Text 14"/>
          <p:cNvSpPr/>
          <p:nvPr/>
        </p:nvSpPr>
        <p:spPr>
          <a:xfrm>
            <a:off x="1185039" y="3752751"/>
            <a:ext cx="1022116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使用场景极度有限，难以在常规游玩中成为必备选项</a:t>
            </a:r>
            <a:endParaRPr lang="zh-CN" sz="8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49130"/>
            <a:ext cx="10868745" cy="668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3276" y="4378722"/>
            <a:ext cx="166981" cy="208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5039" y="4273153"/>
            <a:ext cx="1022116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成本失衡型</a:t>
            </a:r>
            <a:endParaRPr lang="zh-CN" sz="1050" dirty="0"/>
          </a:p>
        </p:txBody>
      </p:sp>
      <p:sp>
        <p:nvSpPr>
          <p:cNvPr id="22" name="Text 17"/>
          <p:cNvSpPr/>
          <p:nvPr/>
        </p:nvSpPr>
        <p:spPr>
          <a:xfrm>
            <a:off x="1185039" y="4486374"/>
            <a:ext cx="1022116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制作成本与实际收益不成比例</a:t>
            </a:r>
            <a:endParaRPr lang="zh-CN" sz="8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882753"/>
            <a:ext cx="10868745" cy="668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13276" y="5112345"/>
            <a:ext cx="166981" cy="208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85039" y="5006777"/>
            <a:ext cx="1022116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信息不足型</a:t>
            </a:r>
            <a:endParaRPr lang="zh-CN" sz="1050" dirty="0"/>
          </a:p>
        </p:txBody>
      </p:sp>
      <p:sp>
        <p:nvSpPr>
          <p:cNvPr id="26" name="Text 20"/>
          <p:cNvSpPr/>
          <p:nvPr/>
        </p:nvSpPr>
        <p:spPr>
          <a:xfrm>
            <a:off x="1185039" y="5219998"/>
            <a:ext cx="1022116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玩家难以在制作前理解其真实价值</a:t>
            </a:r>
            <a:endParaRPr lang="zh-CN" sz="8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616377"/>
            <a:ext cx="10868745" cy="668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3276" y="5845969"/>
            <a:ext cx="166981" cy="208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185039" y="5740400"/>
            <a:ext cx="1022116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成长淘汰型</a:t>
            </a:r>
            <a:endParaRPr lang="zh-CN" sz="1050" dirty="0"/>
          </a:p>
        </p:txBody>
      </p:sp>
      <p:sp>
        <p:nvSpPr>
          <p:cNvPr id="30" name="Text 23"/>
          <p:cNvSpPr/>
          <p:nvPr/>
        </p:nvSpPr>
        <p:spPr>
          <a:xfrm>
            <a:off x="1185039" y="5953621"/>
            <a:ext cx="1022116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被后期科技完全替代</a:t>
            </a:r>
            <a:endParaRPr lang="zh-CN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998"/>
            <a:ext cx="654827" cy="226219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0769" y="603647"/>
            <a:ext cx="108582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9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个人分析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2048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个人提出的科技价值评估框架</a:t>
            </a:r>
            <a:endParaRPr lang="zh-CN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473002"/>
            <a:ext cx="1147833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基于上述问题分析，我提出以下价值判断框架——一个值得制作的科技应同时满足四个维度：</a:t>
            </a:r>
            <a:endParaRPr lang="zh-CN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17688"/>
            <a:ext cx="10868745" cy="8930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6555" y="212467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393096" y="1985566"/>
            <a:ext cx="99692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解决明确需求</a:t>
            </a:r>
            <a:endParaRPr lang="zh-CN" sz="1450" dirty="0"/>
          </a:p>
        </p:txBody>
      </p:sp>
      <p:sp>
        <p:nvSpPr>
          <p:cNvPr id="9" name="Text 6"/>
          <p:cNvSpPr/>
          <p:nvPr/>
        </p:nvSpPr>
        <p:spPr>
          <a:xfrm>
            <a:off x="1393096" y="2288282"/>
            <a:ext cx="996925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玩家在游玩过程中有真实的、可感知的需要</a:t>
            </a:r>
            <a:endParaRPr lang="zh-CN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27933"/>
            <a:ext cx="10868745" cy="8930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6555" y="3134916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393096" y="2995811"/>
            <a:ext cx="99692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提供独特能力</a:t>
            </a:r>
            <a:endParaRPr lang="zh-CN" sz="1450" dirty="0"/>
          </a:p>
        </p:txBody>
      </p:sp>
      <p:sp>
        <p:nvSpPr>
          <p:cNvPr id="13" name="Text 9"/>
          <p:cNvSpPr/>
          <p:nvPr/>
        </p:nvSpPr>
        <p:spPr>
          <a:xfrm>
            <a:off x="1393096" y="3298527"/>
            <a:ext cx="996925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与同层或相邻科技形成差异，不可被轻易替代</a:t>
            </a:r>
            <a:endParaRPr lang="zh-CN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38178"/>
            <a:ext cx="10868745" cy="8930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6555" y="4145161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1393096" y="4006056"/>
            <a:ext cx="99692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成本合理匹配</a:t>
            </a:r>
            <a:endParaRPr lang="zh-CN" sz="1450" dirty="0"/>
          </a:p>
        </p:txBody>
      </p:sp>
      <p:sp>
        <p:nvSpPr>
          <p:cNvPr id="17" name="Text 12"/>
          <p:cNvSpPr/>
          <p:nvPr/>
        </p:nvSpPr>
        <p:spPr>
          <a:xfrm>
            <a:off x="1393096" y="4308773"/>
            <a:ext cx="996925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制作资源消耗与带来的收益形成正向感知</a:t>
            </a:r>
            <a:endParaRPr lang="zh-CN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848423"/>
            <a:ext cx="10868745" cy="8930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6555" y="5155406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1393096" y="5016302"/>
            <a:ext cx="99692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使用场景明确</a:t>
            </a:r>
            <a:endParaRPr lang="zh-CN" sz="1450" dirty="0"/>
          </a:p>
        </p:txBody>
      </p:sp>
      <p:sp>
        <p:nvSpPr>
          <p:cNvPr id="21" name="Text 15"/>
          <p:cNvSpPr/>
          <p:nvPr/>
        </p:nvSpPr>
        <p:spPr>
          <a:xfrm>
            <a:off x="1393096" y="5319018"/>
            <a:ext cx="996925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玩家能清晰判断何时、为何使用该科技</a:t>
            </a:r>
            <a:endParaRPr lang="zh-CN" sz="1150" dirty="0"/>
          </a:p>
        </p:txBody>
      </p:sp>
      <p:sp>
        <p:nvSpPr>
          <p:cNvPr id="22" name="Text 16"/>
          <p:cNvSpPr/>
          <p:nvPr/>
        </p:nvSpPr>
        <p:spPr>
          <a:xfrm>
            <a:off x="661475" y="5873353"/>
            <a:ext cx="10868745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本框架为个人分析，基于游玩体验归纳，未经官方验证。</a:t>
            </a:r>
            <a:endParaRPr lang="zh-CN" sz="11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该框架将用于分析</a:t>
            </a:r>
            <a:pPr algn="l" indent="0" marL="0">
              <a:lnSpc>
                <a:spcPct val="119000"/>
              </a:lnSpc>
              <a:buNone/>
            </a:pPr>
            <a:r>
              <a:rPr lang="zh-CN" alt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暗影灯</a:t>
            </a:r>
            <a:pPr algn="l" indent="0" marL="0">
              <a:lnSpc>
                <a:spcPct val="119000"/>
              </a:lnSpc>
              <a:buNone/>
            </a:pPr>
            <a:r>
              <a:rPr lang="zh-CN" alt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的问题。</a:t>
            </a:r>
            <a:endParaRPr lang="zh-CN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5956"/>
            <a:ext cx="706618" cy="243979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814" y="714077"/>
            <a:ext cx="112352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0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个人分析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6450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Case Study：暗影灯的问题分析</a:t>
            </a:r>
            <a:endParaRPr lang="zh-CN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671340"/>
            <a:ext cx="10868745" cy="62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当前定位：魔法科技中的照明设施</a:t>
            </a:r>
            <a:endParaRPr lang="zh-CN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问题观察：暗影灯与火坑存在功能重叠，导致玩家倾向选择火坑。</a:t>
            </a:r>
            <a:endParaRPr lang="zh-CN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2505174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对比分析：</a:t>
            </a:r>
            <a:endParaRPr lang="zh-CN" sz="1550" dirty="0"/>
          </a:p>
        </p:txBody>
      </p:sp>
      <p:sp>
        <p:nvSpPr>
          <p:cNvPr id="7" name="Shape 5"/>
          <p:cNvSpPr/>
          <p:nvPr/>
        </p:nvSpPr>
        <p:spPr>
          <a:xfrm>
            <a:off x="661475" y="2960985"/>
            <a:ext cx="10868745" cy="2108795"/>
          </a:xfrm>
          <a:prstGeom prst="roundRect">
            <a:avLst>
              <a:gd name="adj" fmla="val 114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1475" y="3384649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805138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225627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646116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286937" y="2960985"/>
            <a:ext cx="10042" cy="210879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04858" y="2960985"/>
            <a:ext cx="10042" cy="210879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9646" y="3055541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50743" y="3055541"/>
            <a:ext cx="389989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暗影灯</a:t>
            </a:r>
            <a:endParaRPr lang="zh-CN" sz="1250" dirty="0"/>
          </a:p>
        </p:txBody>
      </p:sp>
      <p:sp>
        <p:nvSpPr>
          <p:cNvPr id="16" name="Text 14"/>
          <p:cNvSpPr/>
          <p:nvPr/>
        </p:nvSpPr>
        <p:spPr>
          <a:xfrm>
            <a:off x="8068664" y="3055541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火坑</a:t>
            </a:r>
            <a:endParaRPr lang="zh-CN" sz="1250" dirty="0"/>
          </a:p>
        </p:txBody>
      </p:sp>
      <p:sp>
        <p:nvSpPr>
          <p:cNvPr id="17" name="Text 15"/>
          <p:cNvSpPr/>
          <p:nvPr/>
        </p:nvSpPr>
        <p:spPr>
          <a:xfrm>
            <a:off x="829646" y="3476030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功能</a:t>
            </a:r>
            <a:endParaRPr lang="zh-CN" sz="1250" dirty="0"/>
          </a:p>
        </p:txBody>
      </p:sp>
      <p:sp>
        <p:nvSpPr>
          <p:cNvPr id="18" name="Text 16"/>
          <p:cNvSpPr/>
          <p:nvPr/>
        </p:nvSpPr>
        <p:spPr>
          <a:xfrm>
            <a:off x="4450743" y="3476030"/>
            <a:ext cx="389989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照明</a:t>
            </a:r>
            <a:endParaRPr lang="zh-CN" sz="1250" dirty="0"/>
          </a:p>
        </p:txBody>
      </p:sp>
      <p:sp>
        <p:nvSpPr>
          <p:cNvPr id="19" name="Text 17"/>
          <p:cNvSpPr/>
          <p:nvPr/>
        </p:nvSpPr>
        <p:spPr>
          <a:xfrm>
            <a:off x="8068664" y="3476030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照明 + 烹饪</a:t>
            </a:r>
            <a:endParaRPr lang="zh-CN" sz="1250" dirty="0"/>
          </a:p>
        </p:txBody>
      </p:sp>
      <p:sp>
        <p:nvSpPr>
          <p:cNvPr id="20" name="Text 18"/>
          <p:cNvSpPr/>
          <p:nvPr/>
        </p:nvSpPr>
        <p:spPr>
          <a:xfrm>
            <a:off x="829646" y="3896519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科技等级</a:t>
            </a:r>
            <a:endParaRPr lang="zh-CN" sz="1250" dirty="0"/>
          </a:p>
        </p:txBody>
      </p:sp>
      <p:sp>
        <p:nvSpPr>
          <p:cNvPr id="21" name="Text 19"/>
          <p:cNvSpPr/>
          <p:nvPr/>
        </p:nvSpPr>
        <p:spPr>
          <a:xfrm>
            <a:off x="4450743" y="3896519"/>
            <a:ext cx="389989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魔法科技</a:t>
            </a:r>
            <a:endParaRPr lang="zh-CN" sz="1250" dirty="0"/>
          </a:p>
        </p:txBody>
      </p:sp>
      <p:sp>
        <p:nvSpPr>
          <p:cNvPr id="22" name="Text 20"/>
          <p:cNvSpPr/>
          <p:nvPr/>
        </p:nvSpPr>
        <p:spPr>
          <a:xfrm>
            <a:off x="8068664" y="3896519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基础生存</a:t>
            </a:r>
            <a:endParaRPr lang="zh-CN" sz="1250" dirty="0"/>
          </a:p>
        </p:txBody>
      </p:sp>
      <p:sp>
        <p:nvSpPr>
          <p:cNvPr id="23" name="Text 21"/>
          <p:cNvSpPr/>
          <p:nvPr/>
        </p:nvSpPr>
        <p:spPr>
          <a:xfrm>
            <a:off x="829646" y="4317008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制作成本</a:t>
            </a:r>
            <a:endParaRPr lang="zh-CN" sz="1250" dirty="0"/>
          </a:p>
        </p:txBody>
      </p:sp>
      <p:sp>
        <p:nvSpPr>
          <p:cNvPr id="24" name="Text 22"/>
          <p:cNvSpPr/>
          <p:nvPr/>
        </p:nvSpPr>
        <p:spPr>
          <a:xfrm>
            <a:off x="4450743" y="4317008"/>
            <a:ext cx="389989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特殊材料</a:t>
            </a:r>
            <a:endParaRPr lang="zh-CN" sz="1250" dirty="0"/>
          </a:p>
        </p:txBody>
      </p:sp>
      <p:sp>
        <p:nvSpPr>
          <p:cNvPr id="25" name="Text 23"/>
          <p:cNvSpPr/>
          <p:nvPr/>
        </p:nvSpPr>
        <p:spPr>
          <a:xfrm>
            <a:off x="8068664" y="4317008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基础资源</a:t>
            </a:r>
            <a:endParaRPr lang="zh-CN" sz="1250" dirty="0"/>
          </a:p>
        </p:txBody>
      </p:sp>
      <p:sp>
        <p:nvSpPr>
          <p:cNvPr id="26" name="Text 24"/>
          <p:cNvSpPr/>
          <p:nvPr/>
        </p:nvSpPr>
        <p:spPr>
          <a:xfrm>
            <a:off x="829646" y="4737497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额外属性</a:t>
            </a:r>
            <a:endParaRPr lang="zh-CN" sz="1250" dirty="0"/>
          </a:p>
        </p:txBody>
      </p:sp>
      <p:sp>
        <p:nvSpPr>
          <p:cNvPr id="27" name="Text 25"/>
          <p:cNvSpPr/>
          <p:nvPr/>
        </p:nvSpPr>
        <p:spPr>
          <a:xfrm>
            <a:off x="4450743" y="4737497"/>
            <a:ext cx="389989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存在San压力</a:t>
            </a:r>
            <a:endParaRPr lang="zh-CN" sz="1250" dirty="0"/>
          </a:p>
        </p:txBody>
      </p:sp>
      <p:sp>
        <p:nvSpPr>
          <p:cNvPr id="28" name="Text 26"/>
          <p:cNvSpPr/>
          <p:nvPr/>
        </p:nvSpPr>
        <p:spPr>
          <a:xfrm>
            <a:off x="8068664" y="4737497"/>
            <a:ext cx="39030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无负担</a:t>
            </a:r>
            <a:endParaRPr lang="zh-CN" sz="1250" dirty="0"/>
          </a:p>
        </p:txBody>
      </p:sp>
      <p:sp>
        <p:nvSpPr>
          <p:cNvPr id="29" name="Text 27"/>
          <p:cNvSpPr/>
          <p:nvPr/>
        </p:nvSpPr>
        <p:spPr>
          <a:xfrm>
            <a:off x="661475" y="5223371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结论：问题不是暗影灯强度不足，而是功能定位不明确。它在"照明"这个维度上无法与火坑竞争，导致玩家很少主动选择。</a:t>
            </a:r>
            <a:endParaRPr lang="zh-CN" sz="1250" dirty="0"/>
          </a:p>
        </p:txBody>
      </p:sp>
      <p:sp>
        <p:nvSpPr>
          <p:cNvPr id="30" name="Shape 28"/>
          <p:cNvSpPr/>
          <p:nvPr/>
        </p:nvSpPr>
        <p:spPr>
          <a:xfrm>
            <a:off x="661475" y="5614690"/>
            <a:ext cx="10868745" cy="577255"/>
          </a:xfrm>
          <a:prstGeom prst="roundRect">
            <a:avLst>
              <a:gd name="adj" fmla="val 4175"/>
            </a:avLst>
          </a:prstGeom>
          <a:solidFill>
            <a:srgbClr val="CCD7FF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06" y="5809456"/>
            <a:ext cx="200814" cy="16063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83551" y="5791299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这是典型的"</a:t>
            </a:r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E94A3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功能重复型</a:t>
            </a:r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"低频科技。</a:t>
            </a:r>
            <a:endParaRPr lang="zh-CN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32582"/>
            <a:ext cx="113344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89236"/>
            <a:ext cx="15162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个人优化方案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953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暗影灯重新定位方案</a:t>
            </a:r>
            <a:endParaRPr lang="zh-CN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36944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核心思路：将暗影灯定位为"暗影生态交互工具"，而非单纯的照明设施。</a:t>
            </a:r>
            <a:endParaRPr lang="zh-CN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84488"/>
            <a:ext cx="5339820" cy="18108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09889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功能1：暗影吸引</a:t>
            </a:r>
            <a:endParaRPr lang="zh-CN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507581"/>
            <a:ext cx="4809409" cy="97333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吸引普通暗影生物，使其降低或解除对玩家的持续仇恨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使玩家能够在暗影区域进行更多互动，而非单纯躲避</a:t>
            </a:r>
            <a:endParaRPr lang="zh-CN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884488"/>
            <a:ext cx="5339919" cy="18108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305" y="309889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功能2：暗影探测</a:t>
            </a:r>
            <a:endParaRPr lang="zh-CN" sz="1850" dirty="0"/>
          </a:p>
        </p:txBody>
      </p:sp>
      <p:sp>
        <p:nvSpPr>
          <p:cNvPr id="11" name="Text 7"/>
          <p:cNvSpPr/>
          <p:nvPr/>
        </p:nvSpPr>
        <p:spPr>
          <a:xfrm>
            <a:off x="6506305" y="3507581"/>
            <a:ext cx="480950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使部分隐藏或特殊暗影生物现形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便于玩家观察和理解暗影生态</a:t>
            </a:r>
            <a:endParaRPr lang="zh-CN" sz="1450" dirty="0"/>
          </a:p>
        </p:txBody>
      </p:sp>
      <p:sp>
        <p:nvSpPr>
          <p:cNvPr id="12" name="Text 8"/>
          <p:cNvSpPr/>
          <p:nvPr/>
        </p:nvSpPr>
        <p:spPr>
          <a:xfrm>
            <a:off x="661475" y="4907955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设计目标：让暗影灯不再竞争火坑的基础生存功能，而成为特殊探索工具。</a:t>
            </a:r>
            <a:endParaRPr lang="zh-CN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这样，暗影灯就有了明确的使用理由：当玩家想要探索暗影区域、理解暗影生物时，暗影灯成为必备工具。</a:t>
            </a:r>
            <a:endParaRPr lang="zh-CN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956"/>
            <a:ext cx="762080" cy="192980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7673" y="577056"/>
            <a:ext cx="1219269" cy="11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个人优化方案</a:t>
            </a:r>
            <a:endParaRPr lang="zh-CN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66068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方案价值分析</a:t>
            </a:r>
            <a:endParaRPr lang="zh-CN" sz="2450" dirty="0"/>
          </a:p>
        </p:txBody>
      </p:sp>
      <p:sp>
        <p:nvSpPr>
          <p:cNvPr id="5" name="Text 3"/>
          <p:cNvSpPr/>
          <p:nvPr/>
        </p:nvSpPr>
        <p:spPr>
          <a:xfrm>
            <a:off x="661475" y="1290935"/>
            <a:ext cx="1147833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为什么这个设计成立？</a:t>
            </a:r>
            <a:endParaRPr lang="zh-CN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56742"/>
            <a:ext cx="10868745" cy="9113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9270" y="1893292"/>
            <a:ext cx="1904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73838" y="1702792"/>
            <a:ext cx="1011033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强化魔法科技主题</a:t>
            </a:r>
            <a:endParaRPr lang="zh-CN" sz="1200" dirty="0"/>
          </a:p>
        </p:txBody>
      </p:sp>
      <p:sp>
        <p:nvSpPr>
          <p:cNvPr id="9" name="Text 6"/>
          <p:cNvSpPr/>
          <p:nvPr/>
        </p:nvSpPr>
        <p:spPr>
          <a:xfrm>
            <a:off x="1273838" y="1952427"/>
            <a:ext cx="10110336" cy="369590"/>
          </a:xfrm>
          <a:prstGeom prst="rect">
            <a:avLst/>
          </a:prstGeom>
          <a:noFill/>
          <a:ln/>
        </p:spPr>
        <p:txBody>
          <a:bodyPr wrap="square" lIns="0" tIns="50799" rIns="0" bIns="0" rtlCol="0" anchor="t">
            <a:normAutofit/>
          </a:bodyPr>
          <a:lstStyle/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暗影灯从"照明工具"升级为"魔法交互工具"</a:t>
            </a:r>
            <a:endParaRPr lang="zh-CN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符合魔法科技的设定，而非与基础科技竞争</a:t>
            </a:r>
            <a:endParaRPr lang="zh-CN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53395"/>
            <a:ext cx="10868745" cy="9113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9270" y="2889945"/>
            <a:ext cx="1904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73838" y="2699445"/>
            <a:ext cx="1011033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增加探索未知的价值</a:t>
            </a:r>
            <a:endParaRPr lang="zh-CN" sz="1200" dirty="0"/>
          </a:p>
        </p:txBody>
      </p:sp>
      <p:sp>
        <p:nvSpPr>
          <p:cNvPr id="13" name="Text 9"/>
          <p:cNvSpPr/>
          <p:nvPr/>
        </p:nvSpPr>
        <p:spPr>
          <a:xfrm>
            <a:off x="1273838" y="2949079"/>
            <a:ext cx="10110336" cy="369590"/>
          </a:xfrm>
          <a:prstGeom prst="rect">
            <a:avLst/>
          </a:prstGeom>
          <a:noFill/>
          <a:ln/>
        </p:spPr>
        <p:txBody>
          <a:bodyPr wrap="square" lIns="0" tIns="50799" rIns="0" bIns="0" rtlCol="0" anchor="t">
            <a:normAutofit/>
          </a:bodyPr>
          <a:lstStyle/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暗影区域从"危险禁区"变为"可探索的生态"</a:t>
            </a:r>
            <a:endParaRPr lang="zh-CN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玩家有理由主动接近暗影生物和区域</a:t>
            </a:r>
            <a:endParaRPr lang="zh-CN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50047"/>
            <a:ext cx="10868745" cy="11110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270" y="3986510"/>
            <a:ext cx="1904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73838" y="3696097"/>
            <a:ext cx="1011033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提供特殊使用场景</a:t>
            </a:r>
            <a:endParaRPr lang="zh-CN" sz="1200" dirty="0"/>
          </a:p>
        </p:txBody>
      </p:sp>
      <p:sp>
        <p:nvSpPr>
          <p:cNvPr id="17" name="Text 12"/>
          <p:cNvSpPr/>
          <p:nvPr/>
        </p:nvSpPr>
        <p:spPr>
          <a:xfrm>
            <a:off x="1273838" y="3945731"/>
            <a:ext cx="10110336" cy="569317"/>
          </a:xfrm>
          <a:prstGeom prst="rect">
            <a:avLst/>
          </a:prstGeom>
          <a:noFill/>
          <a:ln/>
        </p:spPr>
        <p:txBody>
          <a:bodyPr wrap="square" lIns="0" tIns="50799" rIns="0" bIns="0" rtlCol="0" anchor="t">
            <a:normAutofit/>
          </a:bodyPr>
          <a:lstStyle/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与火坑形成不同的使用理由</a:t>
            </a:r>
            <a:endParaRPr lang="zh-CN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火坑：日常生存</a:t>
            </a:r>
            <a:endParaRPr lang="zh-CN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暗影灯：特殊探索</a:t>
            </a:r>
            <a:endParaRPr lang="zh-CN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746427"/>
            <a:ext cx="10868745" cy="9113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9270" y="5082977"/>
            <a:ext cx="1904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73838" y="4892477"/>
            <a:ext cx="1011033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符合游戏的探索驱动逻辑</a:t>
            </a:r>
            <a:endParaRPr lang="zh-CN" sz="1200" dirty="0"/>
          </a:p>
        </p:txBody>
      </p:sp>
      <p:sp>
        <p:nvSpPr>
          <p:cNvPr id="21" name="Text 15"/>
          <p:cNvSpPr/>
          <p:nvPr/>
        </p:nvSpPr>
        <p:spPr>
          <a:xfrm>
            <a:off x="1273838" y="5142111"/>
            <a:ext cx="10110336" cy="369590"/>
          </a:xfrm>
          <a:prstGeom prst="rect">
            <a:avLst/>
          </a:prstGeom>
          <a:noFill/>
          <a:ln/>
        </p:spPr>
        <p:txBody>
          <a:bodyPr wrap="square" lIns="0" tIns="50799" rIns="0" bIns="0" rtlCol="0" anchor="t">
            <a:normAutofit/>
          </a:bodyPr>
          <a:lstStyle/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新工具 → 新能力 → 新探索 → 新发现</a:t>
            </a:r>
            <a:endParaRPr lang="zh-CN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暗影灯成为解锁暗影生态的钥匙</a:t>
            </a:r>
            <a:endParaRPr lang="zh-CN" sz="950" dirty="0"/>
          </a:p>
        </p:txBody>
      </p:sp>
      <p:sp>
        <p:nvSpPr>
          <p:cNvPr id="22" name="Shape 16"/>
          <p:cNvSpPr/>
          <p:nvPr/>
        </p:nvSpPr>
        <p:spPr>
          <a:xfrm>
            <a:off x="661475" y="5753695"/>
            <a:ext cx="10868745" cy="565348"/>
          </a:xfrm>
          <a:prstGeom prst="roundRect">
            <a:avLst>
              <a:gd name="adj" fmla="val 3370"/>
            </a:avLst>
          </a:prstGeom>
          <a:solidFill>
            <a:srgbClr val="CCD7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472" y="5873948"/>
            <a:ext cx="158746" cy="1270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74215" y="5870773"/>
            <a:ext cx="10329009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核心设计原则：</a:t>
            </a:r>
            <a:endParaRPr lang="zh-CN" sz="950" dirty="0"/>
          </a:p>
          <a:p>
            <a:pPr algn="l" indent="0" marL="0">
              <a:lnSpc>
                <a:spcPct val="111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"不追求让暗影灯成为最强科技，而是让它成为特定场景下值得制作的科技。"</a:t>
            </a:r>
            <a:endParaRPr lang="zh-CN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94457"/>
            <a:ext cx="736681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5093" y="931267"/>
            <a:ext cx="1199029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个人优化方案</a:t>
            </a:r>
            <a:endParaRPr lang="zh-CN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11293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方案风险与平衡考量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61667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这个优化方案需要考虑的风险：</a:t>
            </a:r>
            <a:endParaRPr lang="zh-CN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1898551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风险1：过度克制暗影生物的威胁性</a:t>
            </a:r>
            <a:endParaRPr lang="zh-CN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2210296"/>
            <a:ext cx="10868745" cy="35212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如果暗影灯使暗影生物完全无害，会削弱游戏的生存压力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解决方向：限制作用范围和持续时间</a:t>
            </a:r>
            <a:endParaRPr lang="zh-CN" sz="950" dirty="0"/>
          </a:p>
        </p:txBody>
      </p:sp>
      <p:sp>
        <p:nvSpPr>
          <p:cNvPr id="8" name="Text 6"/>
          <p:cNvSpPr/>
          <p:nvPr/>
        </p:nvSpPr>
        <p:spPr>
          <a:xfrm>
            <a:off x="661475" y="2682180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风险2：成为必备道具，破坏游戏平衡</a:t>
            </a:r>
            <a:endParaRPr lang="zh-CN" sz="1200" dirty="0"/>
          </a:p>
        </p:txBody>
      </p:sp>
      <p:sp>
        <p:nvSpPr>
          <p:cNvPr id="9" name="Text 7"/>
          <p:cNvSpPr/>
          <p:nvPr/>
        </p:nvSpPr>
        <p:spPr>
          <a:xfrm>
            <a:off x="661475" y="2993926"/>
            <a:ext cx="10868745" cy="35212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如果暗影灯过于强大，会成为强制选择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解决方向：限制影响对象，保留部分不可影响的暗影生物</a:t>
            </a:r>
            <a:endParaRPr lang="zh-CN" sz="950" dirty="0"/>
          </a:p>
        </p:txBody>
      </p:sp>
      <p:sp>
        <p:nvSpPr>
          <p:cNvPr id="10" name="Text 8"/>
          <p:cNvSpPr/>
          <p:nvPr/>
        </p:nvSpPr>
        <p:spPr>
          <a:xfrm>
            <a:off x="661475" y="3465810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风险3：探测能力过强，削弱探索压力</a:t>
            </a:r>
            <a:endParaRPr lang="zh-CN" sz="1200" dirty="0"/>
          </a:p>
        </p:txBody>
      </p:sp>
      <p:sp>
        <p:nvSpPr>
          <p:cNvPr id="11" name="Text 9"/>
          <p:cNvSpPr/>
          <p:nvPr/>
        </p:nvSpPr>
        <p:spPr>
          <a:xfrm>
            <a:off x="661475" y="3777555"/>
            <a:ext cx="10868745" cy="35212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如果玩家能完全预知暗影生物的位置，会降低探索的紧张感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解决方向：限制探测范围，保留部分未知性</a:t>
            </a:r>
            <a:endParaRPr lang="zh-CN" sz="950" dirty="0"/>
          </a:p>
        </p:txBody>
      </p:sp>
      <p:sp>
        <p:nvSpPr>
          <p:cNvPr id="12" name="Text 10"/>
          <p:cNvSpPr/>
          <p:nvPr/>
        </p:nvSpPr>
        <p:spPr>
          <a:xfrm>
            <a:off x="661475" y="4249440"/>
            <a:ext cx="108687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平衡方向：</a:t>
            </a:r>
            <a:endParaRPr lang="zh-CN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599484"/>
            <a:ext cx="10868745" cy="732135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限制作用范围（仅影响周围一定距离内的生物）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限制持续时间（需要定期重新激活）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限制影响对象（某些特殊暗影生物不受影响）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增加使用成本（消耗特殊资源或San值）</a:t>
            </a:r>
            <a:endParaRPr lang="zh-CN" sz="950" dirty="0"/>
          </a:p>
        </p:txBody>
      </p:sp>
      <p:sp>
        <p:nvSpPr>
          <p:cNvPr id="14" name="Text 12"/>
          <p:cNvSpPr/>
          <p:nvPr/>
        </p:nvSpPr>
        <p:spPr>
          <a:xfrm>
            <a:off x="661475" y="5451376"/>
            <a:ext cx="108687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目标：</a:t>
            </a:r>
            <a:endParaRPr lang="zh-CN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80142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让暗影灯成为"有用但不过度"的工具，玩家可以选择使用，但不会被迫依赖。</a:t>
            </a:r>
            <a:endParaRPr lang="zh-CN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53108"/>
            <a:ext cx="540233" cy="18663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1089918"/>
            <a:ext cx="100258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核心观点</a:t>
            </a:r>
            <a:endParaRPr lang="zh-CN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27158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总结与设计原则</a:t>
            </a:r>
            <a:endParaRPr lang="zh-CN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75321"/>
            <a:ext cx="10868745" cy="737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761" y="2028726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45363" y="1910854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科技系统的核心作用</a:t>
            </a:r>
            <a:endParaRPr lang="zh-CN" sz="1200" dirty="0"/>
          </a:p>
        </p:txBody>
      </p:sp>
      <p:sp>
        <p:nvSpPr>
          <p:cNvPr id="8" name="Text 5"/>
          <p:cNvSpPr/>
          <p:nvPr/>
        </p:nvSpPr>
        <p:spPr>
          <a:xfrm>
            <a:off x="1245363" y="2150666"/>
            <a:ext cx="10149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通过控制成长节奏、制造资源需求和提供阶段性能力，引导玩家主动探索世界。它不是奖励系统，而是行为驱动系统。</a:t>
            </a:r>
            <a:endParaRPr lang="zh-CN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92189"/>
            <a:ext cx="10868745" cy="7370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7761" y="2845594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45363" y="2727722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优化的核心原则</a:t>
            </a:r>
            <a:endParaRPr lang="zh-CN" sz="1200" dirty="0"/>
          </a:p>
        </p:txBody>
      </p:sp>
      <p:sp>
        <p:nvSpPr>
          <p:cNvPr id="12" name="Text 8"/>
          <p:cNvSpPr/>
          <p:nvPr/>
        </p:nvSpPr>
        <p:spPr>
          <a:xfrm>
            <a:off x="1245363" y="2967534"/>
            <a:ext cx="10149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不单纯提高道具强度，而是提高功能差异化，让不同科技拥有明确的使用理由。</a:t>
            </a:r>
            <a:endParaRPr lang="zh-CN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09057"/>
            <a:ext cx="10868745" cy="10530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761" y="382041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45363" y="3544590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暗影灯案例的启示</a:t>
            </a:r>
            <a:endParaRPr lang="zh-CN" sz="1200" dirty="0"/>
          </a:p>
        </p:txBody>
      </p:sp>
      <p:sp>
        <p:nvSpPr>
          <p:cNvPr id="16" name="Text 11"/>
          <p:cNvSpPr/>
          <p:nvPr/>
        </p:nvSpPr>
        <p:spPr>
          <a:xfrm>
            <a:off x="1245363" y="3784402"/>
            <a:ext cx="10149328" cy="542131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问题不在强度，而在定位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解决方案不是数值调整，而是功能重定义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好的设计让玩家主动选择，而非被迫选择</a:t>
            </a:r>
            <a:endParaRPr lang="zh-CN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541837"/>
            <a:ext cx="10868745" cy="12629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7761" y="5058172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45363" y="4677370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策划思维的三个层次</a:t>
            </a:r>
            <a:endParaRPr lang="zh-CN" sz="1200" dirty="0"/>
          </a:p>
        </p:txBody>
      </p:sp>
      <p:sp>
        <p:nvSpPr>
          <p:cNvPr id="20" name="Text 14"/>
          <p:cNvSpPr/>
          <p:nvPr/>
        </p:nvSpPr>
        <p:spPr>
          <a:xfrm>
            <a:off x="1245363" y="4917182"/>
            <a:ext cx="10149328" cy="542131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表层：科技的数值和属性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中层：科技在系统中的位置和作用</a:t>
            </a:r>
            <a:endParaRPr lang="zh-CN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深层：科技如何影响玩家的行为和体验</a:t>
            </a:r>
            <a:endParaRPr lang="zh-CN" sz="950" dirty="0"/>
          </a:p>
        </p:txBody>
      </p:sp>
      <p:sp>
        <p:nvSpPr>
          <p:cNvPr id="21" name="Text 15"/>
          <p:cNvSpPr/>
          <p:nvPr/>
        </p:nvSpPr>
        <p:spPr>
          <a:xfrm>
            <a:off x="1245363" y="5507137"/>
            <a:ext cx="10149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这份分析展示的是第二和第三层的思考。</a:t>
            </a:r>
            <a:endParaRPr lang="zh-CN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2026-08-17T16:56:52Z</dcterms:created>
  <dcterms:modified xsi:type="dcterms:W3CDTF">2026-08-17T16:56:52Z</dcterms:modified>
</cp:coreProperties>
</file>